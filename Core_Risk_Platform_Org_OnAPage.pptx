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Risk Platform — Programme Org-on-a-Page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~105 FTE  ·  18–24 month delivery  ·  Three risk domains  ·  20+ integrations  ·  Full UI suite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424160" y="137160"/>
            <a:ext cx="1554480" cy="5486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137160"/>
            <a:ext cx="73152" cy="54864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61320" y="164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61320" y="329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~105 FTE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1179576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868680"/>
            <a:ext cx="1371600" cy="8686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78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1197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399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9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Programme-long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91640" y="923544"/>
            <a:ext cx="3340608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19376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91640" y="923544"/>
            <a:ext cx="3340608" cy="3657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64792" y="987552"/>
            <a:ext cx="3194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&amp; DELIVERY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64792" y="1170432"/>
            <a:ext cx="3194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Programme Director  • Programme Manager  • Delivery Manager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05400" y="923544"/>
            <a:ext cx="3340608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19376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05400" y="923544"/>
            <a:ext cx="3340608" cy="3657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8552" y="987552"/>
            <a:ext cx="3194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78552" y="1170432"/>
            <a:ext cx="3194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Chief Architect  • Lead Solution Architect  • Domain Architects (Data · Risk · UI)  • Head of Engineering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519160" y="923544"/>
            <a:ext cx="3340608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19376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19160" y="923544"/>
            <a:ext cx="3340608" cy="36576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2312" y="987552"/>
            <a:ext cx="3194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RISK &amp; PMO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2312" y="1170432"/>
            <a:ext cx="3194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 of Product  • Risk &amp; Compliance Lead  • Model Risk Lead (SR 11-7 / SS1/23)  • PMO Analysts × 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1828800"/>
            <a:ext cx="11795760" cy="1691640"/>
          </a:xfrm>
          <a:prstGeom prst="rect">
            <a:avLst/>
          </a:prstGeom>
          <a:solidFill>
            <a:srgbClr val="F4F6F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1828800"/>
            <a:ext cx="1371600" cy="169164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1920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2121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2395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" y="2606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D9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platform.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D9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every team.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691640" y="1901952"/>
            <a:ext cx="1400338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B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691640" y="1901952"/>
            <a:ext cx="1400338" cy="4572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64792" y="1993392"/>
            <a:ext cx="1254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&amp; SRE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64792" y="2404872"/>
            <a:ext cx="125403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· Terraform · OTel · ArgoCD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691640" y="3136392"/>
            <a:ext cx="1400338" cy="310896"/>
          </a:xfrm>
          <a:prstGeom prst="rect">
            <a:avLst/>
          </a:prstGeom>
          <a:solidFill>
            <a:srgbClr val="1F7B8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64792" y="3154680"/>
            <a:ext cx="125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65130" y="1901952"/>
            <a:ext cx="1400338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B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65130" y="1901952"/>
            <a:ext cx="1400338" cy="4572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38282" y="1993392"/>
            <a:ext cx="1254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38282" y="2404872"/>
            <a:ext cx="125403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· Spark · Flink · dbt · DQ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165130" y="3136392"/>
            <a:ext cx="1400338" cy="310896"/>
          </a:xfrm>
          <a:prstGeom prst="rect">
            <a:avLst/>
          </a:prstGeom>
          <a:solidFill>
            <a:srgbClr val="1F7B8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38282" y="3154680"/>
            <a:ext cx="125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FTE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38621" y="1901952"/>
            <a:ext cx="1400338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B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38621" y="1901952"/>
            <a:ext cx="1400338" cy="4572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1773" y="1993392"/>
            <a:ext cx="1254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Messaging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11773" y="2404872"/>
            <a:ext cx="125403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Solace · Kafka · FIX · SWIFT · adapters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38621" y="3136392"/>
            <a:ext cx="1400338" cy="310896"/>
          </a:xfrm>
          <a:prstGeom prst="rect">
            <a:avLst/>
          </a:prstGeom>
          <a:solidFill>
            <a:srgbClr val="1F7B8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1773" y="3154680"/>
            <a:ext cx="125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FTE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12111" y="1901952"/>
            <a:ext cx="1400338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B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12111" y="1901952"/>
            <a:ext cx="1400338" cy="4572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5263" y="1993392"/>
            <a:ext cx="1254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Platform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85263" y="2404872"/>
            <a:ext cx="125403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· shell · auth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112111" y="3136392"/>
            <a:ext cx="1400338" cy="310896"/>
          </a:xfrm>
          <a:prstGeom prst="rect">
            <a:avLst/>
          </a:prstGeom>
          <a:solidFill>
            <a:srgbClr val="1F7B8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85263" y="3154680"/>
            <a:ext cx="125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FTE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585601" y="1901952"/>
            <a:ext cx="1400338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B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85601" y="1901952"/>
            <a:ext cx="1400338" cy="4572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58753" y="1993392"/>
            <a:ext cx="1254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Workflow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658753" y="2404872"/>
            <a:ext cx="125403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· Drools · Airflow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585601" y="3136392"/>
            <a:ext cx="1400338" cy="310896"/>
          </a:xfrm>
          <a:prstGeom prst="rect">
            <a:avLst/>
          </a:prstGeom>
          <a:solidFill>
            <a:srgbClr val="1F7B8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58753" y="3154680"/>
            <a:ext cx="125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FTE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9059091" y="1901952"/>
            <a:ext cx="1400338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B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059091" y="1901952"/>
            <a:ext cx="1400338" cy="4572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32243" y="1993392"/>
            <a:ext cx="1254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Library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132243" y="2404872"/>
            <a:ext cx="125403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QuantLib · curves · Ray · scenarios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059091" y="3136392"/>
            <a:ext cx="1400338" cy="310896"/>
          </a:xfrm>
          <a:prstGeom prst="rect">
            <a:avLst/>
          </a:prstGeom>
          <a:solidFill>
            <a:srgbClr val="1F7B8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32243" y="3154680"/>
            <a:ext cx="125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FTE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0532582" y="1901952"/>
            <a:ext cx="1400338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B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0532582" y="1901952"/>
            <a:ext cx="1400338" cy="45720"/>
          </a:xfrm>
          <a:prstGeom prst="rect">
            <a:avLst/>
          </a:prstGeom>
          <a:solidFill>
            <a:srgbClr val="1F7B82"/>
          </a:solidFill>
          <a:ln w="12700">
            <a:solidFill>
              <a:srgbClr val="1F7B8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05734" y="1993392"/>
            <a:ext cx="1254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Sec &amp; Gov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0605734" y="2404872"/>
            <a:ext cx="125403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· Vault · RBAC · audit · lineage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532582" y="3136392"/>
            <a:ext cx="1400338" cy="310896"/>
          </a:xfrm>
          <a:prstGeom prst="rect">
            <a:avLst/>
          </a:prstGeom>
          <a:solidFill>
            <a:srgbClr val="1F7B8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605734" y="3154680"/>
            <a:ext cx="125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FTE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82880" y="3611880"/>
            <a:ext cx="11795760" cy="1783080"/>
          </a:xfrm>
          <a:prstGeom prst="rect">
            <a:avLst/>
          </a:prstGeom>
          <a:solidFill>
            <a:srgbClr val="FDF3E7"/>
          </a:solidFill>
          <a:ln w="6350">
            <a:solidFill>
              <a:srgbClr val="E8A9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2880" y="3611880"/>
            <a:ext cx="1371600" cy="178308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28600" y="3904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8600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FTE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28600" y="4389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FFEF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 domain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FFEF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691640" y="3685032"/>
            <a:ext cx="1999488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84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691640" y="3685032"/>
            <a:ext cx="1999488" cy="4572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83080" y="3776472"/>
            <a:ext cx="1816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2913888" y="3794760"/>
            <a:ext cx="685800" cy="201168"/>
          </a:xfrm>
          <a:prstGeom prst="rect">
            <a:avLst/>
          </a:prstGeom>
          <a:solidFill>
            <a:srgbClr val="C8841A">
              <a:alpha val="25000"/>
            </a:srgbClr>
          </a:solidFill>
          <a:ln w="6350">
            <a:solidFill>
              <a:srgbClr val="C8841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913888" y="3794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783080" y="4105656"/>
            <a:ext cx="1816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 · PFE · CVA · limits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783080" y="4398264"/>
            <a:ext cx="18166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· 1 Tech Lead · 3 Backend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Quant Dev · 2 Frontend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 · 1 Risk SME · 1 BA · 1 QA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691640" y="4992624"/>
            <a:ext cx="1999488" cy="329184"/>
          </a:xfrm>
          <a:prstGeom prst="rect">
            <a:avLst/>
          </a:prstGeom>
          <a:solidFill>
            <a:srgbClr val="C8841A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83080" y="5010912"/>
            <a:ext cx="1816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FTE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3764280" y="3685032"/>
            <a:ext cx="1999488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84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764280" y="3685032"/>
            <a:ext cx="1999488" cy="4572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55720" y="3776472"/>
            <a:ext cx="1816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986528" y="3794760"/>
            <a:ext cx="685800" cy="201168"/>
          </a:xfrm>
          <a:prstGeom prst="rect">
            <a:avLst/>
          </a:prstGeom>
          <a:solidFill>
            <a:srgbClr val="C8841A">
              <a:alpha val="25000"/>
            </a:srgbClr>
          </a:solidFill>
          <a:ln w="6350">
            <a:solidFill>
              <a:srgbClr val="C8841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86528" y="3794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855720" y="4105656"/>
            <a:ext cx="1816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· ES · sensitivities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855720" y="4398264"/>
            <a:ext cx="18166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· 1 Tech Lead · 3 Backend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Quant Dev · 2 Frontend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 · 1 Risk SME · 1 BA · 1 QA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764280" y="4992624"/>
            <a:ext cx="1999488" cy="329184"/>
          </a:xfrm>
          <a:prstGeom prst="rect">
            <a:avLst/>
          </a:prstGeom>
          <a:solidFill>
            <a:srgbClr val="C8841A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55720" y="5010912"/>
            <a:ext cx="1816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FTE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5836920" y="3685032"/>
            <a:ext cx="1999488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84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5836920" y="3685032"/>
            <a:ext cx="1999488" cy="4572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28360" y="3776472"/>
            <a:ext cx="1816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/ CCH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7059168" y="3794760"/>
            <a:ext cx="685800" cy="201168"/>
          </a:xfrm>
          <a:prstGeom prst="rect">
            <a:avLst/>
          </a:prstGeom>
          <a:solidFill>
            <a:srgbClr val="C8841A">
              <a:alpha val="25000"/>
            </a:srgbClr>
          </a:solidFill>
          <a:ln w="6350">
            <a:solidFill>
              <a:srgbClr val="C8841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59168" y="3794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5928360" y="4105656"/>
            <a:ext cx="1816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IM/VM · LCR · 5–8 CCHs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928360" y="4398264"/>
            <a:ext cx="18166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· 1 Tech Lead · 3 Backend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Quant Dev · 2 Frontend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 · 1 Risk SME · 1 BA · 1 QA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5836920" y="4992624"/>
            <a:ext cx="1999488" cy="329184"/>
          </a:xfrm>
          <a:prstGeom prst="rect">
            <a:avLst/>
          </a:prstGeom>
          <a:solidFill>
            <a:srgbClr val="C8841A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928360" y="5010912"/>
            <a:ext cx="1816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FTE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7882128" y="3776472"/>
            <a:ext cx="0" cy="1453896"/>
          </a:xfrm>
          <a:prstGeom prst="line">
            <a:avLst/>
          </a:prstGeom>
          <a:noFill/>
          <a:ln w="12700">
            <a:solidFill>
              <a:srgbClr val="E8A96B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7973568" y="3685032"/>
            <a:ext cx="1943100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2D5F4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7973568" y="3685032"/>
            <a:ext cx="1943100" cy="45720"/>
          </a:xfrm>
          <a:prstGeom prst="rect">
            <a:avLst/>
          </a:prstGeom>
          <a:solidFill>
            <a:srgbClr val="2D5F4F"/>
          </a:solidFill>
          <a:ln w="12700">
            <a:solidFill>
              <a:srgbClr val="2D5F4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65008" y="377647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Reporting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8065008" y="405079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i="1" dirty="0">
                <a:solidFill>
                  <a:srgbClr val="2D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8065008" y="4251960"/>
            <a:ext cx="17602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· MiFID/EMIR/FCA · EUDA decom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973568" y="4992624"/>
            <a:ext cx="1943100" cy="329184"/>
          </a:xfrm>
          <a:prstGeom prst="rect">
            <a:avLst/>
          </a:prstGeom>
          <a:solidFill>
            <a:srgbClr val="2D5F4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065008" y="5010912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FTE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9989820" y="3685032"/>
            <a:ext cx="1943100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2D5F4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9989820" y="3685032"/>
            <a:ext cx="1943100" cy="45720"/>
          </a:xfrm>
          <a:prstGeom prst="rect">
            <a:avLst/>
          </a:prstGeom>
          <a:solidFill>
            <a:srgbClr val="2D5F4F"/>
          </a:solidFill>
          <a:ln w="12700">
            <a:solidFill>
              <a:srgbClr val="2D5F4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081260" y="377647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Engineering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10081260" y="405079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i="1" dirty="0">
                <a:solidFill>
                  <a:srgbClr val="2D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Programme-wide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10081260" y="4251960"/>
            <a:ext cx="17602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· NFR · perf · automation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9989820" y="4992624"/>
            <a:ext cx="1943100" cy="329184"/>
          </a:xfrm>
          <a:prstGeom prst="rect">
            <a:avLst/>
          </a:prstGeom>
          <a:solidFill>
            <a:srgbClr val="2D5F4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081260" y="5010912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FTE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182880" y="5486400"/>
            <a:ext cx="11795760" cy="1188720"/>
          </a:xfrm>
          <a:prstGeom prst="rect">
            <a:avLst/>
          </a:prstGeom>
          <a:solidFill>
            <a:srgbClr val="F4F6F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82880" y="5486400"/>
            <a:ext cx="1371600" cy="118872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28600" y="5577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228600" y="5779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RAMP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228600" y="60533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by phase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691640" y="6173506"/>
            <a:ext cx="1929384" cy="209006"/>
          </a:xfrm>
          <a:prstGeom prst="rect">
            <a:avLst/>
          </a:prstGeom>
          <a:solidFill>
            <a:srgbClr val="6BA3D6"/>
          </a:solidFill>
          <a:ln w="12700">
            <a:solidFill>
              <a:srgbClr val="6BA3D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91640" y="597233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1691640" y="6400800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·  M0–3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1691640" y="652881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3758184" y="5894832"/>
            <a:ext cx="1929384" cy="487680"/>
          </a:xfrm>
          <a:prstGeom prst="rect">
            <a:avLst/>
          </a:prstGeom>
          <a:solidFill>
            <a:srgbClr val="3C7EBB"/>
          </a:solidFill>
          <a:ln w="12700">
            <a:solidFill>
              <a:srgbClr val="3C7EB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758184" y="569366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3758184" y="6400800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M3–9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3758184" y="652881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Credit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824728" y="5685826"/>
            <a:ext cx="1929384" cy="696686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824728" y="548465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5824728" y="6400800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M9–15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5824728" y="652881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Market Risk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7891272" y="5650992"/>
            <a:ext cx="1929384" cy="73152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891272" y="54498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100" dirty="0"/>
          </a:p>
        </p:txBody>
      </p:sp>
      <p:sp>
        <p:nvSpPr>
          <p:cNvPr id="140" name="Text 138"/>
          <p:cNvSpPr/>
          <p:nvPr/>
        </p:nvSpPr>
        <p:spPr>
          <a:xfrm>
            <a:off x="7891272" y="6400800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·  M15–21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7891272" y="652881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Liquidity / CCH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9957816" y="5964501"/>
            <a:ext cx="1929384" cy="418011"/>
          </a:xfrm>
          <a:prstGeom prst="rect">
            <a:avLst/>
          </a:prstGeom>
          <a:solidFill>
            <a:srgbClr val="6BA3D6"/>
          </a:solidFill>
          <a:ln w="12700">
            <a:solidFill>
              <a:srgbClr val="6BA3D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957816" y="5763333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9957816" y="6400800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·  M21–24+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9957816" y="6528816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/ BAU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1691640" y="6382512"/>
            <a:ext cx="10195560" cy="0"/>
          </a:xfrm>
          <a:prstGeom prst="line">
            <a:avLst/>
          </a:prstGeom>
          <a:noFill/>
          <a:ln w="9525">
            <a:solidFill>
              <a:srgbClr val="5A6B8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74320" y="6693408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run-the-bank ~50–60 FTE, distributed across the same team shapes at reduced scale.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2026-04-27T22:52:18Z</dcterms:created>
  <dcterms:modified xsi:type="dcterms:W3CDTF">2026-04-27T22:52:18Z</dcterms:modified>
</cp:coreProperties>
</file>