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6"/>
  </p:notesMasterIdLst>
  <p:sldIdLst>
    <p:sldId id="2147483643" r:id="rId2"/>
    <p:sldId id="2142533042" r:id="rId3"/>
    <p:sldId id="2147483645" r:id="rId4"/>
    <p:sldId id="256"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6FA2C70-D43F-9D48-8942-9BD45C9D7FAB}" v="1" dt="2026-04-23T12:57:29.22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43"/>
    <p:restoredTop sz="94694"/>
  </p:normalViewPr>
  <p:slideViewPr>
    <p:cSldViewPr snapToGrid="0">
      <p:cViewPr varScale="1">
        <p:scale>
          <a:sx n="121" d="100"/>
          <a:sy n="121" d="100"/>
        </p:scale>
        <p:origin x="384"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presProps" Target="presProps.xml"/><Relationship Id="rId12" Type="http://schemas.microsoft.com/office/2015/10/relationships/revisionInfo" Target="revisionInfo.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notesMaster" Target="notesMasters/notesMaster1.xml"/><Relationship Id="rId11" Type="http://schemas.microsoft.com/office/2016/11/relationships/changesInfo" Target="changesInfos/changesInfo1.xml"/><Relationship Id="rId5" Type="http://schemas.openxmlformats.org/officeDocument/2006/relationships/slide" Target="slides/slide4.xml"/><Relationship Id="rId1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Balamurugan Rajagopal" userId="133d98ff-6529-4d44-8000-77d4c1b9e28f" providerId="ADAL" clId="{236E043A-9122-5719-ADA1-ACF0274A0A64}"/>
    <pc:docChg chg="addSld modSld">
      <pc:chgData name="Balamurugan Rajagopal" userId="133d98ff-6529-4d44-8000-77d4c1b9e28f" providerId="ADAL" clId="{236E043A-9122-5719-ADA1-ACF0274A0A64}" dt="2026-04-23T12:57:29.226" v="0"/>
      <pc:docMkLst>
        <pc:docMk/>
      </pc:docMkLst>
      <pc:sldChg chg="add">
        <pc:chgData name="Balamurugan Rajagopal" userId="133d98ff-6529-4d44-8000-77d4c1b9e28f" providerId="ADAL" clId="{236E043A-9122-5719-ADA1-ACF0274A0A64}" dt="2026-04-23T12:57:29.226" v="0"/>
        <pc:sldMkLst>
          <pc:docMk/>
          <pc:sldMk cId="2888261441" sldId="256"/>
        </pc:sldMkLst>
      </pc:sldChg>
      <pc:sldChg chg="add">
        <pc:chgData name="Balamurugan Rajagopal" userId="133d98ff-6529-4d44-8000-77d4c1b9e28f" providerId="ADAL" clId="{236E043A-9122-5719-ADA1-ACF0274A0A64}" dt="2026-04-23T12:57:29.226" v="0"/>
        <pc:sldMkLst>
          <pc:docMk/>
          <pc:sldMk cId="4127903435" sldId="2142533042"/>
        </pc:sldMkLst>
      </pc:sldChg>
      <pc:sldChg chg="add">
        <pc:chgData name="Balamurugan Rajagopal" userId="133d98ff-6529-4d44-8000-77d4c1b9e28f" providerId="ADAL" clId="{236E043A-9122-5719-ADA1-ACF0274A0A64}" dt="2026-04-23T12:57:29.226" v="0"/>
        <pc:sldMkLst>
          <pc:docMk/>
          <pc:sldMk cId="896332805" sldId="2147483645"/>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003D1B9-B1B6-5141-813A-E387BD26BECB}" type="datetimeFigureOut">
              <a:rPr lang="en-US" smtClean="0"/>
              <a:t>4/23/26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EE395A8-C76A-724A-AA78-85C2A7247525}" type="slidenum">
              <a:rPr lang="en-US" smtClean="0"/>
              <a:t>‹#›</a:t>
            </a:fld>
            <a:endParaRPr lang="en-US"/>
          </a:p>
        </p:txBody>
      </p:sp>
    </p:spTree>
    <p:extLst>
      <p:ext uri="{BB962C8B-B14F-4D97-AF65-F5344CB8AC3E}">
        <p14:creationId xmlns:p14="http://schemas.microsoft.com/office/powerpoint/2010/main" val="36946940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6E831A-79E0-EF54-D575-E1ADACBA84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45ED202-F794-DA6B-A3C0-0E4DB8102A19}"/>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46D256FB-A13A-33C1-8AD7-0371411535D1}"/>
              </a:ext>
            </a:extLst>
          </p:cNvPr>
          <p:cNvSpPr>
            <a:spLocks noGrp="1"/>
          </p:cNvSpPr>
          <p:nvPr>
            <p:ph type="body" idx="1"/>
          </p:nvPr>
        </p:nvSpPr>
        <p:spPr/>
        <p:txBody>
          <a:bodyPr/>
          <a:lstStyle/>
          <a:p>
            <a:endParaRPr lang="en-GB"/>
          </a:p>
        </p:txBody>
      </p:sp>
      <p:sp>
        <p:nvSpPr>
          <p:cNvPr id="4" name="Date Placeholder 3">
            <a:extLst>
              <a:ext uri="{FF2B5EF4-FFF2-40B4-BE49-F238E27FC236}">
                <a16:creationId xmlns:a16="http://schemas.microsoft.com/office/drawing/2014/main" id="{96A8586E-975F-9EAC-4D0B-4BD406DFD262}"/>
              </a:ext>
            </a:extLst>
          </p:cNvPr>
          <p:cNvSpPr>
            <a:spLocks noGrp="1"/>
          </p:cNvSpPr>
          <p:nvPr>
            <p:ph type="dt" idx="1"/>
          </p:nvPr>
        </p:nvSpPr>
        <p:spPr/>
        <p:txBody>
          <a:bodyPr/>
          <a:lstStyle/>
          <a:p>
            <a:pPr defTabSz="915611">
              <a:defRPr/>
            </a:pPr>
            <a:r>
              <a:rPr lang="en-GB">
                <a:solidFill>
                  <a:prstClr val="black"/>
                </a:solidFill>
                <a:latin typeface="Calibri" panose="020F0502020204030204"/>
              </a:rPr>
              <a:t>30/03/2017</a:t>
            </a:r>
          </a:p>
        </p:txBody>
      </p:sp>
      <p:sp>
        <p:nvSpPr>
          <p:cNvPr id="5" name="Slide Number Placeholder 4">
            <a:extLst>
              <a:ext uri="{FF2B5EF4-FFF2-40B4-BE49-F238E27FC236}">
                <a16:creationId xmlns:a16="http://schemas.microsoft.com/office/drawing/2014/main" id="{A2F0751F-6B42-EF91-34B1-F2979657B6BC}"/>
              </a:ext>
            </a:extLst>
          </p:cNvPr>
          <p:cNvSpPr>
            <a:spLocks noGrp="1"/>
          </p:cNvSpPr>
          <p:nvPr>
            <p:ph type="sldNum" sz="quarter" idx="5"/>
          </p:nvPr>
        </p:nvSpPr>
        <p:spPr/>
        <p:txBody>
          <a:bodyPr/>
          <a:lstStyle/>
          <a:p>
            <a:pPr defTabSz="915611">
              <a:defRPr/>
            </a:pPr>
            <a:fld id="{2D83DF08-1E20-4046-A702-1368B35381BE}" type="slidenum">
              <a:rPr lang="en-GB">
                <a:solidFill>
                  <a:prstClr val="black"/>
                </a:solidFill>
                <a:latin typeface="Calibri" panose="020F0502020204030204"/>
              </a:rPr>
              <a:pPr defTabSz="915611">
                <a:defRPr/>
              </a:pPr>
              <a:t>3</a:t>
            </a:fld>
            <a:endParaRPr lang="en-GB">
              <a:solidFill>
                <a:prstClr val="black"/>
              </a:solidFill>
              <a:latin typeface="Calibri" panose="020F0502020204030204"/>
            </a:endParaRPr>
          </a:p>
        </p:txBody>
      </p:sp>
    </p:spTree>
    <p:extLst>
      <p:ext uri="{BB962C8B-B14F-4D97-AF65-F5344CB8AC3E}">
        <p14:creationId xmlns:p14="http://schemas.microsoft.com/office/powerpoint/2010/main" val="228833830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C8133B-0FF0-BF3D-7A1B-04A872C2D97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9FA8F3-55E2-9ACD-76FD-46EE82C52B7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13C664-F802-D3EB-06EB-F0BD559AFA9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BBDB0147-79AE-B255-8988-FF7922FAB541}"/>
              </a:ext>
            </a:extLst>
          </p:cNvPr>
          <p:cNvSpPr>
            <a:spLocks noGrp="1"/>
          </p:cNvSpPr>
          <p:nvPr>
            <p:ph type="sldNum" sz="quarter" idx="10"/>
          </p:nvPr>
        </p:nvSpPr>
        <p:spPr/>
        <p:txBody>
          <a:bodyPr/>
          <a:lstStyle/>
          <a:p>
            <a:pPr marL="0" marR="0" lvl="0" indent="0" algn="r" defTabSz="415525"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415525"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0480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043853-4DB9-5189-15B3-8A47498BAB29}"/>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B2E57229-AB7A-67D3-EA06-0D6FD557224D}"/>
              </a:ext>
            </a:extLst>
          </p:cNvPr>
          <p:cNvSpPr>
            <a:spLocks noGrp="1"/>
          </p:cNvSpPr>
          <p:nvPr>
            <p:ph idx="1"/>
          </p:nvPr>
        </p:nvSpPr>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Footer Placeholder 4">
            <a:extLst>
              <a:ext uri="{FF2B5EF4-FFF2-40B4-BE49-F238E27FC236}">
                <a16:creationId xmlns:a16="http://schemas.microsoft.com/office/drawing/2014/main" id="{7ED8FC10-2C0A-9612-D218-37654C7E1335}"/>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60077400-51B4-1126-A5F4-07654EC4C6BE}"/>
              </a:ext>
            </a:extLst>
          </p:cNvPr>
          <p:cNvSpPr>
            <a:spLocks noGrp="1"/>
          </p:cNvSpPr>
          <p:nvPr>
            <p:ph type="sldNum" sz="quarter" idx="12"/>
          </p:nvPr>
        </p:nvSpPr>
        <p:spPr/>
        <p:txBody>
          <a:bodyPr/>
          <a:lstStyle/>
          <a:p>
            <a:fld id="{662A0901-ACEF-4BE9-9C8C-C119B421173E}" type="slidenum">
              <a:rPr lang="en-IN" smtClean="0"/>
              <a:t>‹#›</a:t>
            </a:fld>
            <a:endParaRPr lang="en-IN"/>
          </a:p>
        </p:txBody>
      </p:sp>
    </p:spTree>
    <p:extLst>
      <p:ext uri="{BB962C8B-B14F-4D97-AF65-F5344CB8AC3E}">
        <p14:creationId xmlns:p14="http://schemas.microsoft.com/office/powerpoint/2010/main" val="680183560"/>
      </p:ext>
    </p:extLst>
  </p:cSld>
  <p:clrMapOvr>
    <a:masterClrMapping/>
  </p:clrMapOvr>
  <p:hf sldNum="0" hdr="0" dt="0"/>
</p:sldLayout>
</file>

<file path=ppt/slideLayouts/slideLayout2.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8B4F54-6F0A-19B4-3238-7BC32D8F4DC8}"/>
              </a:ext>
            </a:extLst>
          </p:cNvPr>
          <p:cNvSpPr>
            <a:spLocks noGrp="1"/>
          </p:cNvSpPr>
          <p:nvPr>
            <p:ph type="title"/>
          </p:nvPr>
        </p:nvSpPr>
        <p:spPr/>
        <p:txBody>
          <a:bodyPr/>
          <a:lstStyle/>
          <a:p>
            <a:r>
              <a:rPr lang="en-US"/>
              <a:t>Click to edit Master title style</a:t>
            </a:r>
            <a:endParaRPr lang="en-IN"/>
          </a:p>
        </p:txBody>
      </p:sp>
      <p:sp>
        <p:nvSpPr>
          <p:cNvPr id="4" name="Footer Placeholder 3">
            <a:extLst>
              <a:ext uri="{FF2B5EF4-FFF2-40B4-BE49-F238E27FC236}">
                <a16:creationId xmlns:a16="http://schemas.microsoft.com/office/drawing/2014/main" id="{F727FC30-A017-62AC-416F-FE4B67D8E730}"/>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4C5F89A8-A7DB-7E7B-4952-3EFF5B5544B9}"/>
              </a:ext>
            </a:extLst>
          </p:cNvPr>
          <p:cNvSpPr>
            <a:spLocks noGrp="1"/>
          </p:cNvSpPr>
          <p:nvPr>
            <p:ph type="sldNum" sz="quarter" idx="12"/>
          </p:nvPr>
        </p:nvSpPr>
        <p:spPr/>
        <p:txBody>
          <a:bodyPr/>
          <a:lstStyle/>
          <a:p>
            <a:fld id="{662A0901-ACEF-4BE9-9C8C-C119B421173E}" type="slidenum">
              <a:rPr lang="en-IN" smtClean="0"/>
              <a:t>‹#›</a:t>
            </a:fld>
            <a:endParaRPr lang="en-IN"/>
          </a:p>
        </p:txBody>
      </p:sp>
    </p:spTree>
    <p:extLst>
      <p:ext uri="{BB962C8B-B14F-4D97-AF65-F5344CB8AC3E}">
        <p14:creationId xmlns:p14="http://schemas.microsoft.com/office/powerpoint/2010/main" val="1732520751"/>
      </p:ext>
    </p:extLst>
  </p:cSld>
  <p:clrMapOvr>
    <a:masterClrMapping/>
  </p:clrMapOvr>
  <p:hf sldNum="0"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ECFF3A67-9F87-D948-0E1B-C965F3A44C36}"/>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D6930D96-E5F4-B8B9-8376-0B62449B0A50}"/>
              </a:ext>
            </a:extLst>
          </p:cNvPr>
          <p:cNvSpPr>
            <a:spLocks noGrp="1"/>
          </p:cNvSpPr>
          <p:nvPr>
            <p:ph type="sldNum" sz="quarter" idx="12"/>
          </p:nvPr>
        </p:nvSpPr>
        <p:spPr/>
        <p:txBody>
          <a:bodyPr/>
          <a:lstStyle/>
          <a:p>
            <a:fld id="{662A0901-ACEF-4BE9-9C8C-C119B421173E}" type="slidenum">
              <a:rPr lang="en-IN" smtClean="0"/>
              <a:t>‹#›</a:t>
            </a:fld>
            <a:endParaRPr lang="en-IN"/>
          </a:p>
        </p:txBody>
      </p:sp>
    </p:spTree>
    <p:extLst>
      <p:ext uri="{BB962C8B-B14F-4D97-AF65-F5344CB8AC3E}">
        <p14:creationId xmlns:p14="http://schemas.microsoft.com/office/powerpoint/2010/main" val="1032790304"/>
      </p:ext>
    </p:extLst>
  </p:cSld>
  <p:clrMapOvr>
    <a:masterClrMapping/>
  </p:clrMapOvr>
  <p:hf sldNum="0" hdr="0" dt="0"/>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Custom Layout">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213B8F0-6A13-4C09-87E6-7C343222BC63}"/>
              </a:ext>
            </a:extLst>
          </p:cNvPr>
          <p:cNvSpPr>
            <a:spLocks noGrp="1"/>
          </p:cNvSpPr>
          <p:nvPr>
            <p:ph type="title"/>
          </p:nvPr>
        </p:nvSpPr>
        <p:spPr/>
        <p:txBody>
          <a:bodyPr/>
          <a:lstStyle/>
          <a:p>
            <a:r>
              <a:rPr lang="en-US"/>
              <a:t>Click to edit Master title style</a:t>
            </a:r>
          </a:p>
        </p:txBody>
      </p:sp>
      <p:sp>
        <p:nvSpPr>
          <p:cNvPr id="8" name="Text Placeholder 7">
            <a:extLst>
              <a:ext uri="{FF2B5EF4-FFF2-40B4-BE49-F238E27FC236}">
                <a16:creationId xmlns:a16="http://schemas.microsoft.com/office/drawing/2014/main" id="{CA42B828-E838-46A6-BE5A-0BCB34CA9A31}"/>
              </a:ext>
            </a:extLst>
          </p:cNvPr>
          <p:cNvSpPr>
            <a:spLocks noGrp="1"/>
          </p:cNvSpPr>
          <p:nvPr>
            <p:ph type="body" sz="quarter" idx="10"/>
          </p:nvPr>
        </p:nvSpPr>
        <p:spPr>
          <a:xfrm>
            <a:off x="382921" y="2849127"/>
            <a:ext cx="5390651" cy="312714"/>
          </a:xfrm>
        </p:spPr>
        <p:txBody>
          <a:bodyPr vert="horz" wrap="square" lIns="0" tIns="17145" rIns="0" bIns="0" rtlCol="0">
            <a:spAutoFit/>
          </a:bodyPr>
          <a:lstStyle>
            <a:lvl1pPr>
              <a:defRPr lang="en-US" dirty="0" smtClean="0"/>
            </a:lvl1pPr>
            <a:lvl2pPr marL="609555" indent="0">
              <a:buNone/>
              <a:defRPr lang="en-US" dirty="0" smtClean="0"/>
            </a:lvl2pPr>
            <a:lvl3pPr>
              <a:defRPr lang="en-US" dirty="0" smtClean="0"/>
            </a:lvl3pPr>
            <a:lvl4pPr>
              <a:defRPr lang="en-US" dirty="0" smtClean="0"/>
            </a:lvl4pPr>
            <a:lvl5pPr>
              <a:defRPr lang="en-US" dirty="0"/>
            </a:lvl5pPr>
          </a:lstStyle>
          <a:p>
            <a:pPr marL="0" lvl="0" indent="0">
              <a:buClr>
                <a:srgbClr val="808285"/>
              </a:buClr>
              <a:buFont typeface="Wingdings" panose="05000000000000000000" pitchFamily="2" charset="2"/>
              <a:buNone/>
            </a:pPr>
            <a:r>
              <a:rPr lang="en-US"/>
              <a:t>Click to edit Master text styles</a:t>
            </a:r>
          </a:p>
        </p:txBody>
      </p:sp>
      <p:sp>
        <p:nvSpPr>
          <p:cNvPr id="10" name="Text Placeholder 9">
            <a:extLst>
              <a:ext uri="{FF2B5EF4-FFF2-40B4-BE49-F238E27FC236}">
                <a16:creationId xmlns:a16="http://schemas.microsoft.com/office/drawing/2014/main" id="{084EFB8F-EA4A-4341-A4CD-09652A6EE590}"/>
              </a:ext>
            </a:extLst>
          </p:cNvPr>
          <p:cNvSpPr>
            <a:spLocks noGrp="1"/>
          </p:cNvSpPr>
          <p:nvPr>
            <p:ph type="body" sz="quarter" idx="11" hasCustomPrompt="1"/>
          </p:nvPr>
        </p:nvSpPr>
        <p:spPr>
          <a:xfrm>
            <a:off x="374984" y="5819829"/>
            <a:ext cx="1775480" cy="184602"/>
          </a:xfrm>
        </p:spPr>
        <p:txBody>
          <a:bodyPr vert="horz" wrap="square" lIns="0" tIns="0" rIns="0" bIns="0" rtlCol="0">
            <a:spAutoFit/>
          </a:bodyPr>
          <a:lstStyle>
            <a:lvl1pPr marL="0" indent="0">
              <a:buFont typeface="Arial" panose="020B0604020202020204" pitchFamily="34" charset="0"/>
              <a:buNone/>
              <a:defRPr lang="en-US" sz="1333" smtClean="0">
                <a:solidFill>
                  <a:srgbClr val="F4F3F9"/>
                </a:solidFill>
              </a:defRPr>
            </a:lvl1pPr>
            <a:lvl2pPr>
              <a:defRPr lang="en-US" sz="1600" smtClean="0">
                <a:solidFill>
                  <a:schemeClr val="tx1">
                    <a:lumMod val="75000"/>
                    <a:lumOff val="25000"/>
                  </a:schemeClr>
                </a:solidFill>
              </a:defRPr>
            </a:lvl2pPr>
            <a:lvl3pPr>
              <a:defRPr lang="en-US" sz="1600" smtClean="0">
                <a:solidFill>
                  <a:schemeClr val="tx1">
                    <a:lumMod val="75000"/>
                    <a:lumOff val="25000"/>
                  </a:schemeClr>
                </a:solidFill>
              </a:defRPr>
            </a:lvl3pPr>
            <a:lvl4pPr>
              <a:defRPr lang="en-US" sz="1600" smtClean="0">
                <a:solidFill>
                  <a:schemeClr val="tx1">
                    <a:lumMod val="75000"/>
                    <a:lumOff val="25000"/>
                  </a:schemeClr>
                </a:solidFill>
              </a:defRPr>
            </a:lvl4pPr>
            <a:lvl5pPr>
              <a:defRPr lang="en-US" sz="1600">
                <a:solidFill>
                  <a:schemeClr val="tx1">
                    <a:lumMod val="75000"/>
                    <a:lumOff val="25000"/>
                  </a:schemeClr>
                </a:solidFill>
              </a:defRPr>
            </a:lvl5pPr>
          </a:lstStyle>
          <a:p>
            <a:pPr marL="228584" lvl="0" indent="-228584" defTabSz="1219050">
              <a:buClr>
                <a:srgbClr val="808285"/>
              </a:buClr>
            </a:pPr>
            <a:r>
              <a:rPr lang="en-US"/>
              <a:t>Date</a:t>
            </a:r>
          </a:p>
        </p:txBody>
      </p:sp>
    </p:spTree>
    <p:extLst>
      <p:ext uri="{BB962C8B-B14F-4D97-AF65-F5344CB8AC3E}">
        <p14:creationId xmlns:p14="http://schemas.microsoft.com/office/powerpoint/2010/main" val="2525578856"/>
      </p:ext>
    </p:extLst>
  </p:cSld>
  <p:clrMapOvr>
    <a:masterClrMapping/>
  </p:clrMapOvr>
  <p:hf sldNum="0" hdr="0" dt="0"/>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1_Custom Layout">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213B8F0-6A13-4C09-87E6-7C343222BC63}"/>
              </a:ext>
            </a:extLst>
          </p:cNvPr>
          <p:cNvSpPr>
            <a:spLocks noGrp="1"/>
          </p:cNvSpPr>
          <p:nvPr>
            <p:ph type="title"/>
          </p:nvPr>
        </p:nvSpPr>
        <p:spPr/>
        <p:txBody>
          <a:bodyPr/>
          <a:lstStyle/>
          <a:p>
            <a:r>
              <a:rPr lang="en-US"/>
              <a:t>Click to edit Master title style</a:t>
            </a:r>
          </a:p>
        </p:txBody>
      </p:sp>
      <p:sp>
        <p:nvSpPr>
          <p:cNvPr id="8" name="Text Placeholder 7">
            <a:extLst>
              <a:ext uri="{FF2B5EF4-FFF2-40B4-BE49-F238E27FC236}">
                <a16:creationId xmlns:a16="http://schemas.microsoft.com/office/drawing/2014/main" id="{CA42B828-E838-46A6-BE5A-0BCB34CA9A31}"/>
              </a:ext>
            </a:extLst>
          </p:cNvPr>
          <p:cNvSpPr>
            <a:spLocks noGrp="1"/>
          </p:cNvSpPr>
          <p:nvPr>
            <p:ph type="body" sz="quarter" idx="10"/>
          </p:nvPr>
        </p:nvSpPr>
        <p:spPr>
          <a:xfrm>
            <a:off x="382921" y="2849125"/>
            <a:ext cx="5390651" cy="312714"/>
          </a:xfrm>
        </p:spPr>
        <p:txBody>
          <a:bodyPr vert="horz" wrap="square" lIns="0" tIns="17145" rIns="0" bIns="0" rtlCol="0">
            <a:spAutoFit/>
          </a:bodyPr>
          <a:lstStyle>
            <a:lvl1pPr>
              <a:defRPr lang="en-US" dirty="0" smtClean="0"/>
            </a:lvl1pPr>
            <a:lvl2pPr marL="609555" indent="0">
              <a:buNone/>
              <a:defRPr lang="en-US" dirty="0" smtClean="0"/>
            </a:lvl2pPr>
            <a:lvl3pPr>
              <a:defRPr lang="en-US" dirty="0" smtClean="0"/>
            </a:lvl3pPr>
            <a:lvl4pPr>
              <a:defRPr lang="en-US" dirty="0" smtClean="0"/>
            </a:lvl4pPr>
            <a:lvl5pPr>
              <a:defRPr lang="en-US" dirty="0"/>
            </a:lvl5pPr>
          </a:lstStyle>
          <a:p>
            <a:pPr marL="0" lvl="0" indent="0">
              <a:buClr>
                <a:srgbClr val="808285"/>
              </a:buClr>
              <a:buFont typeface="Wingdings" panose="05000000000000000000" pitchFamily="2" charset="2"/>
              <a:buNone/>
            </a:pPr>
            <a:r>
              <a:rPr lang="en-US"/>
              <a:t>Click to edit Master text styles</a:t>
            </a:r>
          </a:p>
        </p:txBody>
      </p:sp>
      <p:sp>
        <p:nvSpPr>
          <p:cNvPr id="10" name="Text Placeholder 9">
            <a:extLst>
              <a:ext uri="{FF2B5EF4-FFF2-40B4-BE49-F238E27FC236}">
                <a16:creationId xmlns:a16="http://schemas.microsoft.com/office/drawing/2014/main" id="{084EFB8F-EA4A-4341-A4CD-09652A6EE590}"/>
              </a:ext>
            </a:extLst>
          </p:cNvPr>
          <p:cNvSpPr>
            <a:spLocks noGrp="1"/>
          </p:cNvSpPr>
          <p:nvPr>
            <p:ph type="body" sz="quarter" idx="11" hasCustomPrompt="1"/>
          </p:nvPr>
        </p:nvSpPr>
        <p:spPr>
          <a:xfrm>
            <a:off x="374984" y="5819828"/>
            <a:ext cx="1775480" cy="184602"/>
          </a:xfrm>
        </p:spPr>
        <p:txBody>
          <a:bodyPr vert="horz" wrap="square" lIns="0" tIns="0" rIns="0" bIns="0" rtlCol="0">
            <a:spAutoFit/>
          </a:bodyPr>
          <a:lstStyle>
            <a:lvl1pPr marL="0" indent="0">
              <a:buFont typeface="Arial" panose="020B0604020202020204" pitchFamily="34" charset="0"/>
              <a:buNone/>
              <a:defRPr lang="en-US" sz="1333" smtClean="0">
                <a:solidFill>
                  <a:srgbClr val="F4F3F9"/>
                </a:solidFill>
              </a:defRPr>
            </a:lvl1pPr>
            <a:lvl2pPr>
              <a:defRPr lang="en-US" sz="1600" smtClean="0">
                <a:solidFill>
                  <a:schemeClr val="tx1">
                    <a:lumMod val="75000"/>
                    <a:lumOff val="25000"/>
                  </a:schemeClr>
                </a:solidFill>
              </a:defRPr>
            </a:lvl2pPr>
            <a:lvl3pPr>
              <a:defRPr lang="en-US" sz="1600" smtClean="0">
                <a:solidFill>
                  <a:schemeClr val="tx1">
                    <a:lumMod val="75000"/>
                    <a:lumOff val="25000"/>
                  </a:schemeClr>
                </a:solidFill>
              </a:defRPr>
            </a:lvl3pPr>
            <a:lvl4pPr>
              <a:defRPr lang="en-US" sz="1600" smtClean="0">
                <a:solidFill>
                  <a:schemeClr val="tx1">
                    <a:lumMod val="75000"/>
                    <a:lumOff val="25000"/>
                  </a:schemeClr>
                </a:solidFill>
              </a:defRPr>
            </a:lvl4pPr>
            <a:lvl5pPr>
              <a:defRPr lang="en-US" sz="1600">
                <a:solidFill>
                  <a:schemeClr val="tx1">
                    <a:lumMod val="75000"/>
                    <a:lumOff val="25000"/>
                  </a:schemeClr>
                </a:solidFill>
              </a:defRPr>
            </a:lvl5pPr>
          </a:lstStyle>
          <a:p>
            <a:pPr marL="228584" lvl="0" indent="-228584" defTabSz="1219050">
              <a:buClr>
                <a:srgbClr val="808285"/>
              </a:buClr>
            </a:pPr>
            <a:r>
              <a:rPr lang="en-US"/>
              <a:t>Date</a:t>
            </a:r>
          </a:p>
        </p:txBody>
      </p:sp>
    </p:spTree>
    <p:extLst>
      <p:ext uri="{BB962C8B-B14F-4D97-AF65-F5344CB8AC3E}">
        <p14:creationId xmlns:p14="http://schemas.microsoft.com/office/powerpoint/2010/main" val="2268243313"/>
      </p:ext>
    </p:extLst>
  </p:cSld>
  <p:clrMapOvr>
    <a:masterClrMapping/>
  </p:clrMapOvr>
  <p:hf sldNum="0" hdr="0" dt="0"/>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2_Custom Layout">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213B8F0-6A13-4C09-87E6-7C343222BC63}"/>
              </a:ext>
            </a:extLst>
          </p:cNvPr>
          <p:cNvSpPr>
            <a:spLocks noGrp="1"/>
          </p:cNvSpPr>
          <p:nvPr>
            <p:ph type="title"/>
          </p:nvPr>
        </p:nvSpPr>
        <p:spPr/>
        <p:txBody>
          <a:bodyPr/>
          <a:lstStyle/>
          <a:p>
            <a:r>
              <a:rPr lang="en-US"/>
              <a:t>Click to edit Master title style</a:t>
            </a:r>
          </a:p>
        </p:txBody>
      </p:sp>
      <p:sp>
        <p:nvSpPr>
          <p:cNvPr id="8" name="Text Placeholder 7">
            <a:extLst>
              <a:ext uri="{FF2B5EF4-FFF2-40B4-BE49-F238E27FC236}">
                <a16:creationId xmlns:a16="http://schemas.microsoft.com/office/drawing/2014/main" id="{CA42B828-E838-46A6-BE5A-0BCB34CA9A31}"/>
              </a:ext>
            </a:extLst>
          </p:cNvPr>
          <p:cNvSpPr>
            <a:spLocks noGrp="1"/>
          </p:cNvSpPr>
          <p:nvPr>
            <p:ph type="body" sz="quarter" idx="10"/>
          </p:nvPr>
        </p:nvSpPr>
        <p:spPr>
          <a:xfrm>
            <a:off x="382921" y="2849127"/>
            <a:ext cx="5390651" cy="312714"/>
          </a:xfrm>
        </p:spPr>
        <p:txBody>
          <a:bodyPr vert="horz" wrap="square" lIns="0" tIns="17145" rIns="0" bIns="0" rtlCol="0">
            <a:spAutoFit/>
          </a:bodyPr>
          <a:lstStyle>
            <a:lvl1pPr>
              <a:defRPr lang="en-US" dirty="0" smtClean="0"/>
            </a:lvl1pPr>
            <a:lvl2pPr marL="609555" indent="0">
              <a:buNone/>
              <a:defRPr lang="en-US" dirty="0" smtClean="0"/>
            </a:lvl2pPr>
            <a:lvl3pPr>
              <a:defRPr lang="en-US" dirty="0" smtClean="0"/>
            </a:lvl3pPr>
            <a:lvl4pPr>
              <a:defRPr lang="en-US" dirty="0" smtClean="0"/>
            </a:lvl4pPr>
            <a:lvl5pPr>
              <a:defRPr lang="en-US" dirty="0"/>
            </a:lvl5pPr>
          </a:lstStyle>
          <a:p>
            <a:pPr marL="0" lvl="0" indent="0">
              <a:buClr>
                <a:srgbClr val="808285"/>
              </a:buClr>
              <a:buFont typeface="Wingdings" panose="05000000000000000000" pitchFamily="2" charset="2"/>
              <a:buNone/>
            </a:pPr>
            <a:r>
              <a:rPr lang="en-US"/>
              <a:t>Click to edit Master text styles</a:t>
            </a:r>
          </a:p>
        </p:txBody>
      </p:sp>
      <p:sp>
        <p:nvSpPr>
          <p:cNvPr id="10" name="Text Placeholder 9">
            <a:extLst>
              <a:ext uri="{FF2B5EF4-FFF2-40B4-BE49-F238E27FC236}">
                <a16:creationId xmlns:a16="http://schemas.microsoft.com/office/drawing/2014/main" id="{084EFB8F-EA4A-4341-A4CD-09652A6EE590}"/>
              </a:ext>
            </a:extLst>
          </p:cNvPr>
          <p:cNvSpPr>
            <a:spLocks noGrp="1"/>
          </p:cNvSpPr>
          <p:nvPr>
            <p:ph type="body" sz="quarter" idx="11" hasCustomPrompt="1"/>
          </p:nvPr>
        </p:nvSpPr>
        <p:spPr>
          <a:xfrm>
            <a:off x="374984" y="5819828"/>
            <a:ext cx="1775480" cy="184602"/>
          </a:xfrm>
        </p:spPr>
        <p:txBody>
          <a:bodyPr vert="horz" wrap="square" lIns="0" tIns="0" rIns="0" bIns="0" rtlCol="0">
            <a:spAutoFit/>
          </a:bodyPr>
          <a:lstStyle>
            <a:lvl1pPr marL="0" indent="0">
              <a:buFont typeface="Arial" panose="020B0604020202020204" pitchFamily="34" charset="0"/>
              <a:buNone/>
              <a:defRPr lang="en-US" sz="1333" smtClean="0">
                <a:solidFill>
                  <a:srgbClr val="F4F3F9"/>
                </a:solidFill>
              </a:defRPr>
            </a:lvl1pPr>
            <a:lvl2pPr>
              <a:defRPr lang="en-US" sz="1600" smtClean="0">
                <a:solidFill>
                  <a:schemeClr val="tx1">
                    <a:lumMod val="75000"/>
                    <a:lumOff val="25000"/>
                  </a:schemeClr>
                </a:solidFill>
              </a:defRPr>
            </a:lvl2pPr>
            <a:lvl3pPr>
              <a:defRPr lang="en-US" sz="1600" smtClean="0">
                <a:solidFill>
                  <a:schemeClr val="tx1">
                    <a:lumMod val="75000"/>
                    <a:lumOff val="25000"/>
                  </a:schemeClr>
                </a:solidFill>
              </a:defRPr>
            </a:lvl3pPr>
            <a:lvl4pPr>
              <a:defRPr lang="en-US" sz="1600" smtClean="0">
                <a:solidFill>
                  <a:schemeClr val="tx1">
                    <a:lumMod val="75000"/>
                    <a:lumOff val="25000"/>
                  </a:schemeClr>
                </a:solidFill>
              </a:defRPr>
            </a:lvl4pPr>
            <a:lvl5pPr>
              <a:defRPr lang="en-US" sz="1600">
                <a:solidFill>
                  <a:schemeClr val="tx1">
                    <a:lumMod val="75000"/>
                    <a:lumOff val="25000"/>
                  </a:schemeClr>
                </a:solidFill>
              </a:defRPr>
            </a:lvl5pPr>
          </a:lstStyle>
          <a:p>
            <a:pPr marL="228584" lvl="0" indent="-228584" defTabSz="1219050">
              <a:buClr>
                <a:srgbClr val="808285"/>
              </a:buClr>
            </a:pPr>
            <a:r>
              <a:rPr lang="en-US"/>
              <a:t>Date</a:t>
            </a:r>
          </a:p>
        </p:txBody>
      </p:sp>
    </p:spTree>
    <p:extLst>
      <p:ext uri="{BB962C8B-B14F-4D97-AF65-F5344CB8AC3E}">
        <p14:creationId xmlns:p14="http://schemas.microsoft.com/office/powerpoint/2010/main" val="1441371215"/>
      </p:ext>
    </p:extLst>
  </p:cSld>
  <p:clrMapOvr>
    <a:masterClrMapping/>
  </p:clrMapOvr>
  <p:hf sldNum="0" hdr="0" dt="0"/>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3_Custom Layout">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A213B8F0-6A13-4C09-87E6-7C343222BC63}"/>
              </a:ext>
            </a:extLst>
          </p:cNvPr>
          <p:cNvSpPr>
            <a:spLocks noGrp="1"/>
          </p:cNvSpPr>
          <p:nvPr>
            <p:ph type="title"/>
          </p:nvPr>
        </p:nvSpPr>
        <p:spPr/>
        <p:txBody>
          <a:bodyPr/>
          <a:lstStyle/>
          <a:p>
            <a:r>
              <a:rPr lang="en-US"/>
              <a:t>Click to edit Master title style</a:t>
            </a:r>
          </a:p>
        </p:txBody>
      </p:sp>
      <p:sp>
        <p:nvSpPr>
          <p:cNvPr id="8" name="Text Placeholder 7">
            <a:extLst>
              <a:ext uri="{FF2B5EF4-FFF2-40B4-BE49-F238E27FC236}">
                <a16:creationId xmlns:a16="http://schemas.microsoft.com/office/drawing/2014/main" id="{CA42B828-E838-46A6-BE5A-0BCB34CA9A31}"/>
              </a:ext>
            </a:extLst>
          </p:cNvPr>
          <p:cNvSpPr>
            <a:spLocks noGrp="1"/>
          </p:cNvSpPr>
          <p:nvPr>
            <p:ph type="body" sz="quarter" idx="10"/>
          </p:nvPr>
        </p:nvSpPr>
        <p:spPr>
          <a:xfrm>
            <a:off x="382921" y="2849125"/>
            <a:ext cx="5390651" cy="312714"/>
          </a:xfrm>
        </p:spPr>
        <p:txBody>
          <a:bodyPr vert="horz" wrap="square" lIns="0" tIns="17145" rIns="0" bIns="0" rtlCol="0">
            <a:spAutoFit/>
          </a:bodyPr>
          <a:lstStyle>
            <a:lvl1pPr>
              <a:defRPr lang="en-US" dirty="0" smtClean="0"/>
            </a:lvl1pPr>
            <a:lvl2pPr marL="609555" indent="0">
              <a:buNone/>
              <a:defRPr lang="en-US" dirty="0" smtClean="0"/>
            </a:lvl2pPr>
            <a:lvl3pPr>
              <a:defRPr lang="en-US" dirty="0" smtClean="0"/>
            </a:lvl3pPr>
            <a:lvl4pPr>
              <a:defRPr lang="en-US" dirty="0" smtClean="0"/>
            </a:lvl4pPr>
            <a:lvl5pPr>
              <a:defRPr lang="en-US" dirty="0"/>
            </a:lvl5pPr>
          </a:lstStyle>
          <a:p>
            <a:pPr marL="0" lvl="0" indent="0">
              <a:buClr>
                <a:srgbClr val="808285"/>
              </a:buClr>
              <a:buFont typeface="Wingdings" panose="05000000000000000000" pitchFamily="2" charset="2"/>
              <a:buNone/>
            </a:pPr>
            <a:r>
              <a:rPr lang="en-US"/>
              <a:t>Click to edit Master text styles</a:t>
            </a:r>
          </a:p>
        </p:txBody>
      </p:sp>
      <p:sp>
        <p:nvSpPr>
          <p:cNvPr id="10" name="Text Placeholder 9">
            <a:extLst>
              <a:ext uri="{FF2B5EF4-FFF2-40B4-BE49-F238E27FC236}">
                <a16:creationId xmlns:a16="http://schemas.microsoft.com/office/drawing/2014/main" id="{084EFB8F-EA4A-4341-A4CD-09652A6EE590}"/>
              </a:ext>
            </a:extLst>
          </p:cNvPr>
          <p:cNvSpPr>
            <a:spLocks noGrp="1"/>
          </p:cNvSpPr>
          <p:nvPr>
            <p:ph type="body" sz="quarter" idx="11" hasCustomPrompt="1"/>
          </p:nvPr>
        </p:nvSpPr>
        <p:spPr>
          <a:xfrm>
            <a:off x="374984" y="5819827"/>
            <a:ext cx="1775480" cy="184602"/>
          </a:xfrm>
        </p:spPr>
        <p:txBody>
          <a:bodyPr vert="horz" wrap="square" lIns="0" tIns="0" rIns="0" bIns="0" rtlCol="0">
            <a:spAutoFit/>
          </a:bodyPr>
          <a:lstStyle>
            <a:lvl1pPr marL="0" indent="0">
              <a:buFont typeface="Arial" panose="020B0604020202020204" pitchFamily="34" charset="0"/>
              <a:buNone/>
              <a:defRPr lang="en-US" sz="1333" smtClean="0">
                <a:solidFill>
                  <a:srgbClr val="F4F3F9"/>
                </a:solidFill>
              </a:defRPr>
            </a:lvl1pPr>
            <a:lvl2pPr>
              <a:defRPr lang="en-US" sz="1600" smtClean="0">
                <a:solidFill>
                  <a:schemeClr val="tx1">
                    <a:lumMod val="75000"/>
                    <a:lumOff val="25000"/>
                  </a:schemeClr>
                </a:solidFill>
              </a:defRPr>
            </a:lvl2pPr>
            <a:lvl3pPr>
              <a:defRPr lang="en-US" sz="1600" smtClean="0">
                <a:solidFill>
                  <a:schemeClr val="tx1">
                    <a:lumMod val="75000"/>
                    <a:lumOff val="25000"/>
                  </a:schemeClr>
                </a:solidFill>
              </a:defRPr>
            </a:lvl3pPr>
            <a:lvl4pPr>
              <a:defRPr lang="en-US" sz="1600" smtClean="0">
                <a:solidFill>
                  <a:schemeClr val="tx1">
                    <a:lumMod val="75000"/>
                    <a:lumOff val="25000"/>
                  </a:schemeClr>
                </a:solidFill>
              </a:defRPr>
            </a:lvl4pPr>
            <a:lvl5pPr>
              <a:defRPr lang="en-US" sz="1600">
                <a:solidFill>
                  <a:schemeClr val="tx1">
                    <a:lumMod val="75000"/>
                    <a:lumOff val="25000"/>
                  </a:schemeClr>
                </a:solidFill>
              </a:defRPr>
            </a:lvl5pPr>
          </a:lstStyle>
          <a:p>
            <a:pPr marL="228584" lvl="0" indent="-228584" defTabSz="1219050">
              <a:buClr>
                <a:srgbClr val="808285"/>
              </a:buClr>
            </a:pPr>
            <a:r>
              <a:rPr lang="en-US"/>
              <a:t>Date</a:t>
            </a:r>
          </a:p>
        </p:txBody>
      </p:sp>
    </p:spTree>
    <p:extLst>
      <p:ext uri="{BB962C8B-B14F-4D97-AF65-F5344CB8AC3E}">
        <p14:creationId xmlns:p14="http://schemas.microsoft.com/office/powerpoint/2010/main" val="2116841695"/>
      </p:ext>
    </p:extLst>
  </p:cSld>
  <p:clrMapOvr>
    <a:masterClrMapping/>
  </p:clrMapOvr>
  <p:hf sldNum="0" hdr="0" dt="0"/>
</p:sldLayout>
</file>

<file path=ppt/slideLayouts/slideLayout8.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416662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BBFA0BF-8DAC-3B8C-4AE3-5CA36724CAB0}"/>
              </a:ext>
            </a:extLst>
          </p:cNvPr>
          <p:cNvSpPr>
            <a:spLocks noGrp="1"/>
          </p:cNvSpPr>
          <p:nvPr>
            <p:ph type="title"/>
          </p:nvPr>
        </p:nvSpPr>
        <p:spPr>
          <a:xfrm>
            <a:off x="257326" y="143890"/>
            <a:ext cx="10514927" cy="737369"/>
          </a:xfrm>
          <a:prstGeom prst="rect">
            <a:avLst/>
          </a:prstGeom>
        </p:spPr>
        <p:txBody>
          <a:bodyPr vert="horz" lIns="91440" tIns="45720" rIns="91440" bIns="45720" rtlCol="0" anchor="t">
            <a:noAutofit/>
          </a:bodyPr>
          <a:lstStyle/>
          <a:p>
            <a:pPr lvl="0" defTabSz="1219050"/>
            <a:r>
              <a:rPr lang="en-US"/>
              <a:t>Click to edit Master title style</a:t>
            </a:r>
            <a:endParaRPr lang="en-IN"/>
          </a:p>
        </p:txBody>
      </p:sp>
      <p:sp>
        <p:nvSpPr>
          <p:cNvPr id="3" name="Text Placeholder 2">
            <a:extLst>
              <a:ext uri="{FF2B5EF4-FFF2-40B4-BE49-F238E27FC236}">
                <a16:creationId xmlns:a16="http://schemas.microsoft.com/office/drawing/2014/main" id="{A9CEB974-2740-39F8-02D1-C88C824BE991}"/>
              </a:ext>
            </a:extLst>
          </p:cNvPr>
          <p:cNvSpPr>
            <a:spLocks noGrp="1"/>
          </p:cNvSpPr>
          <p:nvPr>
            <p:ph type="body" idx="1"/>
          </p:nvPr>
        </p:nvSpPr>
        <p:spPr>
          <a:xfrm>
            <a:off x="257323" y="1135772"/>
            <a:ext cx="10515600" cy="434974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Footer Placeholder 4">
            <a:extLst>
              <a:ext uri="{FF2B5EF4-FFF2-40B4-BE49-F238E27FC236}">
                <a16:creationId xmlns:a16="http://schemas.microsoft.com/office/drawing/2014/main" id="{304D14DC-BF94-9E10-B09A-E89A386DEB11}"/>
              </a:ext>
            </a:extLst>
          </p:cNvPr>
          <p:cNvSpPr>
            <a:spLocks noGrp="1"/>
          </p:cNvSpPr>
          <p:nvPr>
            <p:ph type="ftr" sz="quarter" idx="3"/>
          </p:nvPr>
        </p:nvSpPr>
        <p:spPr>
          <a:xfrm>
            <a:off x="6108699" y="6590128"/>
            <a:ext cx="2501900" cy="169560"/>
          </a:xfrm>
          <a:prstGeom prst="rect">
            <a:avLst/>
          </a:prstGeom>
        </p:spPr>
        <p:txBody>
          <a:bodyPr vert="horz" lIns="64008" tIns="45720" rIns="91440" bIns="45720" rtlCol="0" anchor="ctr"/>
          <a:lstStyle>
            <a:lvl1pPr>
              <a:defRPr lang="en-IN" sz="933"/>
            </a:lvl1pPr>
          </a:lstStyle>
          <a:p>
            <a:endParaRPr lang="en-IN"/>
          </a:p>
        </p:txBody>
      </p:sp>
      <p:sp>
        <p:nvSpPr>
          <p:cNvPr id="6" name="Slide Number Placeholder 5">
            <a:extLst>
              <a:ext uri="{FF2B5EF4-FFF2-40B4-BE49-F238E27FC236}">
                <a16:creationId xmlns:a16="http://schemas.microsoft.com/office/drawing/2014/main" id="{61DDCB85-668C-1A07-18A7-82A4D4D7148F}"/>
              </a:ext>
            </a:extLst>
          </p:cNvPr>
          <p:cNvSpPr>
            <a:spLocks noGrp="1"/>
          </p:cNvSpPr>
          <p:nvPr>
            <p:ph type="sldNum" sz="quarter" idx="4"/>
          </p:nvPr>
        </p:nvSpPr>
        <p:spPr>
          <a:xfrm>
            <a:off x="5732464" y="6590128"/>
            <a:ext cx="400784" cy="169560"/>
          </a:xfrm>
          <a:prstGeom prst="rect">
            <a:avLst/>
          </a:prstGeom>
          <a:noFill/>
          <a:ln w="9525">
            <a:noFill/>
            <a:miter lim="800000"/>
            <a:headEnd/>
            <a:tailEnd/>
          </a:ln>
          <a:effectLst/>
        </p:spPr>
        <p:txBody>
          <a:bodyPr vert="horz" wrap="square" lIns="68580" tIns="34290" rIns="68580" bIns="34290" numCol="1" anchor="ctr" anchorCtr="0" compatLnSpc="1">
            <a:prstTxWarp prst="textNoShape">
              <a:avLst/>
            </a:prstTxWarp>
          </a:bodyPr>
          <a:lstStyle>
            <a:lvl1pPr>
              <a:defRPr lang="en-IN" sz="933" b="1" smtClean="0">
                <a:solidFill>
                  <a:schemeClr val="bg1">
                    <a:lumMod val="50000"/>
                  </a:schemeClr>
                </a:solidFill>
                <a:latin typeface="+mj-lt"/>
                <a:cs typeface="Arial" pitchFamily="34" charset="0"/>
              </a:defRPr>
            </a:lvl1pPr>
          </a:lstStyle>
          <a:p>
            <a:pPr algn="ctr" defTabSz="1219110"/>
            <a:fld id="{662A0901-ACEF-4BE9-9C8C-C119B421173E}" type="slidenum">
              <a:rPr lang="en-GB" smtClean="0"/>
              <a:pPr algn="ctr" defTabSz="1219110"/>
              <a:t>‹#›</a:t>
            </a:fld>
            <a:endParaRPr lang="en-GB"/>
          </a:p>
        </p:txBody>
      </p:sp>
      <p:cxnSp>
        <p:nvCxnSpPr>
          <p:cNvPr id="10" name="Straight Connector 9">
            <a:extLst>
              <a:ext uri="{FF2B5EF4-FFF2-40B4-BE49-F238E27FC236}">
                <a16:creationId xmlns:a16="http://schemas.microsoft.com/office/drawing/2014/main" id="{204A0732-89C6-3C17-1231-F15060AB29F0}"/>
              </a:ext>
            </a:extLst>
          </p:cNvPr>
          <p:cNvCxnSpPr/>
          <p:nvPr userDrawn="1"/>
        </p:nvCxnSpPr>
        <p:spPr>
          <a:xfrm>
            <a:off x="6086669" y="6590128"/>
            <a:ext cx="0" cy="169560"/>
          </a:xfrm>
          <a:prstGeom prst="line">
            <a:avLst/>
          </a:prstGeom>
          <a:ln>
            <a:solidFill>
              <a:srgbClr val="808285"/>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1601579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Lst>
  <p:hf sldNum="0" hdr="0" dt="0"/>
  <p:txStyles>
    <p:titleStyle>
      <a:lvl1pPr algn="l" defTabSz="1219110" rtl="0" eaLnBrk="1" latinLnBrk="0" hangingPunct="1">
        <a:lnSpc>
          <a:spcPct val="90000"/>
        </a:lnSpc>
        <a:spcBef>
          <a:spcPct val="0"/>
        </a:spcBef>
        <a:buNone/>
        <a:defRPr lang="en-IN" sz="2800" b="0" kern="0" baseline="0" dirty="0" smtClean="0">
          <a:solidFill>
            <a:srgbClr val="4E84C4"/>
          </a:solidFill>
          <a:latin typeface="+mj-lt"/>
          <a:ea typeface="+mj-ea"/>
          <a:cs typeface="+mj-cs"/>
        </a:defRPr>
      </a:lvl1pPr>
    </p:titleStyle>
    <p:bodyStyle>
      <a:lvl1pPr marL="304776" indent="-304776" algn="l" defTabSz="1219110" rtl="0" eaLnBrk="1" latinLnBrk="0" hangingPunct="1">
        <a:lnSpc>
          <a:spcPct val="90000"/>
        </a:lnSpc>
        <a:spcBef>
          <a:spcPts val="1333"/>
        </a:spcBef>
        <a:buClr>
          <a:srgbClr val="4E84C4"/>
        </a:buClr>
        <a:buFont typeface="Arial" panose="020B0604020202020204" pitchFamily="34" charset="0"/>
        <a:buChar char="•"/>
        <a:defRPr sz="2133" kern="1200" baseline="0">
          <a:solidFill>
            <a:schemeClr val="tx1"/>
          </a:solidFill>
          <a:latin typeface="+mn-lt"/>
          <a:ea typeface="+mn-ea"/>
          <a:cs typeface="+mn-cs"/>
        </a:defRPr>
      </a:lvl1pPr>
      <a:lvl2pPr marL="618019" indent="-304776" algn="l" defTabSz="1219110" rtl="0" eaLnBrk="1" latinLnBrk="0" hangingPunct="1">
        <a:lnSpc>
          <a:spcPct val="90000"/>
        </a:lnSpc>
        <a:spcBef>
          <a:spcPts val="667"/>
        </a:spcBef>
        <a:buClr>
          <a:srgbClr val="4E84C4"/>
        </a:buClr>
        <a:buFont typeface="Symbol" panose="05050102010706020507" pitchFamily="18" charset="2"/>
        <a:buChar char="-"/>
        <a:defRPr sz="2133" kern="1200" baseline="0">
          <a:solidFill>
            <a:schemeClr val="tx1"/>
          </a:solidFill>
          <a:latin typeface="+mn-lt"/>
          <a:ea typeface="+mn-ea"/>
          <a:cs typeface="+mn-cs"/>
        </a:defRPr>
      </a:lvl2pPr>
      <a:lvl3pPr marL="918565" indent="-304776" algn="l" defTabSz="1219110" rtl="0" eaLnBrk="1" latinLnBrk="0" hangingPunct="1">
        <a:lnSpc>
          <a:spcPct val="90000"/>
        </a:lnSpc>
        <a:spcBef>
          <a:spcPts val="667"/>
        </a:spcBef>
        <a:buClr>
          <a:srgbClr val="4E84C4"/>
        </a:buClr>
        <a:buFont typeface="Arial" panose="020B0604020202020204" pitchFamily="34" charset="0"/>
        <a:buChar char="•"/>
        <a:defRPr sz="2133" kern="1200" baseline="0">
          <a:solidFill>
            <a:schemeClr val="tx1"/>
          </a:solidFill>
          <a:latin typeface="+mn-lt"/>
          <a:ea typeface="+mn-ea"/>
          <a:cs typeface="+mn-cs"/>
        </a:defRPr>
      </a:lvl3pPr>
      <a:lvl4pPr marL="1219110" indent="-304776" algn="l" defTabSz="1219110" rtl="0" eaLnBrk="1" latinLnBrk="0" hangingPunct="1">
        <a:lnSpc>
          <a:spcPct val="90000"/>
        </a:lnSpc>
        <a:spcBef>
          <a:spcPts val="667"/>
        </a:spcBef>
        <a:buClr>
          <a:srgbClr val="4E84C4"/>
        </a:buClr>
        <a:buFont typeface="Courier New" panose="02070309020205020404" pitchFamily="49" charset="0"/>
        <a:buChar char="o"/>
        <a:tabLst/>
        <a:defRPr sz="2133" kern="1200" baseline="0">
          <a:solidFill>
            <a:schemeClr val="tx1"/>
          </a:solidFill>
          <a:latin typeface="+mn-lt"/>
          <a:ea typeface="+mn-ea"/>
          <a:cs typeface="+mn-cs"/>
        </a:defRPr>
      </a:lvl4pPr>
      <a:lvl5pPr marL="1519653" indent="-304776" algn="l" defTabSz="1219110" rtl="0" eaLnBrk="1" latinLnBrk="0" hangingPunct="1">
        <a:lnSpc>
          <a:spcPct val="90000"/>
        </a:lnSpc>
        <a:spcBef>
          <a:spcPts val="667"/>
        </a:spcBef>
        <a:buClr>
          <a:srgbClr val="4E84C4"/>
        </a:buClr>
        <a:buFont typeface="Arial" panose="020B0604020202020204" pitchFamily="34" charset="0"/>
        <a:buChar char="•"/>
        <a:defRPr sz="2133" kern="1200" baseline="0">
          <a:solidFill>
            <a:schemeClr val="tx1"/>
          </a:solidFill>
          <a:latin typeface="+mn-lt"/>
          <a:ea typeface="+mn-ea"/>
          <a:cs typeface="+mn-cs"/>
        </a:defRPr>
      </a:lvl5pPr>
      <a:lvl6pPr marL="3352548" indent="-304776" algn="l" defTabSz="121911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6pPr>
      <a:lvl7pPr marL="3962104" indent="-304776" algn="l" defTabSz="121911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7pPr>
      <a:lvl8pPr marL="4571658" indent="-304776" algn="l" defTabSz="121911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8pPr>
      <a:lvl9pPr marL="5181212" indent="-304776" algn="l" defTabSz="1219110" rtl="0" eaLnBrk="1" latinLnBrk="0" hangingPunct="1">
        <a:lnSpc>
          <a:spcPct val="90000"/>
        </a:lnSpc>
        <a:spcBef>
          <a:spcPts val="667"/>
        </a:spcBef>
        <a:buFont typeface="Arial" panose="020B0604020202020204" pitchFamily="34" charset="0"/>
        <a:buChar char="•"/>
        <a:defRPr sz="2400" kern="1200">
          <a:solidFill>
            <a:schemeClr val="tx1"/>
          </a:solidFill>
          <a:latin typeface="+mn-lt"/>
          <a:ea typeface="+mn-ea"/>
          <a:cs typeface="+mn-cs"/>
        </a:defRPr>
      </a:lvl9pPr>
    </p:bodyStyle>
    <p:otherStyle>
      <a:defPPr>
        <a:defRPr lang="en-US"/>
      </a:defPPr>
      <a:lvl1pPr marL="0" algn="l" defTabSz="1219110" rtl="0" eaLnBrk="1" latinLnBrk="0" hangingPunct="1">
        <a:defRPr sz="2400" kern="1200">
          <a:solidFill>
            <a:schemeClr val="tx1"/>
          </a:solidFill>
          <a:latin typeface="+mn-lt"/>
          <a:ea typeface="+mn-ea"/>
          <a:cs typeface="+mn-cs"/>
        </a:defRPr>
      </a:lvl1pPr>
      <a:lvl2pPr marL="609555" algn="l" defTabSz="1219110" rtl="0" eaLnBrk="1" latinLnBrk="0" hangingPunct="1">
        <a:defRPr sz="2400" kern="1200">
          <a:solidFill>
            <a:schemeClr val="tx1"/>
          </a:solidFill>
          <a:latin typeface="+mn-lt"/>
          <a:ea typeface="+mn-ea"/>
          <a:cs typeface="+mn-cs"/>
        </a:defRPr>
      </a:lvl2pPr>
      <a:lvl3pPr marL="1219110" algn="l" defTabSz="1219110" rtl="0" eaLnBrk="1" latinLnBrk="0" hangingPunct="1">
        <a:defRPr sz="2400" kern="1200">
          <a:solidFill>
            <a:schemeClr val="tx1"/>
          </a:solidFill>
          <a:latin typeface="+mn-lt"/>
          <a:ea typeface="+mn-ea"/>
          <a:cs typeface="+mn-cs"/>
        </a:defRPr>
      </a:lvl3pPr>
      <a:lvl4pPr marL="1828664" algn="l" defTabSz="1219110" rtl="0" eaLnBrk="1" latinLnBrk="0" hangingPunct="1">
        <a:defRPr sz="2400" kern="1200">
          <a:solidFill>
            <a:schemeClr val="tx1"/>
          </a:solidFill>
          <a:latin typeface="+mn-lt"/>
          <a:ea typeface="+mn-ea"/>
          <a:cs typeface="+mn-cs"/>
        </a:defRPr>
      </a:lvl4pPr>
      <a:lvl5pPr marL="2438218" algn="l" defTabSz="1219110" rtl="0" eaLnBrk="1" latinLnBrk="0" hangingPunct="1">
        <a:defRPr sz="2400" kern="1200">
          <a:solidFill>
            <a:schemeClr val="tx1"/>
          </a:solidFill>
          <a:latin typeface="+mn-lt"/>
          <a:ea typeface="+mn-ea"/>
          <a:cs typeface="+mn-cs"/>
        </a:defRPr>
      </a:lvl5pPr>
      <a:lvl6pPr marL="3047772" algn="l" defTabSz="1219110" rtl="0" eaLnBrk="1" latinLnBrk="0" hangingPunct="1">
        <a:defRPr sz="2400" kern="1200">
          <a:solidFill>
            <a:schemeClr val="tx1"/>
          </a:solidFill>
          <a:latin typeface="+mn-lt"/>
          <a:ea typeface="+mn-ea"/>
          <a:cs typeface="+mn-cs"/>
        </a:defRPr>
      </a:lvl6pPr>
      <a:lvl7pPr marL="3657327" algn="l" defTabSz="1219110" rtl="0" eaLnBrk="1" latinLnBrk="0" hangingPunct="1">
        <a:defRPr sz="2400" kern="1200">
          <a:solidFill>
            <a:schemeClr val="tx1"/>
          </a:solidFill>
          <a:latin typeface="+mn-lt"/>
          <a:ea typeface="+mn-ea"/>
          <a:cs typeface="+mn-cs"/>
        </a:defRPr>
      </a:lvl7pPr>
      <a:lvl8pPr marL="4266880" algn="l" defTabSz="1219110" rtl="0" eaLnBrk="1" latinLnBrk="0" hangingPunct="1">
        <a:defRPr sz="2400" kern="1200">
          <a:solidFill>
            <a:schemeClr val="tx1"/>
          </a:solidFill>
          <a:latin typeface="+mn-lt"/>
          <a:ea typeface="+mn-ea"/>
          <a:cs typeface="+mn-cs"/>
        </a:defRPr>
      </a:lvl8pPr>
      <a:lvl9pPr marL="4876435" algn="l" defTabSz="1219110"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419">
          <p15:clr>
            <a:srgbClr val="F26B43"/>
          </p15:clr>
        </p15:guide>
        <p15:guide id="2" pos="172">
          <p15:clr>
            <a:srgbClr val="F26B43"/>
          </p15:clr>
        </p15:guide>
        <p15:guide id="3" pos="5573">
          <p15:clr>
            <a:srgbClr val="F26B43"/>
          </p15:clr>
        </p15:guide>
        <p15:guide id="4" orient="horz" pos="1720">
          <p15:clr>
            <a:srgbClr val="F26B43"/>
          </p15:clr>
        </p15:guide>
        <p15:guide id="5" orient="horz" pos="2916">
          <p15:clr>
            <a:srgbClr val="F26B43"/>
          </p15:clr>
        </p15:guide>
        <p15:guide id="6" orient="horz" pos="531">
          <p15:clr>
            <a:srgbClr val="F26B43"/>
          </p15:clr>
        </p15:guide>
        <p15:guide id="7"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ags" Target="../tags/tag1.xml"/></Relationships>
</file>

<file path=ppt/slides/_rels/slide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2.xml"/><Relationship Id="rId1" Type="http://schemas.openxmlformats.org/officeDocument/2006/relationships/slideLayout" Target="../slideLayouts/slideLayout8.xml"/><Relationship Id="rId5" Type="http://schemas.openxmlformats.org/officeDocument/2006/relationships/image" Target="../media/image3.svg"/><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3E7D72-840A-9BD9-622E-42DAFE973E5D}"/>
            </a:ext>
          </a:extLst>
        </p:cNvPr>
        <p:cNvGrpSpPr/>
        <p:nvPr/>
      </p:nvGrpSpPr>
      <p:grpSpPr>
        <a:xfrm>
          <a:off x="0" y="0"/>
          <a:ext cx="0" cy="0"/>
          <a:chOff x="0" y="0"/>
          <a:chExt cx="0" cy="0"/>
        </a:xfrm>
      </p:grpSpPr>
      <p:sp>
        <p:nvSpPr>
          <p:cNvPr id="5" name="Rectangle 4">
            <a:extLst>
              <a:ext uri="{FF2B5EF4-FFF2-40B4-BE49-F238E27FC236}">
                <a16:creationId xmlns:a16="http://schemas.microsoft.com/office/drawing/2014/main" id="{F5CE3C84-C850-4AA5-AF76-D4DC02FDD8C0}"/>
              </a:ext>
            </a:extLst>
          </p:cNvPr>
          <p:cNvSpPr/>
          <p:nvPr/>
        </p:nvSpPr>
        <p:spPr>
          <a:xfrm>
            <a:off x="341377" y="614478"/>
            <a:ext cx="5520539" cy="936345"/>
          </a:xfrm>
          <a:prstGeom prst="rect">
            <a:avLst/>
          </a:prstGeom>
          <a:solidFill>
            <a:schemeClr val="accent3">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endParaRPr lang="en-US" sz="1091" dirty="0">
              <a:solidFill>
                <a:srgbClr val="FFFFFF"/>
              </a:solidFill>
              <a:latin typeface="Calibri" panose="020F0502020204030204"/>
            </a:endParaRPr>
          </a:p>
        </p:txBody>
      </p:sp>
      <p:sp>
        <p:nvSpPr>
          <p:cNvPr id="4" name="Title 3">
            <a:extLst>
              <a:ext uri="{FF2B5EF4-FFF2-40B4-BE49-F238E27FC236}">
                <a16:creationId xmlns:a16="http://schemas.microsoft.com/office/drawing/2014/main" id="{2DE7483C-C37F-8106-ABC8-6AF4C6D799DC}"/>
              </a:ext>
            </a:extLst>
          </p:cNvPr>
          <p:cNvSpPr>
            <a:spLocks noGrp="1"/>
          </p:cNvSpPr>
          <p:nvPr>
            <p:ph type="title"/>
          </p:nvPr>
        </p:nvSpPr>
        <p:spPr>
          <a:xfrm>
            <a:off x="257326" y="17097"/>
            <a:ext cx="10514927" cy="499848"/>
          </a:xfrm>
        </p:spPr>
        <p:txBody>
          <a:bodyPr/>
          <a:lstStyle/>
          <a:p>
            <a:r>
              <a:rPr lang="en-IN" dirty="0"/>
              <a:t>Functional architecture</a:t>
            </a:r>
            <a:endParaRPr lang="en-IN" dirty="0">
              <a:ea typeface="Calibri"/>
              <a:cs typeface="Calibri"/>
            </a:endParaRPr>
          </a:p>
        </p:txBody>
      </p:sp>
      <p:sp>
        <p:nvSpPr>
          <p:cNvPr id="2" name="Footer Placeholder 1">
            <a:extLst>
              <a:ext uri="{FF2B5EF4-FFF2-40B4-BE49-F238E27FC236}">
                <a16:creationId xmlns:a16="http://schemas.microsoft.com/office/drawing/2014/main" id="{5FF426A8-721E-04A6-AA99-8FE0EE1DF37B}"/>
              </a:ext>
            </a:extLst>
          </p:cNvPr>
          <p:cNvSpPr>
            <a:spLocks noGrp="1"/>
          </p:cNvSpPr>
          <p:nvPr>
            <p:ph type="ftr" sz="quarter" idx="11"/>
          </p:nvPr>
        </p:nvSpPr>
        <p:spPr/>
        <p:txBody>
          <a:bodyPr/>
          <a:lstStyle/>
          <a:p>
            <a:pPr defTabSz="554019"/>
            <a:endParaRPr lang="en-US">
              <a:solidFill>
                <a:srgbClr val="000000"/>
              </a:solidFill>
              <a:latin typeface="Calibri" panose="020F0502020204030204"/>
            </a:endParaRPr>
          </a:p>
        </p:txBody>
      </p:sp>
      <p:sp>
        <p:nvSpPr>
          <p:cNvPr id="3" name="Rectangle: Rounded Corners 2">
            <a:extLst>
              <a:ext uri="{FF2B5EF4-FFF2-40B4-BE49-F238E27FC236}">
                <a16:creationId xmlns:a16="http://schemas.microsoft.com/office/drawing/2014/main" id="{DCCB266C-C2E1-4743-9586-C162D000354E}"/>
              </a:ext>
            </a:extLst>
          </p:cNvPr>
          <p:cNvSpPr/>
          <p:nvPr/>
        </p:nvSpPr>
        <p:spPr>
          <a:xfrm>
            <a:off x="493364" y="760781"/>
            <a:ext cx="916056" cy="499848"/>
          </a:xfrm>
          <a:prstGeom prst="round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091" dirty="0">
                <a:solidFill>
                  <a:srgbClr val="000000"/>
                </a:solidFill>
                <a:latin typeface="Calibri" panose="020F0502020204030204"/>
              </a:rPr>
              <a:t>Exchanges</a:t>
            </a:r>
          </a:p>
        </p:txBody>
      </p:sp>
      <p:sp>
        <p:nvSpPr>
          <p:cNvPr id="6" name="Rectangle: Rounded Corners 5">
            <a:extLst>
              <a:ext uri="{FF2B5EF4-FFF2-40B4-BE49-F238E27FC236}">
                <a16:creationId xmlns:a16="http://schemas.microsoft.com/office/drawing/2014/main" id="{608965B8-E93E-4D61-9C73-80010C7E894E}"/>
              </a:ext>
            </a:extLst>
          </p:cNvPr>
          <p:cNvSpPr/>
          <p:nvPr/>
        </p:nvSpPr>
        <p:spPr>
          <a:xfrm>
            <a:off x="1519943" y="760781"/>
            <a:ext cx="622997" cy="499848"/>
          </a:xfrm>
          <a:prstGeom prst="round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091" dirty="0">
                <a:solidFill>
                  <a:srgbClr val="000000"/>
                </a:solidFill>
                <a:latin typeface="Calibri" panose="020F0502020204030204"/>
              </a:rPr>
              <a:t>CCP’s</a:t>
            </a:r>
          </a:p>
        </p:txBody>
      </p:sp>
      <p:sp>
        <p:nvSpPr>
          <p:cNvPr id="7" name="Rectangle: Rounded Corners 6">
            <a:extLst>
              <a:ext uri="{FF2B5EF4-FFF2-40B4-BE49-F238E27FC236}">
                <a16:creationId xmlns:a16="http://schemas.microsoft.com/office/drawing/2014/main" id="{D213DA9C-00AA-4021-AA0E-E2EDA96ABB5D}"/>
              </a:ext>
            </a:extLst>
          </p:cNvPr>
          <p:cNvSpPr/>
          <p:nvPr/>
        </p:nvSpPr>
        <p:spPr>
          <a:xfrm>
            <a:off x="2243337" y="760781"/>
            <a:ext cx="864623" cy="499848"/>
          </a:xfrm>
          <a:prstGeom prst="round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091" dirty="0">
                <a:solidFill>
                  <a:srgbClr val="000000"/>
                </a:solidFill>
                <a:latin typeface="Calibri" panose="020F0502020204030204"/>
              </a:rPr>
              <a:t>Custodian</a:t>
            </a:r>
          </a:p>
        </p:txBody>
      </p:sp>
      <p:sp>
        <p:nvSpPr>
          <p:cNvPr id="8" name="Rectangle: Rounded Corners 7">
            <a:extLst>
              <a:ext uri="{FF2B5EF4-FFF2-40B4-BE49-F238E27FC236}">
                <a16:creationId xmlns:a16="http://schemas.microsoft.com/office/drawing/2014/main" id="{9C293306-7628-43CE-82B7-08C51579A3E4}"/>
              </a:ext>
            </a:extLst>
          </p:cNvPr>
          <p:cNvSpPr/>
          <p:nvPr/>
        </p:nvSpPr>
        <p:spPr>
          <a:xfrm>
            <a:off x="3203199" y="749820"/>
            <a:ext cx="734024" cy="499848"/>
          </a:xfrm>
          <a:prstGeom prst="round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091" dirty="0">
                <a:solidFill>
                  <a:srgbClr val="000000"/>
                </a:solidFill>
                <a:latin typeface="Calibri" panose="020F0502020204030204"/>
              </a:rPr>
              <a:t>Market data</a:t>
            </a:r>
          </a:p>
        </p:txBody>
      </p:sp>
      <p:sp>
        <p:nvSpPr>
          <p:cNvPr id="9" name="Oval 8">
            <a:extLst>
              <a:ext uri="{FF2B5EF4-FFF2-40B4-BE49-F238E27FC236}">
                <a16:creationId xmlns:a16="http://schemas.microsoft.com/office/drawing/2014/main" id="{D692C03E-E84A-4DB9-8D98-476477C625B7}"/>
              </a:ext>
            </a:extLst>
          </p:cNvPr>
          <p:cNvSpPr/>
          <p:nvPr/>
        </p:nvSpPr>
        <p:spPr>
          <a:xfrm>
            <a:off x="18700" y="447246"/>
            <a:ext cx="360881" cy="33161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091" b="1" dirty="0">
                <a:solidFill>
                  <a:srgbClr val="FFFFFF"/>
                </a:solidFill>
                <a:latin typeface="Calibri" panose="020F0502020204030204"/>
              </a:rPr>
              <a:t>1</a:t>
            </a:r>
          </a:p>
        </p:txBody>
      </p:sp>
      <p:sp>
        <p:nvSpPr>
          <p:cNvPr id="10" name="Oval 9">
            <a:extLst>
              <a:ext uri="{FF2B5EF4-FFF2-40B4-BE49-F238E27FC236}">
                <a16:creationId xmlns:a16="http://schemas.microsoft.com/office/drawing/2014/main" id="{CEDB2076-F270-41FF-9A4B-204E00A151C9}"/>
              </a:ext>
            </a:extLst>
          </p:cNvPr>
          <p:cNvSpPr/>
          <p:nvPr/>
        </p:nvSpPr>
        <p:spPr>
          <a:xfrm>
            <a:off x="7089243" y="5558859"/>
            <a:ext cx="292608" cy="28502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933" b="1" dirty="0">
                <a:solidFill>
                  <a:srgbClr val="FFFFFF"/>
                </a:solidFill>
                <a:latin typeface="Calibri" panose="020F0502020204030204"/>
              </a:rPr>
              <a:t>1</a:t>
            </a:r>
          </a:p>
        </p:txBody>
      </p:sp>
      <p:sp>
        <p:nvSpPr>
          <p:cNvPr id="11" name="Rectangle: Rounded Corners 10">
            <a:extLst>
              <a:ext uri="{FF2B5EF4-FFF2-40B4-BE49-F238E27FC236}">
                <a16:creationId xmlns:a16="http://schemas.microsoft.com/office/drawing/2014/main" id="{49F7D44D-9DFC-443A-AE77-78ACD41AF69A}"/>
              </a:ext>
            </a:extLst>
          </p:cNvPr>
          <p:cNvSpPr/>
          <p:nvPr/>
        </p:nvSpPr>
        <p:spPr>
          <a:xfrm>
            <a:off x="341379" y="1950714"/>
            <a:ext cx="5520539" cy="936345"/>
          </a:xfrm>
          <a:prstGeom prst="roundRect">
            <a:avLst/>
          </a:prstGeom>
          <a:solidFill>
            <a:schemeClr val="accent5">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endParaRPr lang="en-US" sz="1091" dirty="0">
              <a:solidFill>
                <a:srgbClr val="FFFFFF"/>
              </a:solidFill>
              <a:latin typeface="Calibri" panose="020F0502020204030204"/>
            </a:endParaRPr>
          </a:p>
        </p:txBody>
      </p:sp>
      <p:sp>
        <p:nvSpPr>
          <p:cNvPr id="12" name="Rectangle 11">
            <a:extLst>
              <a:ext uri="{FF2B5EF4-FFF2-40B4-BE49-F238E27FC236}">
                <a16:creationId xmlns:a16="http://schemas.microsoft.com/office/drawing/2014/main" id="{8E65A826-14D3-4593-AD01-057FE81D921E}"/>
              </a:ext>
            </a:extLst>
          </p:cNvPr>
          <p:cNvSpPr/>
          <p:nvPr/>
        </p:nvSpPr>
        <p:spPr>
          <a:xfrm>
            <a:off x="468177" y="2058005"/>
            <a:ext cx="876203" cy="704296"/>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091" dirty="0">
                <a:solidFill>
                  <a:srgbClr val="000000"/>
                </a:solidFill>
                <a:latin typeface="Calibri" panose="020F0502020204030204"/>
              </a:rPr>
              <a:t>Orders</a:t>
            </a:r>
          </a:p>
          <a:p>
            <a:pPr algn="ctr" defTabSz="554019"/>
            <a:r>
              <a:rPr lang="en-US" sz="1091" dirty="0">
                <a:solidFill>
                  <a:srgbClr val="000000"/>
                </a:solidFill>
                <a:latin typeface="Calibri" panose="020F0502020204030204"/>
              </a:rPr>
              <a:t>(For execution)</a:t>
            </a:r>
          </a:p>
        </p:txBody>
      </p:sp>
      <p:sp>
        <p:nvSpPr>
          <p:cNvPr id="13" name="Rectangle 12">
            <a:extLst>
              <a:ext uri="{FF2B5EF4-FFF2-40B4-BE49-F238E27FC236}">
                <a16:creationId xmlns:a16="http://schemas.microsoft.com/office/drawing/2014/main" id="{7612801B-FDCA-465E-9934-A85104371E9F}"/>
              </a:ext>
            </a:extLst>
          </p:cNvPr>
          <p:cNvSpPr/>
          <p:nvPr/>
        </p:nvSpPr>
        <p:spPr>
          <a:xfrm>
            <a:off x="1412655" y="2058004"/>
            <a:ext cx="945856" cy="704296"/>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091" dirty="0">
                <a:solidFill>
                  <a:srgbClr val="000000"/>
                </a:solidFill>
                <a:latin typeface="Calibri" panose="020F0502020204030204"/>
              </a:rPr>
              <a:t>Trades</a:t>
            </a:r>
          </a:p>
          <a:p>
            <a:pPr algn="ctr" defTabSz="554019"/>
            <a:r>
              <a:rPr lang="en-US" sz="1091" dirty="0">
                <a:solidFill>
                  <a:srgbClr val="000000"/>
                </a:solidFill>
                <a:latin typeface="Calibri" panose="020F0502020204030204"/>
              </a:rPr>
              <a:t>(Confirmation / failure)</a:t>
            </a:r>
          </a:p>
        </p:txBody>
      </p:sp>
      <p:sp>
        <p:nvSpPr>
          <p:cNvPr id="14" name="Rectangle 13">
            <a:extLst>
              <a:ext uri="{FF2B5EF4-FFF2-40B4-BE49-F238E27FC236}">
                <a16:creationId xmlns:a16="http://schemas.microsoft.com/office/drawing/2014/main" id="{8CDB1993-2DBD-418F-87F3-706797FEF690}"/>
              </a:ext>
            </a:extLst>
          </p:cNvPr>
          <p:cNvSpPr/>
          <p:nvPr/>
        </p:nvSpPr>
        <p:spPr>
          <a:xfrm>
            <a:off x="2425403" y="2058004"/>
            <a:ext cx="986735" cy="704296"/>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091" dirty="0">
                <a:solidFill>
                  <a:srgbClr val="000000"/>
                </a:solidFill>
                <a:latin typeface="Calibri" panose="020F0502020204030204"/>
              </a:rPr>
              <a:t>Settlements</a:t>
            </a:r>
          </a:p>
          <a:p>
            <a:pPr algn="ctr" defTabSz="554019"/>
            <a:r>
              <a:rPr lang="en-US" sz="1091" dirty="0">
                <a:solidFill>
                  <a:srgbClr val="000000"/>
                </a:solidFill>
                <a:latin typeface="Calibri" panose="020F0502020204030204"/>
              </a:rPr>
              <a:t>(Status/ collateral)</a:t>
            </a:r>
          </a:p>
        </p:txBody>
      </p:sp>
      <p:sp>
        <p:nvSpPr>
          <p:cNvPr id="15" name="Rectangle 14">
            <a:extLst>
              <a:ext uri="{FF2B5EF4-FFF2-40B4-BE49-F238E27FC236}">
                <a16:creationId xmlns:a16="http://schemas.microsoft.com/office/drawing/2014/main" id="{922C72A3-5C78-42BF-8A31-B425D326DBAB}"/>
              </a:ext>
            </a:extLst>
          </p:cNvPr>
          <p:cNvSpPr/>
          <p:nvPr/>
        </p:nvSpPr>
        <p:spPr>
          <a:xfrm>
            <a:off x="3485299" y="2058003"/>
            <a:ext cx="1061517" cy="704296"/>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091" dirty="0">
                <a:solidFill>
                  <a:srgbClr val="000000"/>
                </a:solidFill>
                <a:latin typeface="Calibri" panose="020F0502020204030204"/>
              </a:rPr>
              <a:t>Market data</a:t>
            </a:r>
          </a:p>
          <a:p>
            <a:pPr algn="ctr" defTabSz="554019"/>
            <a:r>
              <a:rPr lang="en-US" sz="1091" dirty="0">
                <a:solidFill>
                  <a:srgbClr val="000000"/>
                </a:solidFill>
                <a:latin typeface="Calibri" panose="020F0502020204030204"/>
              </a:rPr>
              <a:t>(Price/volatility/curves)</a:t>
            </a:r>
          </a:p>
        </p:txBody>
      </p:sp>
      <p:sp>
        <p:nvSpPr>
          <p:cNvPr id="16" name="TextBox 15">
            <a:extLst>
              <a:ext uri="{FF2B5EF4-FFF2-40B4-BE49-F238E27FC236}">
                <a16:creationId xmlns:a16="http://schemas.microsoft.com/office/drawing/2014/main" id="{CF6743FC-AB5C-4FC9-8FAD-82E6BD6A5554}"/>
              </a:ext>
            </a:extLst>
          </p:cNvPr>
          <p:cNvSpPr txBox="1"/>
          <p:nvPr/>
        </p:nvSpPr>
        <p:spPr>
          <a:xfrm>
            <a:off x="503119" y="1260630"/>
            <a:ext cx="916056" cy="260199"/>
          </a:xfrm>
          <a:prstGeom prst="rect">
            <a:avLst/>
          </a:prstGeom>
          <a:noFill/>
        </p:spPr>
        <p:txBody>
          <a:bodyPr wrap="square" rtlCol="0">
            <a:spAutoFit/>
          </a:bodyPr>
          <a:lstStyle/>
          <a:p>
            <a:pPr algn="ctr" defTabSz="554019"/>
            <a:r>
              <a:rPr lang="en-US" sz="1091" dirty="0">
                <a:solidFill>
                  <a:srgbClr val="0070C0"/>
                </a:solidFill>
                <a:latin typeface="Calibri" panose="020F0502020204030204"/>
              </a:rPr>
              <a:t>FIX</a:t>
            </a:r>
          </a:p>
        </p:txBody>
      </p:sp>
      <p:sp>
        <p:nvSpPr>
          <p:cNvPr id="17" name="TextBox 16">
            <a:extLst>
              <a:ext uri="{FF2B5EF4-FFF2-40B4-BE49-F238E27FC236}">
                <a16:creationId xmlns:a16="http://schemas.microsoft.com/office/drawing/2014/main" id="{E4BDF976-32EF-429A-A021-E9AE46910B62}"/>
              </a:ext>
            </a:extLst>
          </p:cNvPr>
          <p:cNvSpPr txBox="1"/>
          <p:nvPr/>
        </p:nvSpPr>
        <p:spPr>
          <a:xfrm>
            <a:off x="1428918" y="1254189"/>
            <a:ext cx="824165" cy="260199"/>
          </a:xfrm>
          <a:prstGeom prst="rect">
            <a:avLst/>
          </a:prstGeom>
          <a:noFill/>
        </p:spPr>
        <p:txBody>
          <a:bodyPr wrap="square" rtlCol="0">
            <a:spAutoFit/>
          </a:bodyPr>
          <a:lstStyle/>
          <a:p>
            <a:pPr algn="ctr" defTabSz="554019"/>
            <a:r>
              <a:rPr lang="en-US" sz="1091" dirty="0">
                <a:solidFill>
                  <a:srgbClr val="0070C0"/>
                </a:solidFill>
                <a:latin typeface="Calibri" panose="020F0502020204030204"/>
              </a:rPr>
              <a:t>FIX / API</a:t>
            </a:r>
          </a:p>
        </p:txBody>
      </p:sp>
      <p:sp>
        <p:nvSpPr>
          <p:cNvPr id="18" name="TextBox 17">
            <a:extLst>
              <a:ext uri="{FF2B5EF4-FFF2-40B4-BE49-F238E27FC236}">
                <a16:creationId xmlns:a16="http://schemas.microsoft.com/office/drawing/2014/main" id="{73F7716C-2E7E-46D4-9A18-D5CFACC92F3B}"/>
              </a:ext>
            </a:extLst>
          </p:cNvPr>
          <p:cNvSpPr txBox="1"/>
          <p:nvPr/>
        </p:nvSpPr>
        <p:spPr>
          <a:xfrm>
            <a:off x="2282347" y="1260446"/>
            <a:ext cx="924883" cy="260199"/>
          </a:xfrm>
          <a:prstGeom prst="rect">
            <a:avLst/>
          </a:prstGeom>
          <a:noFill/>
        </p:spPr>
        <p:txBody>
          <a:bodyPr wrap="square" rtlCol="0">
            <a:spAutoFit/>
          </a:bodyPr>
          <a:lstStyle/>
          <a:p>
            <a:pPr algn="ctr" defTabSz="554019"/>
            <a:r>
              <a:rPr lang="en-US" sz="1091" dirty="0">
                <a:solidFill>
                  <a:srgbClr val="0070C0"/>
                </a:solidFill>
                <a:latin typeface="Calibri" panose="020F0502020204030204"/>
              </a:rPr>
              <a:t>SWIFT</a:t>
            </a:r>
          </a:p>
        </p:txBody>
      </p:sp>
      <p:sp>
        <p:nvSpPr>
          <p:cNvPr id="19" name="TextBox 18">
            <a:extLst>
              <a:ext uri="{FF2B5EF4-FFF2-40B4-BE49-F238E27FC236}">
                <a16:creationId xmlns:a16="http://schemas.microsoft.com/office/drawing/2014/main" id="{64C0E052-8F32-4F76-9F4C-0D56C8548E97}"/>
              </a:ext>
            </a:extLst>
          </p:cNvPr>
          <p:cNvSpPr txBox="1"/>
          <p:nvPr/>
        </p:nvSpPr>
        <p:spPr>
          <a:xfrm>
            <a:off x="3135763" y="1258008"/>
            <a:ext cx="864621" cy="260199"/>
          </a:xfrm>
          <a:prstGeom prst="rect">
            <a:avLst/>
          </a:prstGeom>
          <a:noFill/>
        </p:spPr>
        <p:txBody>
          <a:bodyPr wrap="square" rtlCol="0">
            <a:spAutoFit/>
          </a:bodyPr>
          <a:lstStyle/>
          <a:p>
            <a:pPr algn="ctr" defTabSz="554019"/>
            <a:r>
              <a:rPr lang="en-US" sz="1091" dirty="0">
                <a:solidFill>
                  <a:srgbClr val="0070C0"/>
                </a:solidFill>
                <a:latin typeface="Calibri" panose="020F0502020204030204"/>
              </a:rPr>
              <a:t>API / SFTP</a:t>
            </a:r>
          </a:p>
        </p:txBody>
      </p:sp>
      <p:cxnSp>
        <p:nvCxnSpPr>
          <p:cNvPr id="21" name="Connector: Elbow 20">
            <a:extLst>
              <a:ext uri="{FF2B5EF4-FFF2-40B4-BE49-F238E27FC236}">
                <a16:creationId xmlns:a16="http://schemas.microsoft.com/office/drawing/2014/main" id="{EF5A83EF-A758-4047-82D2-A4D1A1E08532}"/>
              </a:ext>
            </a:extLst>
          </p:cNvPr>
          <p:cNvCxnSpPr>
            <a:cxnSpLocks/>
            <a:stCxn id="5" idx="2"/>
            <a:endCxn id="11" idx="0"/>
          </p:cNvCxnSpPr>
          <p:nvPr/>
        </p:nvCxnSpPr>
        <p:spPr>
          <a:xfrm rot="16200000" flipH="1">
            <a:off x="2901701" y="1750768"/>
            <a:ext cx="399891" cy="1"/>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7DFE2340-020D-47C4-9CCD-8DF36EEEB649}"/>
              </a:ext>
            </a:extLst>
          </p:cNvPr>
          <p:cNvSpPr txBox="1"/>
          <p:nvPr/>
        </p:nvSpPr>
        <p:spPr>
          <a:xfrm>
            <a:off x="3098397" y="1638601"/>
            <a:ext cx="2396129" cy="260199"/>
          </a:xfrm>
          <a:prstGeom prst="rect">
            <a:avLst/>
          </a:prstGeom>
          <a:noFill/>
        </p:spPr>
        <p:txBody>
          <a:bodyPr wrap="square" rtlCol="0">
            <a:spAutoFit/>
          </a:bodyPr>
          <a:lstStyle/>
          <a:p>
            <a:pPr defTabSz="554019"/>
            <a:r>
              <a:rPr lang="en-US" sz="1091" dirty="0">
                <a:solidFill>
                  <a:srgbClr val="000000"/>
                </a:solidFill>
                <a:latin typeface="Calibri" panose="020F0502020204030204"/>
              </a:rPr>
              <a:t>Near real time (message bus – Kafka)</a:t>
            </a:r>
          </a:p>
        </p:txBody>
      </p:sp>
      <p:sp>
        <p:nvSpPr>
          <p:cNvPr id="25" name="Oval 24">
            <a:extLst>
              <a:ext uri="{FF2B5EF4-FFF2-40B4-BE49-F238E27FC236}">
                <a16:creationId xmlns:a16="http://schemas.microsoft.com/office/drawing/2014/main" id="{AD710027-915C-4C53-8DE7-45DF79D34228}"/>
              </a:ext>
            </a:extLst>
          </p:cNvPr>
          <p:cNvSpPr/>
          <p:nvPr/>
        </p:nvSpPr>
        <p:spPr>
          <a:xfrm>
            <a:off x="8612" y="1769441"/>
            <a:ext cx="360881" cy="33161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091" b="1" dirty="0">
                <a:solidFill>
                  <a:srgbClr val="FFFFFF"/>
                </a:solidFill>
                <a:latin typeface="Calibri" panose="020F0502020204030204"/>
              </a:rPr>
              <a:t>2</a:t>
            </a:r>
          </a:p>
        </p:txBody>
      </p:sp>
      <p:sp>
        <p:nvSpPr>
          <p:cNvPr id="26" name="Rectangle: Rounded Corners 25">
            <a:extLst>
              <a:ext uri="{FF2B5EF4-FFF2-40B4-BE49-F238E27FC236}">
                <a16:creationId xmlns:a16="http://schemas.microsoft.com/office/drawing/2014/main" id="{8EC7379B-8BBA-4160-AEA4-D2D395AA9E11}"/>
              </a:ext>
            </a:extLst>
          </p:cNvPr>
          <p:cNvSpPr/>
          <p:nvPr/>
        </p:nvSpPr>
        <p:spPr>
          <a:xfrm>
            <a:off x="6201667" y="1949094"/>
            <a:ext cx="5845175" cy="936345"/>
          </a:xfrm>
          <a:prstGeom prst="roundRect">
            <a:avLst/>
          </a:prstGeom>
          <a:solidFill>
            <a:schemeClr val="bg1">
              <a:lumMod val="8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endParaRPr lang="en-US" sz="1091" dirty="0">
              <a:solidFill>
                <a:srgbClr val="FFFFFF"/>
              </a:solidFill>
              <a:latin typeface="Calibri" panose="020F0502020204030204"/>
            </a:endParaRPr>
          </a:p>
        </p:txBody>
      </p:sp>
      <p:sp>
        <p:nvSpPr>
          <p:cNvPr id="27" name="Rectangle 26">
            <a:extLst>
              <a:ext uri="{FF2B5EF4-FFF2-40B4-BE49-F238E27FC236}">
                <a16:creationId xmlns:a16="http://schemas.microsoft.com/office/drawing/2014/main" id="{E8C4D6A1-062C-4398-93B6-6876DEE08C39}"/>
              </a:ext>
            </a:extLst>
          </p:cNvPr>
          <p:cNvSpPr/>
          <p:nvPr/>
        </p:nvSpPr>
        <p:spPr>
          <a:xfrm>
            <a:off x="6349599" y="2173426"/>
            <a:ext cx="1209448" cy="526695"/>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091" dirty="0">
                <a:solidFill>
                  <a:srgbClr val="000000"/>
                </a:solidFill>
                <a:latin typeface="Calibri" panose="020F0502020204030204"/>
              </a:rPr>
              <a:t>Position keeping</a:t>
            </a:r>
          </a:p>
          <a:p>
            <a:pPr algn="ctr" defTabSz="554019"/>
            <a:r>
              <a:rPr lang="en-US" sz="1091" dirty="0">
                <a:solidFill>
                  <a:srgbClr val="000000"/>
                </a:solidFill>
                <a:latin typeface="Calibri" panose="020F0502020204030204"/>
              </a:rPr>
              <a:t>(Gross/Net position)</a:t>
            </a:r>
          </a:p>
        </p:txBody>
      </p:sp>
      <p:sp>
        <p:nvSpPr>
          <p:cNvPr id="28" name="Rectangle 27">
            <a:extLst>
              <a:ext uri="{FF2B5EF4-FFF2-40B4-BE49-F238E27FC236}">
                <a16:creationId xmlns:a16="http://schemas.microsoft.com/office/drawing/2014/main" id="{BB6E6B01-C7B5-4A3A-89E6-F42BD4DD3582}"/>
              </a:ext>
            </a:extLst>
          </p:cNvPr>
          <p:cNvSpPr/>
          <p:nvPr/>
        </p:nvSpPr>
        <p:spPr>
          <a:xfrm>
            <a:off x="7651713" y="2173425"/>
            <a:ext cx="1331345" cy="526695"/>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091" dirty="0">
                <a:solidFill>
                  <a:srgbClr val="000000"/>
                </a:solidFill>
                <a:latin typeface="Calibri" panose="020F0502020204030204"/>
              </a:rPr>
              <a:t>Intraday P&amp;L</a:t>
            </a:r>
          </a:p>
          <a:p>
            <a:pPr algn="ctr" defTabSz="554019"/>
            <a:r>
              <a:rPr lang="en-US" sz="1091" dirty="0">
                <a:solidFill>
                  <a:srgbClr val="000000"/>
                </a:solidFill>
                <a:latin typeface="Calibri" panose="020F0502020204030204"/>
              </a:rPr>
              <a:t>(Realized/unrealized gain/loss)</a:t>
            </a:r>
          </a:p>
        </p:txBody>
      </p:sp>
      <p:sp>
        <p:nvSpPr>
          <p:cNvPr id="29" name="Rectangle 28">
            <a:extLst>
              <a:ext uri="{FF2B5EF4-FFF2-40B4-BE49-F238E27FC236}">
                <a16:creationId xmlns:a16="http://schemas.microsoft.com/office/drawing/2014/main" id="{60C6634A-273F-4568-9779-86B410A1D0D7}"/>
              </a:ext>
            </a:extLst>
          </p:cNvPr>
          <p:cNvSpPr/>
          <p:nvPr/>
        </p:nvSpPr>
        <p:spPr>
          <a:xfrm>
            <a:off x="9100103" y="2173425"/>
            <a:ext cx="1284223" cy="526695"/>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091" dirty="0">
                <a:solidFill>
                  <a:srgbClr val="000000"/>
                </a:solidFill>
                <a:latin typeface="Calibri" panose="020F0502020204030204"/>
              </a:rPr>
              <a:t>Sensitivity/Greeks</a:t>
            </a:r>
          </a:p>
          <a:p>
            <a:pPr algn="ctr" defTabSz="554019"/>
            <a:r>
              <a:rPr lang="en-US" sz="1091" dirty="0">
                <a:solidFill>
                  <a:srgbClr val="000000"/>
                </a:solidFill>
                <a:latin typeface="Calibri" panose="020F0502020204030204"/>
              </a:rPr>
              <a:t>(DV01/PV01/delta/</a:t>
            </a:r>
            <a:r>
              <a:rPr lang="en-US" sz="1091" dirty="0" err="1">
                <a:solidFill>
                  <a:srgbClr val="000000"/>
                </a:solidFill>
                <a:latin typeface="Calibri" panose="020F0502020204030204"/>
              </a:rPr>
              <a:t>vega</a:t>
            </a:r>
            <a:r>
              <a:rPr lang="en-US" sz="1091" dirty="0">
                <a:solidFill>
                  <a:srgbClr val="000000"/>
                </a:solidFill>
                <a:latin typeface="Calibri" panose="020F0502020204030204"/>
              </a:rPr>
              <a:t>/gamma)</a:t>
            </a:r>
          </a:p>
        </p:txBody>
      </p:sp>
      <p:sp>
        <p:nvSpPr>
          <p:cNvPr id="30" name="Rectangle 29">
            <a:extLst>
              <a:ext uri="{FF2B5EF4-FFF2-40B4-BE49-F238E27FC236}">
                <a16:creationId xmlns:a16="http://schemas.microsoft.com/office/drawing/2014/main" id="{10C6D61E-FF73-47C8-B0DF-9DB0D9863D7D}"/>
              </a:ext>
            </a:extLst>
          </p:cNvPr>
          <p:cNvSpPr/>
          <p:nvPr/>
        </p:nvSpPr>
        <p:spPr>
          <a:xfrm>
            <a:off x="10494875" y="2173423"/>
            <a:ext cx="1445155" cy="526695"/>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091" dirty="0">
                <a:solidFill>
                  <a:srgbClr val="000000"/>
                </a:solidFill>
                <a:latin typeface="Calibri" panose="020F0502020204030204"/>
              </a:rPr>
              <a:t>Limit monitoring</a:t>
            </a:r>
          </a:p>
          <a:p>
            <a:pPr algn="ctr" defTabSz="554019"/>
            <a:r>
              <a:rPr lang="en-US" sz="1091" dirty="0">
                <a:solidFill>
                  <a:srgbClr val="000000"/>
                </a:solidFill>
                <a:latin typeface="Calibri" panose="020F0502020204030204"/>
              </a:rPr>
              <a:t>(Notional/DV01 P&amp;L/ alerts/breaches)</a:t>
            </a:r>
          </a:p>
        </p:txBody>
      </p:sp>
      <p:sp>
        <p:nvSpPr>
          <p:cNvPr id="31" name="Oval 30">
            <a:extLst>
              <a:ext uri="{FF2B5EF4-FFF2-40B4-BE49-F238E27FC236}">
                <a16:creationId xmlns:a16="http://schemas.microsoft.com/office/drawing/2014/main" id="{CF5DF58B-F4E4-4FB0-85B6-CC34673D6F06}"/>
              </a:ext>
            </a:extLst>
          </p:cNvPr>
          <p:cNvSpPr/>
          <p:nvPr/>
        </p:nvSpPr>
        <p:spPr>
          <a:xfrm>
            <a:off x="11822509" y="1656441"/>
            <a:ext cx="360881" cy="33161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091" b="1" dirty="0">
                <a:solidFill>
                  <a:srgbClr val="FFFFFF"/>
                </a:solidFill>
                <a:latin typeface="Calibri" panose="020F0502020204030204"/>
              </a:rPr>
              <a:t>3</a:t>
            </a:r>
          </a:p>
        </p:txBody>
      </p:sp>
      <p:sp>
        <p:nvSpPr>
          <p:cNvPr id="32" name="TextBox 31">
            <a:extLst>
              <a:ext uri="{FF2B5EF4-FFF2-40B4-BE49-F238E27FC236}">
                <a16:creationId xmlns:a16="http://schemas.microsoft.com/office/drawing/2014/main" id="{7EC00C09-9C95-486B-856D-16BA1163AB9C}"/>
              </a:ext>
            </a:extLst>
          </p:cNvPr>
          <p:cNvSpPr txBox="1"/>
          <p:nvPr/>
        </p:nvSpPr>
        <p:spPr>
          <a:xfrm>
            <a:off x="7417593" y="5558859"/>
            <a:ext cx="1215969" cy="235898"/>
          </a:xfrm>
          <a:prstGeom prst="rect">
            <a:avLst/>
          </a:prstGeom>
          <a:noFill/>
        </p:spPr>
        <p:txBody>
          <a:bodyPr wrap="square" rtlCol="0">
            <a:spAutoFit/>
          </a:bodyPr>
          <a:lstStyle/>
          <a:p>
            <a:pPr defTabSz="554019"/>
            <a:r>
              <a:rPr lang="en-US" sz="933" b="1" dirty="0">
                <a:solidFill>
                  <a:srgbClr val="0070C0"/>
                </a:solidFill>
                <a:latin typeface="Calibri" panose="020F0502020204030204"/>
              </a:rPr>
              <a:t>External sources</a:t>
            </a:r>
          </a:p>
        </p:txBody>
      </p:sp>
      <p:sp>
        <p:nvSpPr>
          <p:cNvPr id="33" name="Oval 32">
            <a:extLst>
              <a:ext uri="{FF2B5EF4-FFF2-40B4-BE49-F238E27FC236}">
                <a16:creationId xmlns:a16="http://schemas.microsoft.com/office/drawing/2014/main" id="{752F4EA6-E2B2-429A-B3D1-3359B903FA85}"/>
              </a:ext>
            </a:extLst>
          </p:cNvPr>
          <p:cNvSpPr/>
          <p:nvPr/>
        </p:nvSpPr>
        <p:spPr>
          <a:xfrm>
            <a:off x="8651433" y="5538421"/>
            <a:ext cx="274743" cy="28448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933" b="1" dirty="0">
                <a:solidFill>
                  <a:srgbClr val="FFFFFF"/>
                </a:solidFill>
                <a:latin typeface="Calibri" panose="020F0502020204030204"/>
              </a:rPr>
              <a:t>2</a:t>
            </a:r>
          </a:p>
        </p:txBody>
      </p:sp>
      <p:sp>
        <p:nvSpPr>
          <p:cNvPr id="34" name="TextBox 33">
            <a:extLst>
              <a:ext uri="{FF2B5EF4-FFF2-40B4-BE49-F238E27FC236}">
                <a16:creationId xmlns:a16="http://schemas.microsoft.com/office/drawing/2014/main" id="{280A73D4-CF60-4905-A4B2-5FE8080A1F6B}"/>
              </a:ext>
            </a:extLst>
          </p:cNvPr>
          <p:cNvSpPr txBox="1"/>
          <p:nvPr/>
        </p:nvSpPr>
        <p:spPr>
          <a:xfrm>
            <a:off x="8961917" y="5517291"/>
            <a:ext cx="1276105" cy="379463"/>
          </a:xfrm>
          <a:prstGeom prst="rect">
            <a:avLst/>
          </a:prstGeom>
          <a:noFill/>
        </p:spPr>
        <p:txBody>
          <a:bodyPr wrap="square" rtlCol="0">
            <a:spAutoFit/>
          </a:bodyPr>
          <a:lstStyle/>
          <a:p>
            <a:pPr defTabSz="554019"/>
            <a:r>
              <a:rPr lang="en-US" sz="933" b="1" dirty="0">
                <a:solidFill>
                  <a:srgbClr val="0070C0"/>
                </a:solidFill>
                <a:latin typeface="Calibri" panose="020F0502020204030204"/>
              </a:rPr>
              <a:t>Data Integration &amp; normalization layer</a:t>
            </a:r>
          </a:p>
        </p:txBody>
      </p:sp>
      <p:sp>
        <p:nvSpPr>
          <p:cNvPr id="35" name="Oval 34">
            <a:extLst>
              <a:ext uri="{FF2B5EF4-FFF2-40B4-BE49-F238E27FC236}">
                <a16:creationId xmlns:a16="http://schemas.microsoft.com/office/drawing/2014/main" id="{EAA9D0A8-10C7-48CE-9B11-D1F67A37C0C4}"/>
              </a:ext>
            </a:extLst>
          </p:cNvPr>
          <p:cNvSpPr/>
          <p:nvPr/>
        </p:nvSpPr>
        <p:spPr>
          <a:xfrm>
            <a:off x="10247759" y="5569330"/>
            <a:ext cx="292608" cy="2584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933" b="1" dirty="0">
                <a:solidFill>
                  <a:srgbClr val="FFFFFF"/>
                </a:solidFill>
                <a:latin typeface="Calibri" panose="020F0502020204030204"/>
              </a:rPr>
              <a:t>3</a:t>
            </a:r>
          </a:p>
        </p:txBody>
      </p:sp>
      <p:sp>
        <p:nvSpPr>
          <p:cNvPr id="36" name="TextBox 35">
            <a:extLst>
              <a:ext uri="{FF2B5EF4-FFF2-40B4-BE49-F238E27FC236}">
                <a16:creationId xmlns:a16="http://schemas.microsoft.com/office/drawing/2014/main" id="{1959DBBB-29D3-44A9-B016-6D700CCA5987}"/>
              </a:ext>
            </a:extLst>
          </p:cNvPr>
          <p:cNvSpPr txBox="1"/>
          <p:nvPr/>
        </p:nvSpPr>
        <p:spPr>
          <a:xfrm>
            <a:off x="10620060" y="5492887"/>
            <a:ext cx="1443531" cy="379463"/>
          </a:xfrm>
          <a:prstGeom prst="rect">
            <a:avLst/>
          </a:prstGeom>
          <a:noFill/>
        </p:spPr>
        <p:txBody>
          <a:bodyPr wrap="square" rtlCol="0">
            <a:spAutoFit/>
          </a:bodyPr>
          <a:lstStyle/>
          <a:p>
            <a:pPr defTabSz="554019"/>
            <a:r>
              <a:rPr lang="en-US" sz="933" b="1" dirty="0">
                <a:solidFill>
                  <a:srgbClr val="0070C0"/>
                </a:solidFill>
                <a:latin typeface="Calibri" panose="020F0502020204030204"/>
              </a:rPr>
              <a:t>Exposure &amp; intra-day position monitoring</a:t>
            </a:r>
          </a:p>
        </p:txBody>
      </p:sp>
      <p:sp>
        <p:nvSpPr>
          <p:cNvPr id="37" name="Oval 36">
            <a:extLst>
              <a:ext uri="{FF2B5EF4-FFF2-40B4-BE49-F238E27FC236}">
                <a16:creationId xmlns:a16="http://schemas.microsoft.com/office/drawing/2014/main" id="{2ECE99BC-F4A2-4858-A45A-E4ED51BAA317}"/>
              </a:ext>
            </a:extLst>
          </p:cNvPr>
          <p:cNvSpPr/>
          <p:nvPr/>
        </p:nvSpPr>
        <p:spPr>
          <a:xfrm>
            <a:off x="7081100" y="5926576"/>
            <a:ext cx="292609" cy="28502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933" b="1" dirty="0">
                <a:solidFill>
                  <a:srgbClr val="FFFFFF"/>
                </a:solidFill>
                <a:latin typeface="Calibri" panose="020F0502020204030204"/>
              </a:rPr>
              <a:t>4</a:t>
            </a:r>
          </a:p>
        </p:txBody>
      </p:sp>
      <p:sp>
        <p:nvSpPr>
          <p:cNvPr id="38" name="TextBox 37">
            <a:extLst>
              <a:ext uri="{FF2B5EF4-FFF2-40B4-BE49-F238E27FC236}">
                <a16:creationId xmlns:a16="http://schemas.microsoft.com/office/drawing/2014/main" id="{CF7261F9-C202-4155-960C-24AE2CCB6272}"/>
              </a:ext>
            </a:extLst>
          </p:cNvPr>
          <p:cNvSpPr txBox="1"/>
          <p:nvPr/>
        </p:nvSpPr>
        <p:spPr>
          <a:xfrm>
            <a:off x="7440356" y="5850022"/>
            <a:ext cx="1287489" cy="379463"/>
          </a:xfrm>
          <a:prstGeom prst="rect">
            <a:avLst/>
          </a:prstGeom>
          <a:noFill/>
        </p:spPr>
        <p:txBody>
          <a:bodyPr wrap="square" rtlCol="0">
            <a:spAutoFit/>
          </a:bodyPr>
          <a:lstStyle/>
          <a:p>
            <a:pPr defTabSz="554019"/>
            <a:r>
              <a:rPr lang="en-US" sz="933" b="1" dirty="0">
                <a:solidFill>
                  <a:srgbClr val="0070C0"/>
                </a:solidFill>
                <a:latin typeface="Calibri" panose="020F0502020204030204"/>
              </a:rPr>
              <a:t>Risk calculation engines</a:t>
            </a:r>
          </a:p>
        </p:txBody>
      </p:sp>
      <p:sp>
        <p:nvSpPr>
          <p:cNvPr id="39" name="Oval 38">
            <a:extLst>
              <a:ext uri="{FF2B5EF4-FFF2-40B4-BE49-F238E27FC236}">
                <a16:creationId xmlns:a16="http://schemas.microsoft.com/office/drawing/2014/main" id="{4FF39BFC-4FCA-418C-85E9-C63DFC76F6F7}"/>
              </a:ext>
            </a:extLst>
          </p:cNvPr>
          <p:cNvSpPr/>
          <p:nvPr/>
        </p:nvSpPr>
        <p:spPr>
          <a:xfrm>
            <a:off x="8667672" y="5865173"/>
            <a:ext cx="284507" cy="26674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933" b="1" dirty="0">
                <a:solidFill>
                  <a:srgbClr val="FFFFFF"/>
                </a:solidFill>
                <a:latin typeface="Calibri" panose="020F0502020204030204"/>
              </a:rPr>
              <a:t>5</a:t>
            </a:r>
          </a:p>
        </p:txBody>
      </p:sp>
      <p:sp>
        <p:nvSpPr>
          <p:cNvPr id="40" name="TextBox 39">
            <a:extLst>
              <a:ext uri="{FF2B5EF4-FFF2-40B4-BE49-F238E27FC236}">
                <a16:creationId xmlns:a16="http://schemas.microsoft.com/office/drawing/2014/main" id="{C7E54099-0BC1-4D05-8344-ADFA8ABC7003}"/>
              </a:ext>
            </a:extLst>
          </p:cNvPr>
          <p:cNvSpPr txBox="1"/>
          <p:nvPr/>
        </p:nvSpPr>
        <p:spPr>
          <a:xfrm>
            <a:off x="8940795" y="5886297"/>
            <a:ext cx="1306964" cy="379463"/>
          </a:xfrm>
          <a:prstGeom prst="rect">
            <a:avLst/>
          </a:prstGeom>
          <a:noFill/>
        </p:spPr>
        <p:txBody>
          <a:bodyPr wrap="square" rtlCol="0">
            <a:spAutoFit/>
          </a:bodyPr>
          <a:lstStyle/>
          <a:p>
            <a:pPr defTabSz="554019"/>
            <a:r>
              <a:rPr lang="en-US" sz="933" b="1" dirty="0">
                <a:solidFill>
                  <a:srgbClr val="0070C0"/>
                </a:solidFill>
                <a:latin typeface="Calibri" panose="020F0502020204030204"/>
              </a:rPr>
              <a:t>Stress Testing &amp; scenario analysis</a:t>
            </a:r>
          </a:p>
        </p:txBody>
      </p:sp>
      <p:sp>
        <p:nvSpPr>
          <p:cNvPr id="41" name="Oval 40">
            <a:extLst>
              <a:ext uri="{FF2B5EF4-FFF2-40B4-BE49-F238E27FC236}">
                <a16:creationId xmlns:a16="http://schemas.microsoft.com/office/drawing/2014/main" id="{74BBC836-8F90-4651-B432-5CBAD53F901A}"/>
              </a:ext>
            </a:extLst>
          </p:cNvPr>
          <p:cNvSpPr/>
          <p:nvPr/>
        </p:nvSpPr>
        <p:spPr>
          <a:xfrm>
            <a:off x="10238021" y="5876186"/>
            <a:ext cx="292608" cy="28448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933" b="1" dirty="0">
                <a:solidFill>
                  <a:srgbClr val="FFFFFF"/>
                </a:solidFill>
                <a:latin typeface="Calibri" panose="020F0502020204030204"/>
              </a:rPr>
              <a:t>6</a:t>
            </a:r>
          </a:p>
        </p:txBody>
      </p:sp>
      <p:sp>
        <p:nvSpPr>
          <p:cNvPr id="42" name="TextBox 41">
            <a:extLst>
              <a:ext uri="{FF2B5EF4-FFF2-40B4-BE49-F238E27FC236}">
                <a16:creationId xmlns:a16="http://schemas.microsoft.com/office/drawing/2014/main" id="{936C1662-5D06-4C61-9F0F-500F0B1AC95E}"/>
              </a:ext>
            </a:extLst>
          </p:cNvPr>
          <p:cNvSpPr txBox="1"/>
          <p:nvPr/>
        </p:nvSpPr>
        <p:spPr>
          <a:xfrm>
            <a:off x="10615165" y="5835911"/>
            <a:ext cx="1402415" cy="379463"/>
          </a:xfrm>
          <a:prstGeom prst="rect">
            <a:avLst/>
          </a:prstGeom>
          <a:noFill/>
        </p:spPr>
        <p:txBody>
          <a:bodyPr wrap="square" rtlCol="0">
            <a:spAutoFit/>
          </a:bodyPr>
          <a:lstStyle/>
          <a:p>
            <a:pPr defTabSz="554019"/>
            <a:r>
              <a:rPr lang="en-US" sz="933" b="1" dirty="0">
                <a:solidFill>
                  <a:srgbClr val="0070C0"/>
                </a:solidFill>
                <a:latin typeface="Calibri" panose="020F0502020204030204"/>
              </a:rPr>
              <a:t>Pre-trade &amp; eligibility checks</a:t>
            </a:r>
          </a:p>
        </p:txBody>
      </p:sp>
      <p:cxnSp>
        <p:nvCxnSpPr>
          <p:cNvPr id="44" name="Straight Arrow Connector 43">
            <a:extLst>
              <a:ext uri="{FF2B5EF4-FFF2-40B4-BE49-F238E27FC236}">
                <a16:creationId xmlns:a16="http://schemas.microsoft.com/office/drawing/2014/main" id="{03C1ADFE-D36F-4447-B768-B5ED9A1E3B77}"/>
              </a:ext>
            </a:extLst>
          </p:cNvPr>
          <p:cNvCxnSpPr>
            <a:cxnSpLocks/>
            <a:stCxn id="11" idx="3"/>
            <a:endCxn id="26" idx="1"/>
          </p:cNvCxnSpPr>
          <p:nvPr/>
        </p:nvCxnSpPr>
        <p:spPr>
          <a:xfrm flipV="1">
            <a:off x="5861918" y="2417267"/>
            <a:ext cx="339749" cy="162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45" name="TextBox 44">
            <a:extLst>
              <a:ext uri="{FF2B5EF4-FFF2-40B4-BE49-F238E27FC236}">
                <a16:creationId xmlns:a16="http://schemas.microsoft.com/office/drawing/2014/main" id="{7FD330D9-B5B3-4904-9A23-EA60CD483EBE}"/>
              </a:ext>
            </a:extLst>
          </p:cNvPr>
          <p:cNvSpPr txBox="1"/>
          <p:nvPr/>
        </p:nvSpPr>
        <p:spPr>
          <a:xfrm>
            <a:off x="5988716" y="1669295"/>
            <a:ext cx="2396129" cy="260199"/>
          </a:xfrm>
          <a:prstGeom prst="rect">
            <a:avLst/>
          </a:prstGeom>
          <a:noFill/>
        </p:spPr>
        <p:txBody>
          <a:bodyPr wrap="square" rtlCol="0">
            <a:spAutoFit/>
          </a:bodyPr>
          <a:lstStyle/>
          <a:p>
            <a:pPr defTabSz="554019"/>
            <a:r>
              <a:rPr lang="en-US" sz="1091" dirty="0">
                <a:solidFill>
                  <a:srgbClr val="000000"/>
                </a:solidFill>
                <a:latin typeface="Calibri" panose="020F0502020204030204"/>
              </a:rPr>
              <a:t>Near real time &amp; intraday</a:t>
            </a:r>
          </a:p>
        </p:txBody>
      </p:sp>
      <p:cxnSp>
        <p:nvCxnSpPr>
          <p:cNvPr id="47" name="Straight Arrow Connector 46">
            <a:extLst>
              <a:ext uri="{FF2B5EF4-FFF2-40B4-BE49-F238E27FC236}">
                <a16:creationId xmlns:a16="http://schemas.microsoft.com/office/drawing/2014/main" id="{CE564DB3-D9BD-40AE-9512-1D811AD5889D}"/>
              </a:ext>
            </a:extLst>
          </p:cNvPr>
          <p:cNvCxnSpPr>
            <a:cxnSpLocks/>
          </p:cNvCxnSpPr>
          <p:nvPr/>
        </p:nvCxnSpPr>
        <p:spPr>
          <a:xfrm flipH="1">
            <a:off x="6084623" y="1875920"/>
            <a:ext cx="91029" cy="482825"/>
          </a:xfrm>
          <a:prstGeom prst="straightConnector1">
            <a:avLst/>
          </a:prstGeom>
          <a:ln w="635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50" name="Rectangle: Rounded Corners 49">
            <a:extLst>
              <a:ext uri="{FF2B5EF4-FFF2-40B4-BE49-F238E27FC236}">
                <a16:creationId xmlns:a16="http://schemas.microsoft.com/office/drawing/2014/main" id="{EA7079B7-B071-4A3E-8C45-CBF2E5E17B0C}"/>
              </a:ext>
            </a:extLst>
          </p:cNvPr>
          <p:cNvSpPr/>
          <p:nvPr/>
        </p:nvSpPr>
        <p:spPr>
          <a:xfrm>
            <a:off x="6200047" y="3127651"/>
            <a:ext cx="5845175" cy="936347"/>
          </a:xfrm>
          <a:prstGeom prst="roundRect">
            <a:avLst/>
          </a:prstGeom>
          <a:solidFill>
            <a:schemeClr val="accent1">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endParaRPr lang="en-US" sz="1091" dirty="0">
              <a:solidFill>
                <a:srgbClr val="FFFFFF"/>
              </a:solidFill>
              <a:latin typeface="Calibri" panose="020F0502020204030204"/>
            </a:endParaRPr>
          </a:p>
        </p:txBody>
      </p:sp>
      <p:sp>
        <p:nvSpPr>
          <p:cNvPr id="51" name="Rectangle 50">
            <a:extLst>
              <a:ext uri="{FF2B5EF4-FFF2-40B4-BE49-F238E27FC236}">
                <a16:creationId xmlns:a16="http://schemas.microsoft.com/office/drawing/2014/main" id="{9FF16A22-FBB0-466A-A3FE-EA994AF16420}"/>
              </a:ext>
            </a:extLst>
          </p:cNvPr>
          <p:cNvSpPr/>
          <p:nvPr/>
        </p:nvSpPr>
        <p:spPr>
          <a:xfrm>
            <a:off x="6328472" y="3234942"/>
            <a:ext cx="1453237" cy="701325"/>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091" dirty="0">
                <a:solidFill>
                  <a:srgbClr val="000000"/>
                </a:solidFill>
                <a:latin typeface="Calibri" panose="020F0502020204030204"/>
              </a:rPr>
              <a:t>Market risk</a:t>
            </a:r>
          </a:p>
          <a:p>
            <a:pPr algn="ctr" defTabSz="554019"/>
            <a:r>
              <a:rPr lang="en-US" sz="1091" dirty="0">
                <a:solidFill>
                  <a:srgbClr val="000000"/>
                </a:solidFill>
                <a:latin typeface="Calibri" panose="020F0502020204030204"/>
              </a:rPr>
              <a:t>(99% 10-day/hist sim/parametric var/Exp shortfall/IRC)</a:t>
            </a:r>
          </a:p>
        </p:txBody>
      </p:sp>
      <p:sp>
        <p:nvSpPr>
          <p:cNvPr id="52" name="Rectangle 51">
            <a:extLst>
              <a:ext uri="{FF2B5EF4-FFF2-40B4-BE49-F238E27FC236}">
                <a16:creationId xmlns:a16="http://schemas.microsoft.com/office/drawing/2014/main" id="{63FB6EE0-09B8-4106-AB62-FC54F7A8E0E6}"/>
              </a:ext>
            </a:extLst>
          </p:cNvPr>
          <p:cNvSpPr/>
          <p:nvPr/>
        </p:nvSpPr>
        <p:spPr>
          <a:xfrm>
            <a:off x="7830476" y="3234940"/>
            <a:ext cx="1269621" cy="701325"/>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091" dirty="0">
                <a:solidFill>
                  <a:srgbClr val="000000"/>
                </a:solidFill>
                <a:latin typeface="Calibri" panose="020F0502020204030204"/>
              </a:rPr>
              <a:t>CCR</a:t>
            </a:r>
          </a:p>
          <a:p>
            <a:pPr algn="ctr" defTabSz="554019"/>
            <a:r>
              <a:rPr lang="en-US" sz="1091" dirty="0">
                <a:solidFill>
                  <a:srgbClr val="000000"/>
                </a:solidFill>
                <a:latin typeface="Calibri" panose="020F0502020204030204"/>
              </a:rPr>
              <a:t>(PFE/EPE/EE/CVA/DVA/FVA/wrong way risk/netting)</a:t>
            </a:r>
          </a:p>
        </p:txBody>
      </p:sp>
      <p:sp>
        <p:nvSpPr>
          <p:cNvPr id="53" name="Rectangle 52">
            <a:extLst>
              <a:ext uri="{FF2B5EF4-FFF2-40B4-BE49-F238E27FC236}">
                <a16:creationId xmlns:a16="http://schemas.microsoft.com/office/drawing/2014/main" id="{F4E5AE6A-8454-4E48-9AF2-FB71CE3453CB}"/>
              </a:ext>
            </a:extLst>
          </p:cNvPr>
          <p:cNvSpPr/>
          <p:nvPr/>
        </p:nvSpPr>
        <p:spPr>
          <a:xfrm>
            <a:off x="9148865" y="3234940"/>
            <a:ext cx="1467923" cy="701325"/>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091" dirty="0">
                <a:solidFill>
                  <a:srgbClr val="000000"/>
                </a:solidFill>
                <a:latin typeface="Calibri" panose="020F0502020204030204"/>
              </a:rPr>
              <a:t>Liquidity risk</a:t>
            </a:r>
          </a:p>
          <a:p>
            <a:pPr algn="ctr" defTabSz="554019"/>
            <a:r>
              <a:rPr lang="en-US" sz="1091" dirty="0">
                <a:solidFill>
                  <a:srgbClr val="000000"/>
                </a:solidFill>
                <a:latin typeface="Calibri" panose="020F0502020204030204"/>
              </a:rPr>
              <a:t>(LCR/NSFR/Intraday liquidity/HQLA/Settlement exposure)</a:t>
            </a:r>
          </a:p>
        </p:txBody>
      </p:sp>
      <p:sp>
        <p:nvSpPr>
          <p:cNvPr id="54" name="Rectangle 53">
            <a:extLst>
              <a:ext uri="{FF2B5EF4-FFF2-40B4-BE49-F238E27FC236}">
                <a16:creationId xmlns:a16="http://schemas.microsoft.com/office/drawing/2014/main" id="{840E6E19-7AD8-4238-855D-8BDFF106FC50}"/>
              </a:ext>
            </a:extLst>
          </p:cNvPr>
          <p:cNvSpPr/>
          <p:nvPr/>
        </p:nvSpPr>
        <p:spPr>
          <a:xfrm>
            <a:off x="10659035" y="3234939"/>
            <a:ext cx="1269621" cy="701325"/>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091" dirty="0">
                <a:solidFill>
                  <a:srgbClr val="000000"/>
                </a:solidFill>
                <a:latin typeface="Calibri" panose="020F0502020204030204"/>
              </a:rPr>
              <a:t>Margin calc</a:t>
            </a:r>
          </a:p>
          <a:p>
            <a:pPr algn="ctr" defTabSz="554019"/>
            <a:r>
              <a:rPr lang="en-US" sz="1091" dirty="0">
                <a:solidFill>
                  <a:srgbClr val="000000"/>
                </a:solidFill>
                <a:latin typeface="Calibri" panose="020F0502020204030204"/>
              </a:rPr>
              <a:t>(Initial/variation margin, margin utilization / call)</a:t>
            </a:r>
          </a:p>
        </p:txBody>
      </p:sp>
      <p:sp>
        <p:nvSpPr>
          <p:cNvPr id="55" name="Oval 54">
            <a:extLst>
              <a:ext uri="{FF2B5EF4-FFF2-40B4-BE49-F238E27FC236}">
                <a16:creationId xmlns:a16="http://schemas.microsoft.com/office/drawing/2014/main" id="{13D55B90-DD5E-4FB1-8DB4-4EDF249C33D1}"/>
              </a:ext>
            </a:extLst>
          </p:cNvPr>
          <p:cNvSpPr/>
          <p:nvPr/>
        </p:nvSpPr>
        <p:spPr>
          <a:xfrm>
            <a:off x="11831120" y="3966464"/>
            <a:ext cx="360881" cy="33161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091" b="1" dirty="0">
                <a:solidFill>
                  <a:srgbClr val="FFFFFF"/>
                </a:solidFill>
                <a:latin typeface="Calibri" panose="020F0502020204030204"/>
              </a:rPr>
              <a:t>4</a:t>
            </a:r>
          </a:p>
        </p:txBody>
      </p:sp>
      <p:cxnSp>
        <p:nvCxnSpPr>
          <p:cNvPr id="57" name="Straight Arrow Connector 56">
            <a:extLst>
              <a:ext uri="{FF2B5EF4-FFF2-40B4-BE49-F238E27FC236}">
                <a16:creationId xmlns:a16="http://schemas.microsoft.com/office/drawing/2014/main" id="{00B0DA87-8FD6-44EB-81A6-D1873E58EAE7}"/>
              </a:ext>
            </a:extLst>
          </p:cNvPr>
          <p:cNvCxnSpPr>
            <a:cxnSpLocks/>
            <a:stCxn id="26" idx="2"/>
            <a:endCxn id="50" idx="0"/>
          </p:cNvCxnSpPr>
          <p:nvPr/>
        </p:nvCxnSpPr>
        <p:spPr>
          <a:xfrm flipH="1">
            <a:off x="9122635" y="2885439"/>
            <a:ext cx="1620" cy="24221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58" name="Rectangle: Rounded Corners 57">
            <a:extLst>
              <a:ext uri="{FF2B5EF4-FFF2-40B4-BE49-F238E27FC236}">
                <a16:creationId xmlns:a16="http://schemas.microsoft.com/office/drawing/2014/main" id="{72212F0A-C3BA-4BD1-BEF8-31BE6B4C26D5}"/>
              </a:ext>
            </a:extLst>
          </p:cNvPr>
          <p:cNvSpPr/>
          <p:nvPr/>
        </p:nvSpPr>
        <p:spPr>
          <a:xfrm>
            <a:off x="339755" y="3127652"/>
            <a:ext cx="5520539" cy="940392"/>
          </a:xfrm>
          <a:prstGeom prst="roundRect">
            <a:avLst/>
          </a:prstGeom>
          <a:solidFill>
            <a:schemeClr val="accent1">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endParaRPr lang="en-US" sz="1091" dirty="0">
              <a:solidFill>
                <a:srgbClr val="FFFFFF"/>
              </a:solidFill>
              <a:latin typeface="Calibri" panose="020F0502020204030204"/>
            </a:endParaRPr>
          </a:p>
        </p:txBody>
      </p:sp>
      <p:sp>
        <p:nvSpPr>
          <p:cNvPr id="59" name="Rectangle 58">
            <a:extLst>
              <a:ext uri="{FF2B5EF4-FFF2-40B4-BE49-F238E27FC236}">
                <a16:creationId xmlns:a16="http://schemas.microsoft.com/office/drawing/2014/main" id="{36A8E423-885E-4DE4-8091-9A8F47EFABF7}"/>
              </a:ext>
            </a:extLst>
          </p:cNvPr>
          <p:cNvSpPr/>
          <p:nvPr/>
        </p:nvSpPr>
        <p:spPr>
          <a:xfrm>
            <a:off x="437775" y="3223979"/>
            <a:ext cx="1340608" cy="712288"/>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091" dirty="0">
                <a:solidFill>
                  <a:srgbClr val="000000"/>
                </a:solidFill>
                <a:latin typeface="Calibri" panose="020F0502020204030204"/>
              </a:rPr>
              <a:t>Historical scenarios</a:t>
            </a:r>
          </a:p>
          <a:p>
            <a:pPr algn="ctr" defTabSz="554019"/>
            <a:r>
              <a:rPr lang="en-US" sz="1091" dirty="0">
                <a:solidFill>
                  <a:srgbClr val="000000"/>
                </a:solidFill>
                <a:latin typeface="Calibri" panose="020F0502020204030204"/>
              </a:rPr>
              <a:t>(Severe/highly severe et al)</a:t>
            </a:r>
          </a:p>
        </p:txBody>
      </p:sp>
      <p:sp>
        <p:nvSpPr>
          <p:cNvPr id="60" name="Rectangle 59">
            <a:extLst>
              <a:ext uri="{FF2B5EF4-FFF2-40B4-BE49-F238E27FC236}">
                <a16:creationId xmlns:a16="http://schemas.microsoft.com/office/drawing/2014/main" id="{8AAA4E71-62A7-4EB2-BC17-920E0BAC062A}"/>
              </a:ext>
            </a:extLst>
          </p:cNvPr>
          <p:cNvSpPr/>
          <p:nvPr/>
        </p:nvSpPr>
        <p:spPr>
          <a:xfrm>
            <a:off x="1849941" y="3223977"/>
            <a:ext cx="1414260" cy="712288"/>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091" dirty="0">
                <a:solidFill>
                  <a:srgbClr val="000000"/>
                </a:solidFill>
                <a:latin typeface="Calibri" panose="020F0502020204030204"/>
              </a:rPr>
              <a:t>Hypothetical shocks</a:t>
            </a:r>
          </a:p>
          <a:p>
            <a:pPr algn="ctr" defTabSz="554019"/>
            <a:r>
              <a:rPr lang="en-US" sz="1091" dirty="0">
                <a:solidFill>
                  <a:srgbClr val="000000"/>
                </a:solidFill>
                <a:latin typeface="Calibri" panose="020F0502020204030204"/>
              </a:rPr>
              <a:t>(</a:t>
            </a:r>
            <a:r>
              <a:rPr lang="en-US" sz="1091" dirty="0" err="1">
                <a:solidFill>
                  <a:srgbClr val="000000"/>
                </a:solidFill>
                <a:latin typeface="Calibri" panose="020F0502020204030204"/>
              </a:rPr>
              <a:t>Rate+bp</a:t>
            </a:r>
            <a:r>
              <a:rPr lang="en-US" sz="1091" dirty="0">
                <a:solidFill>
                  <a:srgbClr val="000000"/>
                </a:solidFill>
                <a:latin typeface="Calibri" panose="020F0502020204030204"/>
              </a:rPr>
              <a:t>, credit spread widening)</a:t>
            </a:r>
          </a:p>
        </p:txBody>
      </p:sp>
      <p:sp>
        <p:nvSpPr>
          <p:cNvPr id="61" name="Rectangle 60">
            <a:extLst>
              <a:ext uri="{FF2B5EF4-FFF2-40B4-BE49-F238E27FC236}">
                <a16:creationId xmlns:a16="http://schemas.microsoft.com/office/drawing/2014/main" id="{E207E665-93DF-4F3A-99C5-74BAC77E23F2}"/>
              </a:ext>
            </a:extLst>
          </p:cNvPr>
          <p:cNvSpPr/>
          <p:nvPr/>
        </p:nvSpPr>
        <p:spPr>
          <a:xfrm>
            <a:off x="3332474" y="3223977"/>
            <a:ext cx="1174839" cy="712288"/>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091" dirty="0">
                <a:solidFill>
                  <a:srgbClr val="000000"/>
                </a:solidFill>
                <a:latin typeface="Calibri" panose="020F0502020204030204"/>
              </a:rPr>
              <a:t>Reverse stress test</a:t>
            </a:r>
          </a:p>
          <a:p>
            <a:pPr algn="ctr" defTabSz="554019"/>
            <a:r>
              <a:rPr lang="en-US" sz="1091" dirty="0">
                <a:solidFill>
                  <a:srgbClr val="000000"/>
                </a:solidFill>
                <a:latin typeface="Calibri" panose="020F0502020204030204"/>
              </a:rPr>
              <a:t>(Resilience/ICARA/ILSA input)</a:t>
            </a:r>
          </a:p>
        </p:txBody>
      </p:sp>
      <p:sp>
        <p:nvSpPr>
          <p:cNvPr id="62" name="Rectangle 61">
            <a:extLst>
              <a:ext uri="{FF2B5EF4-FFF2-40B4-BE49-F238E27FC236}">
                <a16:creationId xmlns:a16="http://schemas.microsoft.com/office/drawing/2014/main" id="{B01A6570-927A-4740-8EF1-694EEEB808E3}"/>
              </a:ext>
            </a:extLst>
          </p:cNvPr>
          <p:cNvSpPr/>
          <p:nvPr/>
        </p:nvSpPr>
        <p:spPr>
          <a:xfrm>
            <a:off x="4571653" y="3223976"/>
            <a:ext cx="1174839" cy="712288"/>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091" dirty="0">
                <a:solidFill>
                  <a:srgbClr val="000000"/>
                </a:solidFill>
                <a:latin typeface="Calibri" panose="020F0502020204030204"/>
              </a:rPr>
              <a:t>Sensitivity</a:t>
            </a:r>
          </a:p>
          <a:p>
            <a:pPr algn="ctr" defTabSz="554019"/>
            <a:r>
              <a:rPr lang="en-US" sz="1091" dirty="0">
                <a:solidFill>
                  <a:srgbClr val="000000"/>
                </a:solidFill>
                <a:latin typeface="Calibri" panose="020F0502020204030204"/>
              </a:rPr>
              <a:t>(Pre-factor/multi-factor)</a:t>
            </a:r>
          </a:p>
        </p:txBody>
      </p:sp>
      <p:sp>
        <p:nvSpPr>
          <p:cNvPr id="63" name="Oval 62">
            <a:extLst>
              <a:ext uri="{FF2B5EF4-FFF2-40B4-BE49-F238E27FC236}">
                <a16:creationId xmlns:a16="http://schemas.microsoft.com/office/drawing/2014/main" id="{D90DFE71-0807-42A5-A251-E79036E19EFF}"/>
              </a:ext>
            </a:extLst>
          </p:cNvPr>
          <p:cNvSpPr/>
          <p:nvPr/>
        </p:nvSpPr>
        <p:spPr>
          <a:xfrm>
            <a:off x="6988" y="2977262"/>
            <a:ext cx="360881" cy="33161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091" b="1" dirty="0">
                <a:solidFill>
                  <a:srgbClr val="FFFFFF"/>
                </a:solidFill>
                <a:latin typeface="Calibri" panose="020F0502020204030204"/>
              </a:rPr>
              <a:t>5</a:t>
            </a:r>
          </a:p>
        </p:txBody>
      </p:sp>
      <p:cxnSp>
        <p:nvCxnSpPr>
          <p:cNvPr id="64" name="Straight Arrow Connector 63">
            <a:extLst>
              <a:ext uri="{FF2B5EF4-FFF2-40B4-BE49-F238E27FC236}">
                <a16:creationId xmlns:a16="http://schemas.microsoft.com/office/drawing/2014/main" id="{53A72900-85C0-49E2-9270-08E0473C8E2F}"/>
              </a:ext>
            </a:extLst>
          </p:cNvPr>
          <p:cNvCxnSpPr>
            <a:cxnSpLocks/>
            <a:stCxn id="50" idx="1"/>
            <a:endCxn id="58" idx="3"/>
          </p:cNvCxnSpPr>
          <p:nvPr/>
        </p:nvCxnSpPr>
        <p:spPr>
          <a:xfrm flipH="1">
            <a:off x="5860294" y="3595824"/>
            <a:ext cx="339753" cy="202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73" name="Rectangle: Rounded Corners 72">
            <a:extLst>
              <a:ext uri="{FF2B5EF4-FFF2-40B4-BE49-F238E27FC236}">
                <a16:creationId xmlns:a16="http://schemas.microsoft.com/office/drawing/2014/main" id="{319786DD-338C-4948-96A2-9F479D391264}"/>
              </a:ext>
            </a:extLst>
          </p:cNvPr>
          <p:cNvSpPr/>
          <p:nvPr/>
        </p:nvSpPr>
        <p:spPr>
          <a:xfrm>
            <a:off x="338131" y="4345225"/>
            <a:ext cx="5520539" cy="940392"/>
          </a:xfrm>
          <a:prstGeom prst="roundRect">
            <a:avLst/>
          </a:prstGeom>
          <a:solidFill>
            <a:schemeClr val="bg1">
              <a:lumMod val="7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endParaRPr lang="en-US" sz="1091" dirty="0">
              <a:solidFill>
                <a:srgbClr val="FFFFFF"/>
              </a:solidFill>
              <a:latin typeface="Calibri" panose="020F0502020204030204"/>
            </a:endParaRPr>
          </a:p>
        </p:txBody>
      </p:sp>
      <p:sp>
        <p:nvSpPr>
          <p:cNvPr id="74" name="Rectangle 73">
            <a:extLst>
              <a:ext uri="{FF2B5EF4-FFF2-40B4-BE49-F238E27FC236}">
                <a16:creationId xmlns:a16="http://schemas.microsoft.com/office/drawing/2014/main" id="{344565AA-7BE2-42B0-B44B-A364E324BD29}"/>
              </a:ext>
            </a:extLst>
          </p:cNvPr>
          <p:cNvSpPr/>
          <p:nvPr/>
        </p:nvSpPr>
        <p:spPr>
          <a:xfrm>
            <a:off x="436151" y="4441552"/>
            <a:ext cx="1340608" cy="712288"/>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091" dirty="0">
                <a:solidFill>
                  <a:srgbClr val="000000"/>
                </a:solidFill>
                <a:latin typeface="Calibri" panose="020F0502020204030204"/>
              </a:rPr>
              <a:t>Credit &amp; limit checks</a:t>
            </a:r>
          </a:p>
          <a:p>
            <a:pPr algn="ctr" defTabSz="554019"/>
            <a:r>
              <a:rPr lang="en-US" sz="1091" dirty="0">
                <a:solidFill>
                  <a:srgbClr val="000000"/>
                </a:solidFill>
                <a:latin typeface="Calibri" panose="020F0502020204030204"/>
              </a:rPr>
              <a:t>(</a:t>
            </a:r>
            <a:r>
              <a:rPr lang="en-US" sz="1091" dirty="0" err="1">
                <a:solidFill>
                  <a:srgbClr val="000000"/>
                </a:solidFill>
                <a:latin typeface="Calibri" panose="020F0502020204030204"/>
              </a:rPr>
              <a:t>Cparty</a:t>
            </a:r>
            <a:r>
              <a:rPr lang="en-US" sz="1091" dirty="0">
                <a:solidFill>
                  <a:srgbClr val="000000"/>
                </a:solidFill>
                <a:latin typeface="Calibri" panose="020F0502020204030204"/>
              </a:rPr>
              <a:t> credit lines – Notional/DV01)</a:t>
            </a:r>
          </a:p>
        </p:txBody>
      </p:sp>
      <p:sp>
        <p:nvSpPr>
          <p:cNvPr id="75" name="Rectangle 74">
            <a:extLst>
              <a:ext uri="{FF2B5EF4-FFF2-40B4-BE49-F238E27FC236}">
                <a16:creationId xmlns:a16="http://schemas.microsoft.com/office/drawing/2014/main" id="{7A8404AF-992F-49CF-956F-1AAADFC67742}"/>
              </a:ext>
            </a:extLst>
          </p:cNvPr>
          <p:cNvSpPr/>
          <p:nvPr/>
        </p:nvSpPr>
        <p:spPr>
          <a:xfrm>
            <a:off x="1848317" y="4441551"/>
            <a:ext cx="1414260" cy="712288"/>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091" dirty="0">
                <a:solidFill>
                  <a:srgbClr val="000000"/>
                </a:solidFill>
                <a:latin typeface="Calibri" panose="020F0502020204030204"/>
              </a:rPr>
              <a:t>Position &amp; velocity</a:t>
            </a:r>
          </a:p>
          <a:p>
            <a:pPr algn="ctr" defTabSz="554019"/>
            <a:r>
              <a:rPr lang="en-US" sz="1091" dirty="0">
                <a:solidFill>
                  <a:srgbClr val="000000"/>
                </a:solidFill>
                <a:latin typeface="Calibri" panose="020F0502020204030204"/>
              </a:rPr>
              <a:t>(Long/short limits, fat finger, order rate)</a:t>
            </a:r>
          </a:p>
        </p:txBody>
      </p:sp>
      <p:sp>
        <p:nvSpPr>
          <p:cNvPr id="76" name="Rectangle 75">
            <a:extLst>
              <a:ext uri="{FF2B5EF4-FFF2-40B4-BE49-F238E27FC236}">
                <a16:creationId xmlns:a16="http://schemas.microsoft.com/office/drawing/2014/main" id="{5873E1FF-5E38-4372-AB13-E34CD1CFE57F}"/>
              </a:ext>
            </a:extLst>
          </p:cNvPr>
          <p:cNvSpPr/>
          <p:nvPr/>
        </p:nvSpPr>
        <p:spPr>
          <a:xfrm>
            <a:off x="3330850" y="4441551"/>
            <a:ext cx="1174839" cy="712288"/>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091" dirty="0" err="1">
                <a:solidFill>
                  <a:srgbClr val="000000"/>
                </a:solidFill>
                <a:latin typeface="Calibri" panose="020F0502020204030204"/>
              </a:rPr>
              <a:t>Avl</a:t>
            </a:r>
            <a:r>
              <a:rPr lang="en-US" sz="1091" dirty="0">
                <a:solidFill>
                  <a:srgbClr val="000000"/>
                </a:solidFill>
                <a:latin typeface="Calibri" panose="020F0502020204030204"/>
              </a:rPr>
              <a:t> Margin</a:t>
            </a:r>
          </a:p>
          <a:p>
            <a:pPr algn="ctr" defTabSz="554019"/>
            <a:r>
              <a:rPr lang="en-US" sz="1091" dirty="0">
                <a:solidFill>
                  <a:srgbClr val="000000"/>
                </a:solidFill>
                <a:latin typeface="Calibri" panose="020F0502020204030204"/>
              </a:rPr>
              <a:t>(Available collateral / margin impact)</a:t>
            </a:r>
          </a:p>
        </p:txBody>
      </p:sp>
      <p:sp>
        <p:nvSpPr>
          <p:cNvPr id="77" name="Rectangle 76">
            <a:extLst>
              <a:ext uri="{FF2B5EF4-FFF2-40B4-BE49-F238E27FC236}">
                <a16:creationId xmlns:a16="http://schemas.microsoft.com/office/drawing/2014/main" id="{E8B87463-1467-4DDE-8ABA-14B57D6AF51D}"/>
              </a:ext>
            </a:extLst>
          </p:cNvPr>
          <p:cNvSpPr/>
          <p:nvPr/>
        </p:nvSpPr>
        <p:spPr>
          <a:xfrm>
            <a:off x="4570029" y="4441549"/>
            <a:ext cx="1174839" cy="712288"/>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091" dirty="0">
                <a:solidFill>
                  <a:srgbClr val="000000"/>
                </a:solidFill>
                <a:latin typeface="Calibri" panose="020F0502020204030204"/>
              </a:rPr>
              <a:t>Reg checks</a:t>
            </a:r>
          </a:p>
          <a:p>
            <a:pPr algn="ctr" defTabSz="554019"/>
            <a:r>
              <a:rPr lang="en-US" sz="1091" dirty="0">
                <a:solidFill>
                  <a:srgbClr val="000000"/>
                </a:solidFill>
                <a:latin typeface="Calibri" panose="020F0502020204030204"/>
              </a:rPr>
              <a:t>(Short sell, wash trade, suitability)</a:t>
            </a:r>
          </a:p>
        </p:txBody>
      </p:sp>
      <p:sp>
        <p:nvSpPr>
          <p:cNvPr id="78" name="Oval 77">
            <a:extLst>
              <a:ext uri="{FF2B5EF4-FFF2-40B4-BE49-F238E27FC236}">
                <a16:creationId xmlns:a16="http://schemas.microsoft.com/office/drawing/2014/main" id="{28B77CBA-C400-450A-8F20-CF9FE0600809}"/>
              </a:ext>
            </a:extLst>
          </p:cNvPr>
          <p:cNvSpPr/>
          <p:nvPr/>
        </p:nvSpPr>
        <p:spPr>
          <a:xfrm>
            <a:off x="5364" y="4194836"/>
            <a:ext cx="360881" cy="33161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091" b="1" dirty="0">
                <a:solidFill>
                  <a:srgbClr val="FFFFFF"/>
                </a:solidFill>
                <a:latin typeface="Calibri" panose="020F0502020204030204"/>
              </a:rPr>
              <a:t>6</a:t>
            </a:r>
          </a:p>
        </p:txBody>
      </p:sp>
      <p:sp>
        <p:nvSpPr>
          <p:cNvPr id="79" name="Rectangle 78">
            <a:extLst>
              <a:ext uri="{FF2B5EF4-FFF2-40B4-BE49-F238E27FC236}">
                <a16:creationId xmlns:a16="http://schemas.microsoft.com/office/drawing/2014/main" id="{3D8EA04A-4384-48F6-87AF-1695B1163A0B}"/>
              </a:ext>
            </a:extLst>
          </p:cNvPr>
          <p:cNvSpPr/>
          <p:nvPr/>
        </p:nvSpPr>
        <p:spPr>
          <a:xfrm>
            <a:off x="7568793" y="623262"/>
            <a:ext cx="3111451" cy="888889"/>
          </a:xfrm>
          <a:prstGeom prst="rect">
            <a:avLst/>
          </a:prstGeom>
          <a:solidFill>
            <a:schemeClr val="accent2">
              <a:lumMod val="40000"/>
              <a:lumOff val="60000"/>
            </a:schemeClr>
          </a:solid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333" b="1" dirty="0">
                <a:solidFill>
                  <a:srgbClr val="000000"/>
                </a:solidFill>
                <a:latin typeface="Calibri" panose="020F0502020204030204"/>
              </a:rPr>
              <a:t>Dealer Interface</a:t>
            </a:r>
          </a:p>
        </p:txBody>
      </p:sp>
      <p:cxnSp>
        <p:nvCxnSpPr>
          <p:cNvPr id="83" name="Straight Arrow Connector 82">
            <a:extLst>
              <a:ext uri="{FF2B5EF4-FFF2-40B4-BE49-F238E27FC236}">
                <a16:creationId xmlns:a16="http://schemas.microsoft.com/office/drawing/2014/main" id="{65F09B24-6A3F-4C6A-A252-425796E3DF02}"/>
              </a:ext>
            </a:extLst>
          </p:cNvPr>
          <p:cNvCxnSpPr>
            <a:cxnSpLocks/>
            <a:stCxn id="79" idx="2"/>
            <a:endCxn id="26" idx="0"/>
          </p:cNvCxnSpPr>
          <p:nvPr/>
        </p:nvCxnSpPr>
        <p:spPr>
          <a:xfrm flipH="1">
            <a:off x="9124255" y="1512151"/>
            <a:ext cx="264" cy="436943"/>
          </a:xfrm>
          <a:prstGeom prst="straightConnector1">
            <a:avLst/>
          </a:prstGeom>
          <a:ln>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86" name="Straight Arrow Connector 85">
            <a:extLst>
              <a:ext uri="{FF2B5EF4-FFF2-40B4-BE49-F238E27FC236}">
                <a16:creationId xmlns:a16="http://schemas.microsoft.com/office/drawing/2014/main" id="{62669440-DCF1-439D-9D3B-9DFB0C501AF4}"/>
              </a:ext>
            </a:extLst>
          </p:cNvPr>
          <p:cNvCxnSpPr>
            <a:cxnSpLocks/>
          </p:cNvCxnSpPr>
          <p:nvPr/>
        </p:nvCxnSpPr>
        <p:spPr>
          <a:xfrm flipV="1">
            <a:off x="7602946" y="1812884"/>
            <a:ext cx="1448385" cy="1"/>
          </a:xfrm>
          <a:prstGeom prst="straightConnector1">
            <a:avLst/>
          </a:prstGeom>
          <a:ln w="635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06" name="Rectangle: Rounded Corners 105">
            <a:extLst>
              <a:ext uri="{FF2B5EF4-FFF2-40B4-BE49-F238E27FC236}">
                <a16:creationId xmlns:a16="http://schemas.microsoft.com/office/drawing/2014/main" id="{7EE1AA2A-A826-462A-B36F-0CE7A219ABE3}"/>
              </a:ext>
            </a:extLst>
          </p:cNvPr>
          <p:cNvSpPr/>
          <p:nvPr/>
        </p:nvSpPr>
        <p:spPr>
          <a:xfrm>
            <a:off x="6198423" y="4345223"/>
            <a:ext cx="5845175" cy="936347"/>
          </a:xfrm>
          <a:prstGeom prst="roundRect">
            <a:avLst/>
          </a:prstGeom>
          <a:solidFill>
            <a:schemeClr val="accent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endParaRPr lang="en-US" sz="1091" dirty="0">
              <a:solidFill>
                <a:srgbClr val="FFFFFF"/>
              </a:solidFill>
              <a:latin typeface="Calibri" panose="020F0502020204030204"/>
            </a:endParaRPr>
          </a:p>
        </p:txBody>
      </p:sp>
      <p:sp>
        <p:nvSpPr>
          <p:cNvPr id="107" name="Rectangle 106">
            <a:extLst>
              <a:ext uri="{FF2B5EF4-FFF2-40B4-BE49-F238E27FC236}">
                <a16:creationId xmlns:a16="http://schemas.microsoft.com/office/drawing/2014/main" id="{98BDA564-806E-4901-A5CE-239617D37E2E}"/>
              </a:ext>
            </a:extLst>
          </p:cNvPr>
          <p:cNvSpPr/>
          <p:nvPr/>
        </p:nvSpPr>
        <p:spPr>
          <a:xfrm>
            <a:off x="6326848" y="4452514"/>
            <a:ext cx="1453237" cy="701325"/>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091" dirty="0">
                <a:solidFill>
                  <a:srgbClr val="000000"/>
                </a:solidFill>
                <a:latin typeface="Calibri" panose="020F0502020204030204"/>
              </a:rPr>
              <a:t>MiFID/</a:t>
            </a:r>
            <a:r>
              <a:rPr lang="en-US" sz="1091" dirty="0" err="1">
                <a:solidFill>
                  <a:srgbClr val="000000"/>
                </a:solidFill>
                <a:latin typeface="Calibri" panose="020F0502020204030204"/>
              </a:rPr>
              <a:t>MiFIR</a:t>
            </a:r>
            <a:endParaRPr lang="en-US" sz="1091" dirty="0">
              <a:solidFill>
                <a:srgbClr val="000000"/>
              </a:solidFill>
              <a:latin typeface="Calibri" panose="020F0502020204030204"/>
            </a:endParaRPr>
          </a:p>
          <a:p>
            <a:pPr algn="ctr" defTabSz="554019"/>
            <a:r>
              <a:rPr lang="en-US" sz="1091" dirty="0">
                <a:solidFill>
                  <a:srgbClr val="000000"/>
                </a:solidFill>
                <a:latin typeface="Calibri" panose="020F0502020204030204"/>
              </a:rPr>
              <a:t>(Transaction report, best execution)</a:t>
            </a:r>
          </a:p>
        </p:txBody>
      </p:sp>
      <p:sp>
        <p:nvSpPr>
          <p:cNvPr id="108" name="Rectangle 107">
            <a:extLst>
              <a:ext uri="{FF2B5EF4-FFF2-40B4-BE49-F238E27FC236}">
                <a16:creationId xmlns:a16="http://schemas.microsoft.com/office/drawing/2014/main" id="{FECF6892-6F82-403B-9B1A-8A0622E53E06}"/>
              </a:ext>
            </a:extLst>
          </p:cNvPr>
          <p:cNvSpPr/>
          <p:nvPr/>
        </p:nvSpPr>
        <p:spPr>
          <a:xfrm>
            <a:off x="7828852" y="4452512"/>
            <a:ext cx="1269621" cy="701325"/>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091" dirty="0">
                <a:solidFill>
                  <a:srgbClr val="000000"/>
                </a:solidFill>
                <a:latin typeface="Calibri" panose="020F0502020204030204"/>
              </a:rPr>
              <a:t>UK EMIR</a:t>
            </a:r>
          </a:p>
          <a:p>
            <a:pPr algn="ctr" defTabSz="554019"/>
            <a:r>
              <a:rPr lang="en-US" sz="1091" dirty="0">
                <a:solidFill>
                  <a:srgbClr val="000000"/>
                </a:solidFill>
                <a:latin typeface="Calibri" panose="020F0502020204030204"/>
              </a:rPr>
              <a:t>(Trade repository, margin/collateral data)</a:t>
            </a:r>
          </a:p>
        </p:txBody>
      </p:sp>
      <p:sp>
        <p:nvSpPr>
          <p:cNvPr id="109" name="Rectangle 108">
            <a:extLst>
              <a:ext uri="{FF2B5EF4-FFF2-40B4-BE49-F238E27FC236}">
                <a16:creationId xmlns:a16="http://schemas.microsoft.com/office/drawing/2014/main" id="{0191F64C-BAB4-45EB-9B31-E02E2D5FFF4A}"/>
              </a:ext>
            </a:extLst>
          </p:cNvPr>
          <p:cNvSpPr/>
          <p:nvPr/>
        </p:nvSpPr>
        <p:spPr>
          <a:xfrm>
            <a:off x="9147241" y="4452512"/>
            <a:ext cx="1467923" cy="701325"/>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091" dirty="0">
                <a:solidFill>
                  <a:srgbClr val="000000"/>
                </a:solidFill>
                <a:latin typeface="Calibri" panose="020F0502020204030204"/>
              </a:rPr>
              <a:t>ICARA/</a:t>
            </a:r>
            <a:r>
              <a:rPr lang="en-US" sz="1091" dirty="0" err="1">
                <a:solidFill>
                  <a:srgbClr val="000000"/>
                </a:solidFill>
                <a:latin typeface="Calibri" panose="020F0502020204030204"/>
              </a:rPr>
              <a:t>MiFIDPRU</a:t>
            </a:r>
            <a:endParaRPr lang="en-US" sz="1091" dirty="0">
              <a:solidFill>
                <a:srgbClr val="000000"/>
              </a:solidFill>
              <a:latin typeface="Calibri" panose="020F0502020204030204"/>
            </a:endParaRPr>
          </a:p>
          <a:p>
            <a:pPr algn="ctr" defTabSz="554019"/>
            <a:r>
              <a:rPr lang="en-US" sz="1091" dirty="0">
                <a:solidFill>
                  <a:srgbClr val="000000"/>
                </a:solidFill>
                <a:latin typeface="Calibri" panose="020F0502020204030204"/>
              </a:rPr>
              <a:t>(Capital adequacy / Wind down planning)</a:t>
            </a:r>
          </a:p>
        </p:txBody>
      </p:sp>
      <p:sp>
        <p:nvSpPr>
          <p:cNvPr id="110" name="Rectangle 109">
            <a:extLst>
              <a:ext uri="{FF2B5EF4-FFF2-40B4-BE49-F238E27FC236}">
                <a16:creationId xmlns:a16="http://schemas.microsoft.com/office/drawing/2014/main" id="{6B3FFC1A-00FC-4726-975E-FB860ACB09C5}"/>
              </a:ext>
            </a:extLst>
          </p:cNvPr>
          <p:cNvSpPr/>
          <p:nvPr/>
        </p:nvSpPr>
        <p:spPr>
          <a:xfrm>
            <a:off x="10657411" y="4452511"/>
            <a:ext cx="1269621" cy="701325"/>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091" dirty="0">
                <a:solidFill>
                  <a:srgbClr val="000000"/>
                </a:solidFill>
                <a:latin typeface="Calibri" panose="020F0502020204030204"/>
              </a:rPr>
              <a:t>FCA supervision</a:t>
            </a:r>
          </a:p>
          <a:p>
            <a:pPr algn="ctr" defTabSz="554019"/>
            <a:r>
              <a:rPr lang="en-US" sz="1091" dirty="0">
                <a:solidFill>
                  <a:srgbClr val="000000"/>
                </a:solidFill>
                <a:latin typeface="Calibri" panose="020F0502020204030204"/>
              </a:rPr>
              <a:t>(Fin crime, mkt abuse – SUP 16, position limits)</a:t>
            </a:r>
          </a:p>
        </p:txBody>
      </p:sp>
      <p:sp>
        <p:nvSpPr>
          <p:cNvPr id="111" name="Oval 110">
            <a:extLst>
              <a:ext uri="{FF2B5EF4-FFF2-40B4-BE49-F238E27FC236}">
                <a16:creationId xmlns:a16="http://schemas.microsoft.com/office/drawing/2014/main" id="{38343826-5853-48CB-90CE-8B9879DA2937}"/>
              </a:ext>
            </a:extLst>
          </p:cNvPr>
          <p:cNvSpPr/>
          <p:nvPr/>
        </p:nvSpPr>
        <p:spPr>
          <a:xfrm>
            <a:off x="11829496" y="5223049"/>
            <a:ext cx="360881" cy="33161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091" b="1" dirty="0">
                <a:solidFill>
                  <a:srgbClr val="FFFFFF"/>
                </a:solidFill>
                <a:latin typeface="Calibri" panose="020F0502020204030204"/>
              </a:rPr>
              <a:t>7</a:t>
            </a:r>
          </a:p>
        </p:txBody>
      </p:sp>
      <p:sp>
        <p:nvSpPr>
          <p:cNvPr id="114" name="Rectangle 113">
            <a:extLst>
              <a:ext uri="{FF2B5EF4-FFF2-40B4-BE49-F238E27FC236}">
                <a16:creationId xmlns:a16="http://schemas.microsoft.com/office/drawing/2014/main" id="{4D772109-9BB7-460F-AD5E-5BEE7A19F9AD}"/>
              </a:ext>
            </a:extLst>
          </p:cNvPr>
          <p:cNvSpPr/>
          <p:nvPr/>
        </p:nvSpPr>
        <p:spPr>
          <a:xfrm>
            <a:off x="0" y="1656441"/>
            <a:ext cx="12192000" cy="3717793"/>
          </a:xfrm>
          <a:prstGeom prst="rect">
            <a:avLst/>
          </a:prstGeom>
          <a:no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endParaRPr lang="en-US" sz="1091">
              <a:solidFill>
                <a:srgbClr val="FFFFFF"/>
              </a:solidFill>
              <a:latin typeface="Calibri" panose="020F0502020204030204"/>
            </a:endParaRPr>
          </a:p>
        </p:txBody>
      </p:sp>
      <p:sp>
        <p:nvSpPr>
          <p:cNvPr id="115" name="Rectangle: Rounded Corners 114">
            <a:extLst>
              <a:ext uri="{FF2B5EF4-FFF2-40B4-BE49-F238E27FC236}">
                <a16:creationId xmlns:a16="http://schemas.microsoft.com/office/drawing/2014/main" id="{98834909-9B04-45C7-8250-FD470CD6EC17}"/>
              </a:ext>
            </a:extLst>
          </p:cNvPr>
          <p:cNvSpPr/>
          <p:nvPr/>
        </p:nvSpPr>
        <p:spPr>
          <a:xfrm>
            <a:off x="4040002" y="749779"/>
            <a:ext cx="797797" cy="499848"/>
          </a:xfrm>
          <a:prstGeom prst="round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091" dirty="0">
                <a:solidFill>
                  <a:srgbClr val="000000"/>
                </a:solidFill>
                <a:latin typeface="Calibri" panose="020F0502020204030204"/>
              </a:rPr>
              <a:t>Treasury</a:t>
            </a:r>
          </a:p>
        </p:txBody>
      </p:sp>
      <p:sp>
        <p:nvSpPr>
          <p:cNvPr id="116" name="Oval 115">
            <a:extLst>
              <a:ext uri="{FF2B5EF4-FFF2-40B4-BE49-F238E27FC236}">
                <a16:creationId xmlns:a16="http://schemas.microsoft.com/office/drawing/2014/main" id="{BB82BF38-D5ED-46A0-9E40-C60C8F608A7C}"/>
              </a:ext>
            </a:extLst>
          </p:cNvPr>
          <p:cNvSpPr/>
          <p:nvPr/>
        </p:nvSpPr>
        <p:spPr>
          <a:xfrm>
            <a:off x="8861124" y="6269966"/>
            <a:ext cx="292608" cy="2584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933" b="1" dirty="0">
                <a:solidFill>
                  <a:srgbClr val="FFFFFF"/>
                </a:solidFill>
                <a:latin typeface="Calibri" panose="020F0502020204030204"/>
              </a:rPr>
              <a:t>7</a:t>
            </a:r>
          </a:p>
        </p:txBody>
      </p:sp>
      <p:sp>
        <p:nvSpPr>
          <p:cNvPr id="117" name="TextBox 116">
            <a:extLst>
              <a:ext uri="{FF2B5EF4-FFF2-40B4-BE49-F238E27FC236}">
                <a16:creationId xmlns:a16="http://schemas.microsoft.com/office/drawing/2014/main" id="{EC257066-9E0B-46A0-8323-C805F0179CF0}"/>
              </a:ext>
            </a:extLst>
          </p:cNvPr>
          <p:cNvSpPr txBox="1"/>
          <p:nvPr/>
        </p:nvSpPr>
        <p:spPr>
          <a:xfrm>
            <a:off x="9116386" y="6271549"/>
            <a:ext cx="1774661" cy="235898"/>
          </a:xfrm>
          <a:prstGeom prst="rect">
            <a:avLst/>
          </a:prstGeom>
          <a:noFill/>
        </p:spPr>
        <p:txBody>
          <a:bodyPr wrap="square" rtlCol="0">
            <a:spAutoFit/>
          </a:bodyPr>
          <a:lstStyle/>
          <a:p>
            <a:pPr defTabSz="554019"/>
            <a:r>
              <a:rPr lang="en-US" sz="933" b="1" dirty="0">
                <a:solidFill>
                  <a:srgbClr val="0070C0"/>
                </a:solidFill>
                <a:latin typeface="Calibri" panose="020F0502020204030204"/>
              </a:rPr>
              <a:t>Regulatory Reporting</a:t>
            </a:r>
          </a:p>
        </p:txBody>
      </p:sp>
      <p:sp>
        <p:nvSpPr>
          <p:cNvPr id="118" name="Oval 117">
            <a:extLst>
              <a:ext uri="{FF2B5EF4-FFF2-40B4-BE49-F238E27FC236}">
                <a16:creationId xmlns:a16="http://schemas.microsoft.com/office/drawing/2014/main" id="{E7033E98-F305-4649-A342-73021F7D959B}"/>
              </a:ext>
            </a:extLst>
          </p:cNvPr>
          <p:cNvSpPr/>
          <p:nvPr/>
        </p:nvSpPr>
        <p:spPr>
          <a:xfrm>
            <a:off x="8870896" y="6547562"/>
            <a:ext cx="292608" cy="28448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933" b="1" dirty="0">
                <a:solidFill>
                  <a:srgbClr val="FFFFFF"/>
                </a:solidFill>
                <a:latin typeface="Calibri" panose="020F0502020204030204"/>
              </a:rPr>
              <a:t>8</a:t>
            </a:r>
          </a:p>
        </p:txBody>
      </p:sp>
      <p:sp>
        <p:nvSpPr>
          <p:cNvPr id="119" name="TextBox 118">
            <a:extLst>
              <a:ext uri="{FF2B5EF4-FFF2-40B4-BE49-F238E27FC236}">
                <a16:creationId xmlns:a16="http://schemas.microsoft.com/office/drawing/2014/main" id="{8149F8EC-8AE1-4EDB-B9B9-B29AAC0CD4F3}"/>
              </a:ext>
            </a:extLst>
          </p:cNvPr>
          <p:cNvSpPr txBox="1"/>
          <p:nvPr/>
        </p:nvSpPr>
        <p:spPr>
          <a:xfrm>
            <a:off x="9121243" y="6526794"/>
            <a:ext cx="2153923" cy="235898"/>
          </a:xfrm>
          <a:prstGeom prst="rect">
            <a:avLst/>
          </a:prstGeom>
          <a:noFill/>
        </p:spPr>
        <p:txBody>
          <a:bodyPr wrap="square" rtlCol="0">
            <a:spAutoFit/>
          </a:bodyPr>
          <a:lstStyle/>
          <a:p>
            <a:pPr defTabSz="554019"/>
            <a:r>
              <a:rPr lang="en-US" sz="933" b="1" dirty="0" err="1">
                <a:solidFill>
                  <a:srgbClr val="0070C0"/>
                </a:solidFill>
                <a:latin typeface="Calibri" panose="020F0502020204030204"/>
              </a:rPr>
              <a:t>Mgmt</a:t>
            </a:r>
            <a:r>
              <a:rPr lang="en-US" sz="933" b="1" dirty="0">
                <a:solidFill>
                  <a:srgbClr val="0070C0"/>
                </a:solidFill>
                <a:latin typeface="Calibri" panose="020F0502020204030204"/>
              </a:rPr>
              <a:t> / dealer reporting / workflow</a:t>
            </a:r>
          </a:p>
        </p:txBody>
      </p:sp>
      <p:sp>
        <p:nvSpPr>
          <p:cNvPr id="120" name="Rectangle: Rounded Corners 119">
            <a:extLst>
              <a:ext uri="{FF2B5EF4-FFF2-40B4-BE49-F238E27FC236}">
                <a16:creationId xmlns:a16="http://schemas.microsoft.com/office/drawing/2014/main" id="{7D63932F-20F6-4F16-A212-D2720D3389D5}"/>
              </a:ext>
            </a:extLst>
          </p:cNvPr>
          <p:cNvSpPr/>
          <p:nvPr/>
        </p:nvSpPr>
        <p:spPr>
          <a:xfrm>
            <a:off x="336511" y="5494520"/>
            <a:ext cx="5520539" cy="940392"/>
          </a:xfrm>
          <a:prstGeom prst="roundRect">
            <a:avLst/>
          </a:prstGeom>
          <a:solidFill>
            <a:schemeClr val="accent2">
              <a:lumMod val="40000"/>
              <a:lumOff val="6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endParaRPr lang="en-US" sz="1091" dirty="0">
              <a:solidFill>
                <a:srgbClr val="FFFFFF"/>
              </a:solidFill>
              <a:latin typeface="Calibri" panose="020F0502020204030204"/>
            </a:endParaRPr>
          </a:p>
        </p:txBody>
      </p:sp>
      <p:sp>
        <p:nvSpPr>
          <p:cNvPr id="121" name="Rectangle 120">
            <a:extLst>
              <a:ext uri="{FF2B5EF4-FFF2-40B4-BE49-F238E27FC236}">
                <a16:creationId xmlns:a16="http://schemas.microsoft.com/office/drawing/2014/main" id="{D1FB817B-19DF-49A4-B854-5952A1409107}"/>
              </a:ext>
            </a:extLst>
          </p:cNvPr>
          <p:cNvSpPr/>
          <p:nvPr/>
        </p:nvSpPr>
        <p:spPr>
          <a:xfrm>
            <a:off x="434531" y="5590847"/>
            <a:ext cx="1340608" cy="712288"/>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091" dirty="0">
                <a:solidFill>
                  <a:srgbClr val="000000"/>
                </a:solidFill>
                <a:latin typeface="Calibri" panose="020F0502020204030204"/>
              </a:rPr>
              <a:t>Broker dashboard</a:t>
            </a:r>
          </a:p>
          <a:p>
            <a:pPr algn="ctr" defTabSz="554019"/>
            <a:r>
              <a:rPr lang="en-US" sz="1091" dirty="0">
                <a:solidFill>
                  <a:srgbClr val="000000"/>
                </a:solidFill>
                <a:latin typeface="Calibri" panose="020F0502020204030204"/>
              </a:rPr>
              <a:t>(live P&amp;L, exposure, limit </a:t>
            </a:r>
            <a:r>
              <a:rPr lang="en-US" sz="1091" dirty="0" err="1">
                <a:solidFill>
                  <a:srgbClr val="000000"/>
                </a:solidFill>
                <a:latin typeface="Calibri" panose="020F0502020204030204"/>
              </a:rPr>
              <a:t>utlization</a:t>
            </a:r>
            <a:r>
              <a:rPr lang="en-US" sz="1091" dirty="0">
                <a:solidFill>
                  <a:srgbClr val="000000"/>
                </a:solidFill>
                <a:latin typeface="Calibri" panose="020F0502020204030204"/>
              </a:rPr>
              <a:t>)</a:t>
            </a:r>
          </a:p>
        </p:txBody>
      </p:sp>
      <p:sp>
        <p:nvSpPr>
          <p:cNvPr id="122" name="Rectangle 121">
            <a:extLst>
              <a:ext uri="{FF2B5EF4-FFF2-40B4-BE49-F238E27FC236}">
                <a16:creationId xmlns:a16="http://schemas.microsoft.com/office/drawing/2014/main" id="{A21F231F-4B4D-4B45-A602-A66432F81796}"/>
              </a:ext>
            </a:extLst>
          </p:cNvPr>
          <p:cNvSpPr/>
          <p:nvPr/>
        </p:nvSpPr>
        <p:spPr>
          <a:xfrm>
            <a:off x="1846697" y="5590845"/>
            <a:ext cx="1414260" cy="712288"/>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091" dirty="0">
                <a:solidFill>
                  <a:srgbClr val="000000"/>
                </a:solidFill>
                <a:latin typeface="Calibri" panose="020F0502020204030204"/>
              </a:rPr>
              <a:t>Margin call</a:t>
            </a:r>
          </a:p>
          <a:p>
            <a:pPr algn="ctr" defTabSz="554019"/>
            <a:r>
              <a:rPr lang="en-US" sz="1091" dirty="0">
                <a:solidFill>
                  <a:srgbClr val="000000"/>
                </a:solidFill>
                <a:latin typeface="Calibri" panose="020F0502020204030204"/>
              </a:rPr>
              <a:t>(call issuance, tracking, collateral substitution)</a:t>
            </a:r>
          </a:p>
        </p:txBody>
      </p:sp>
      <p:sp>
        <p:nvSpPr>
          <p:cNvPr id="123" name="Rectangle 122">
            <a:extLst>
              <a:ext uri="{FF2B5EF4-FFF2-40B4-BE49-F238E27FC236}">
                <a16:creationId xmlns:a16="http://schemas.microsoft.com/office/drawing/2014/main" id="{6C5DB4D8-FDD7-4586-8E57-0B72BA799079}"/>
              </a:ext>
            </a:extLst>
          </p:cNvPr>
          <p:cNvSpPr/>
          <p:nvPr/>
        </p:nvSpPr>
        <p:spPr>
          <a:xfrm>
            <a:off x="3329230" y="5590845"/>
            <a:ext cx="1174839" cy="712288"/>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091" dirty="0">
                <a:solidFill>
                  <a:srgbClr val="000000"/>
                </a:solidFill>
                <a:latin typeface="Calibri" panose="020F0502020204030204"/>
              </a:rPr>
              <a:t>Alerts &amp; escalation</a:t>
            </a:r>
          </a:p>
          <a:p>
            <a:pPr algn="ctr" defTabSz="554019"/>
            <a:r>
              <a:rPr lang="en-US" sz="1091" dirty="0">
                <a:solidFill>
                  <a:srgbClr val="000000"/>
                </a:solidFill>
                <a:latin typeface="Calibri" panose="020F0502020204030204"/>
              </a:rPr>
              <a:t>(warn, breach, block)</a:t>
            </a:r>
          </a:p>
        </p:txBody>
      </p:sp>
      <p:sp>
        <p:nvSpPr>
          <p:cNvPr id="124" name="Rectangle 123">
            <a:extLst>
              <a:ext uri="{FF2B5EF4-FFF2-40B4-BE49-F238E27FC236}">
                <a16:creationId xmlns:a16="http://schemas.microsoft.com/office/drawing/2014/main" id="{7C6DD925-397A-4A73-829B-BEC6476AB13E}"/>
              </a:ext>
            </a:extLst>
          </p:cNvPr>
          <p:cNvSpPr/>
          <p:nvPr/>
        </p:nvSpPr>
        <p:spPr>
          <a:xfrm>
            <a:off x="4568409" y="5590844"/>
            <a:ext cx="1174839" cy="712288"/>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091" dirty="0" err="1">
                <a:solidFill>
                  <a:srgbClr val="000000"/>
                </a:solidFill>
                <a:latin typeface="Calibri" panose="020F0502020204030204"/>
              </a:rPr>
              <a:t>Mgmt</a:t>
            </a:r>
            <a:r>
              <a:rPr lang="en-US" sz="1091" dirty="0">
                <a:solidFill>
                  <a:srgbClr val="000000"/>
                </a:solidFill>
                <a:latin typeface="Calibri" panose="020F0502020204030204"/>
              </a:rPr>
              <a:t> reports</a:t>
            </a:r>
          </a:p>
          <a:p>
            <a:pPr algn="ctr" defTabSz="554019"/>
            <a:r>
              <a:rPr lang="en-US" sz="1091" dirty="0">
                <a:solidFill>
                  <a:srgbClr val="000000"/>
                </a:solidFill>
                <a:latin typeface="Calibri" panose="020F0502020204030204"/>
              </a:rPr>
              <a:t>(Board reporting, aggregate risk)</a:t>
            </a:r>
          </a:p>
        </p:txBody>
      </p:sp>
      <p:sp>
        <p:nvSpPr>
          <p:cNvPr id="125" name="Oval 124">
            <a:extLst>
              <a:ext uri="{FF2B5EF4-FFF2-40B4-BE49-F238E27FC236}">
                <a16:creationId xmlns:a16="http://schemas.microsoft.com/office/drawing/2014/main" id="{764F39FA-31CB-4ABC-84BF-7DBBD31E6520}"/>
              </a:ext>
            </a:extLst>
          </p:cNvPr>
          <p:cNvSpPr/>
          <p:nvPr/>
        </p:nvSpPr>
        <p:spPr>
          <a:xfrm>
            <a:off x="13497" y="5344130"/>
            <a:ext cx="360881" cy="33161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091" b="1" dirty="0">
                <a:solidFill>
                  <a:srgbClr val="FFFFFF"/>
                </a:solidFill>
                <a:latin typeface="Calibri" panose="020F0502020204030204"/>
              </a:rPr>
              <a:t>8</a:t>
            </a:r>
          </a:p>
        </p:txBody>
      </p:sp>
      <p:sp>
        <p:nvSpPr>
          <p:cNvPr id="126" name="Rectangle 125">
            <a:extLst>
              <a:ext uri="{FF2B5EF4-FFF2-40B4-BE49-F238E27FC236}">
                <a16:creationId xmlns:a16="http://schemas.microsoft.com/office/drawing/2014/main" id="{BBE27828-D91E-43F4-9C5A-7548A882BA4F}"/>
              </a:ext>
            </a:extLst>
          </p:cNvPr>
          <p:cNvSpPr/>
          <p:nvPr/>
        </p:nvSpPr>
        <p:spPr>
          <a:xfrm>
            <a:off x="0" y="5374235"/>
            <a:ext cx="6914117" cy="1152560"/>
          </a:xfrm>
          <a:prstGeom prst="rect">
            <a:avLst/>
          </a:prstGeom>
          <a:noFill/>
          <a:ln>
            <a:prstDash val="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endParaRPr lang="en-US" sz="1091">
              <a:solidFill>
                <a:srgbClr val="FFFFFF"/>
              </a:solidFill>
              <a:latin typeface="Calibri" panose="020F0502020204030204"/>
            </a:endParaRPr>
          </a:p>
        </p:txBody>
      </p:sp>
      <p:sp>
        <p:nvSpPr>
          <p:cNvPr id="128" name="Rectangle: Rounded Corners 127">
            <a:extLst>
              <a:ext uri="{FF2B5EF4-FFF2-40B4-BE49-F238E27FC236}">
                <a16:creationId xmlns:a16="http://schemas.microsoft.com/office/drawing/2014/main" id="{27E2F7E8-40F0-455F-B406-F2C10D74D729}"/>
              </a:ext>
            </a:extLst>
          </p:cNvPr>
          <p:cNvSpPr/>
          <p:nvPr/>
        </p:nvSpPr>
        <p:spPr>
          <a:xfrm>
            <a:off x="4934971" y="758780"/>
            <a:ext cx="797797" cy="499848"/>
          </a:xfrm>
          <a:prstGeom prst="round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091" dirty="0">
                <a:solidFill>
                  <a:srgbClr val="000000"/>
                </a:solidFill>
                <a:latin typeface="Calibri" panose="020F0502020204030204"/>
              </a:rPr>
              <a:t>General ledger</a:t>
            </a:r>
          </a:p>
        </p:txBody>
      </p:sp>
      <p:cxnSp>
        <p:nvCxnSpPr>
          <p:cNvPr id="22" name="Connector: Elbow 21">
            <a:extLst>
              <a:ext uri="{FF2B5EF4-FFF2-40B4-BE49-F238E27FC236}">
                <a16:creationId xmlns:a16="http://schemas.microsoft.com/office/drawing/2014/main" id="{AA981EC0-29B8-484F-85BF-B7BB79A7332B}"/>
              </a:ext>
            </a:extLst>
          </p:cNvPr>
          <p:cNvCxnSpPr>
            <a:stCxn id="58" idx="2"/>
            <a:endCxn id="73" idx="0"/>
          </p:cNvCxnSpPr>
          <p:nvPr/>
        </p:nvCxnSpPr>
        <p:spPr>
          <a:xfrm rot="5400000">
            <a:off x="2960622" y="4205823"/>
            <a:ext cx="277181" cy="1624"/>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3" name="Connector: Elbow 42">
            <a:extLst>
              <a:ext uri="{FF2B5EF4-FFF2-40B4-BE49-F238E27FC236}">
                <a16:creationId xmlns:a16="http://schemas.microsoft.com/office/drawing/2014/main" id="{4B34EEE3-2B05-4C2C-A284-D20A3907DDD2}"/>
              </a:ext>
            </a:extLst>
          </p:cNvPr>
          <p:cNvCxnSpPr>
            <a:stCxn id="73" idx="3"/>
            <a:endCxn id="106" idx="1"/>
          </p:cNvCxnSpPr>
          <p:nvPr/>
        </p:nvCxnSpPr>
        <p:spPr>
          <a:xfrm flipV="1">
            <a:off x="5858670" y="4813397"/>
            <a:ext cx="339753" cy="2025"/>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49" name="Connector: Elbow 48">
            <a:extLst>
              <a:ext uri="{FF2B5EF4-FFF2-40B4-BE49-F238E27FC236}">
                <a16:creationId xmlns:a16="http://schemas.microsoft.com/office/drawing/2014/main" id="{7CF0FD54-FBD6-4A46-A987-1B314B05CC9E}"/>
              </a:ext>
            </a:extLst>
          </p:cNvPr>
          <p:cNvCxnSpPr>
            <a:stCxn id="73" idx="2"/>
            <a:endCxn id="120" idx="0"/>
          </p:cNvCxnSpPr>
          <p:nvPr/>
        </p:nvCxnSpPr>
        <p:spPr>
          <a:xfrm rot="5400000">
            <a:off x="2993141" y="5389259"/>
            <a:ext cx="208903" cy="1620"/>
          </a:xfrm>
          <a:prstGeom prst="bentConnector3">
            <a:avLst/>
          </a:prstGeom>
          <a:ln>
            <a:tailEnd type="triangle"/>
          </a:ln>
        </p:spPr>
        <p:style>
          <a:lnRef idx="2">
            <a:schemeClr val="accent1"/>
          </a:lnRef>
          <a:fillRef idx="0">
            <a:schemeClr val="accent1"/>
          </a:fillRef>
          <a:effectRef idx="1">
            <a:schemeClr val="accent1"/>
          </a:effectRef>
          <a:fontRef idx="minor">
            <a:schemeClr val="tx1"/>
          </a:fontRef>
        </p:style>
      </p:cxnSp>
      <p:sp>
        <p:nvSpPr>
          <p:cNvPr id="94" name="TextBox 93">
            <a:extLst>
              <a:ext uri="{FF2B5EF4-FFF2-40B4-BE49-F238E27FC236}">
                <a16:creationId xmlns:a16="http://schemas.microsoft.com/office/drawing/2014/main" id="{35C4E62D-B735-47C0-9757-0364CCF93543}"/>
              </a:ext>
            </a:extLst>
          </p:cNvPr>
          <p:cNvSpPr txBox="1"/>
          <p:nvPr/>
        </p:nvSpPr>
        <p:spPr>
          <a:xfrm>
            <a:off x="6195183" y="5403295"/>
            <a:ext cx="681109" cy="763799"/>
          </a:xfrm>
          <a:prstGeom prst="rect">
            <a:avLst/>
          </a:prstGeom>
          <a:noFill/>
        </p:spPr>
        <p:txBody>
          <a:bodyPr wrap="square" rtlCol="0">
            <a:spAutoFit/>
          </a:bodyPr>
          <a:lstStyle/>
          <a:p>
            <a:pPr defTabSz="554019"/>
            <a:r>
              <a:rPr lang="en-US" sz="1091" dirty="0" err="1">
                <a:solidFill>
                  <a:srgbClr val="000000"/>
                </a:solidFill>
                <a:latin typeface="Calibri" panose="020F0502020204030204"/>
              </a:rPr>
              <a:t>Mili</a:t>
            </a:r>
            <a:r>
              <a:rPr lang="en-US" sz="1091" dirty="0">
                <a:solidFill>
                  <a:srgbClr val="000000"/>
                </a:solidFill>
                <a:latin typeface="Calibri" panose="020F0502020204030204"/>
              </a:rPr>
              <a:t>-second response</a:t>
            </a:r>
          </a:p>
        </p:txBody>
      </p:sp>
      <p:cxnSp>
        <p:nvCxnSpPr>
          <p:cNvPr id="95" name="Straight Arrow Connector 94">
            <a:extLst>
              <a:ext uri="{FF2B5EF4-FFF2-40B4-BE49-F238E27FC236}">
                <a16:creationId xmlns:a16="http://schemas.microsoft.com/office/drawing/2014/main" id="{222C2560-9CDB-4392-B6C9-BC963987AACC}"/>
              </a:ext>
            </a:extLst>
          </p:cNvPr>
          <p:cNvCxnSpPr>
            <a:cxnSpLocks/>
          </p:cNvCxnSpPr>
          <p:nvPr/>
        </p:nvCxnSpPr>
        <p:spPr>
          <a:xfrm flipH="1" flipV="1">
            <a:off x="3129283" y="5403297"/>
            <a:ext cx="3197565" cy="89591"/>
          </a:xfrm>
          <a:prstGeom prst="straightConnector1">
            <a:avLst/>
          </a:prstGeom>
          <a:ln w="635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9" name="Rectangle 98">
            <a:extLst>
              <a:ext uri="{FF2B5EF4-FFF2-40B4-BE49-F238E27FC236}">
                <a16:creationId xmlns:a16="http://schemas.microsoft.com/office/drawing/2014/main" id="{2A264993-93C0-429D-9FB4-BEDDC025400F}"/>
              </a:ext>
            </a:extLst>
          </p:cNvPr>
          <p:cNvSpPr/>
          <p:nvPr/>
        </p:nvSpPr>
        <p:spPr>
          <a:xfrm>
            <a:off x="4653859" y="2066737"/>
            <a:ext cx="1061517" cy="704296"/>
          </a:xfrm>
          <a:prstGeom prst="rect">
            <a:avLst/>
          </a:prstGeom>
          <a:solidFill>
            <a:srgbClr val="FFFFFF"/>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091" dirty="0">
                <a:solidFill>
                  <a:srgbClr val="000000"/>
                </a:solidFill>
                <a:latin typeface="Calibri" panose="020F0502020204030204"/>
              </a:rPr>
              <a:t>Balances</a:t>
            </a:r>
          </a:p>
          <a:p>
            <a:pPr algn="ctr" defTabSz="554019"/>
            <a:r>
              <a:rPr lang="en-US" sz="1091" dirty="0">
                <a:solidFill>
                  <a:srgbClr val="000000"/>
                </a:solidFill>
                <a:latin typeface="Calibri" panose="020F0502020204030204"/>
              </a:rPr>
              <a:t>(liquidity, GL balance)</a:t>
            </a:r>
          </a:p>
        </p:txBody>
      </p:sp>
    </p:spTree>
    <p:extLst>
      <p:ext uri="{BB962C8B-B14F-4D97-AF65-F5344CB8AC3E}">
        <p14:creationId xmlns:p14="http://schemas.microsoft.com/office/powerpoint/2010/main" val="230832386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3E7D72-840A-9BD9-622E-42DAFE973E5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2DE7483C-C37F-8106-ABC8-6AF4C6D799DC}"/>
              </a:ext>
            </a:extLst>
          </p:cNvPr>
          <p:cNvSpPr>
            <a:spLocks noGrp="1"/>
          </p:cNvSpPr>
          <p:nvPr>
            <p:ph type="title"/>
          </p:nvPr>
        </p:nvSpPr>
        <p:spPr>
          <a:xfrm>
            <a:off x="257326" y="17097"/>
            <a:ext cx="10514927" cy="499848"/>
          </a:xfrm>
        </p:spPr>
        <p:txBody>
          <a:bodyPr/>
          <a:lstStyle/>
          <a:p>
            <a:r>
              <a:rPr lang="en-IN" dirty="0"/>
              <a:t>Functional layers</a:t>
            </a:r>
            <a:endParaRPr lang="en-IN" dirty="0">
              <a:ea typeface="Calibri"/>
              <a:cs typeface="Calibri"/>
            </a:endParaRPr>
          </a:p>
        </p:txBody>
      </p:sp>
      <p:sp>
        <p:nvSpPr>
          <p:cNvPr id="2" name="Footer Placeholder 1">
            <a:extLst>
              <a:ext uri="{FF2B5EF4-FFF2-40B4-BE49-F238E27FC236}">
                <a16:creationId xmlns:a16="http://schemas.microsoft.com/office/drawing/2014/main" id="{5FF426A8-721E-04A6-AA99-8FE0EE1DF37B}"/>
              </a:ext>
            </a:extLst>
          </p:cNvPr>
          <p:cNvSpPr>
            <a:spLocks noGrp="1"/>
          </p:cNvSpPr>
          <p:nvPr>
            <p:ph type="ftr" sz="quarter" idx="11"/>
          </p:nvPr>
        </p:nvSpPr>
        <p:spPr/>
        <p:txBody>
          <a:bodyPr/>
          <a:lstStyle/>
          <a:p>
            <a:pPr defTabSz="554019"/>
            <a:endParaRPr lang="en-US">
              <a:solidFill>
                <a:srgbClr val="000000"/>
              </a:solidFill>
              <a:latin typeface="Calibri" panose="020F0502020204030204"/>
            </a:endParaRPr>
          </a:p>
        </p:txBody>
      </p:sp>
      <p:sp>
        <p:nvSpPr>
          <p:cNvPr id="5" name="Oval 4">
            <a:extLst>
              <a:ext uri="{FF2B5EF4-FFF2-40B4-BE49-F238E27FC236}">
                <a16:creationId xmlns:a16="http://schemas.microsoft.com/office/drawing/2014/main" id="{44E9ADF7-4988-49F0-B7FC-1806F728F220}"/>
              </a:ext>
            </a:extLst>
          </p:cNvPr>
          <p:cNvSpPr/>
          <p:nvPr/>
        </p:nvSpPr>
        <p:spPr>
          <a:xfrm>
            <a:off x="359257" y="604035"/>
            <a:ext cx="292608" cy="28502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200" b="1" dirty="0">
                <a:solidFill>
                  <a:srgbClr val="FFFFFF"/>
                </a:solidFill>
                <a:latin typeface="Calibri" panose="020F0502020204030204"/>
              </a:rPr>
              <a:t>1</a:t>
            </a:r>
          </a:p>
        </p:txBody>
      </p:sp>
      <p:sp>
        <p:nvSpPr>
          <p:cNvPr id="6" name="TextBox 5">
            <a:extLst>
              <a:ext uri="{FF2B5EF4-FFF2-40B4-BE49-F238E27FC236}">
                <a16:creationId xmlns:a16="http://schemas.microsoft.com/office/drawing/2014/main" id="{EB959187-693E-475F-B373-F6724B654697}"/>
              </a:ext>
            </a:extLst>
          </p:cNvPr>
          <p:cNvSpPr txBox="1"/>
          <p:nvPr/>
        </p:nvSpPr>
        <p:spPr>
          <a:xfrm>
            <a:off x="687606" y="604036"/>
            <a:ext cx="2743183" cy="276999"/>
          </a:xfrm>
          <a:prstGeom prst="rect">
            <a:avLst/>
          </a:prstGeom>
          <a:noFill/>
        </p:spPr>
        <p:txBody>
          <a:bodyPr wrap="square" rtlCol="0">
            <a:spAutoFit/>
          </a:bodyPr>
          <a:lstStyle/>
          <a:p>
            <a:pPr defTabSz="554019"/>
            <a:r>
              <a:rPr lang="en-US" sz="1200" b="1" dirty="0">
                <a:solidFill>
                  <a:srgbClr val="0070C0"/>
                </a:solidFill>
                <a:latin typeface="Calibri" panose="020F0502020204030204"/>
              </a:rPr>
              <a:t>Data sources – external &amp; internal</a:t>
            </a:r>
          </a:p>
        </p:txBody>
      </p:sp>
      <p:sp>
        <p:nvSpPr>
          <p:cNvPr id="7" name="Oval 6">
            <a:extLst>
              <a:ext uri="{FF2B5EF4-FFF2-40B4-BE49-F238E27FC236}">
                <a16:creationId xmlns:a16="http://schemas.microsoft.com/office/drawing/2014/main" id="{23280BC7-7D6F-4F7C-A08C-138C7B1BF955}"/>
              </a:ext>
            </a:extLst>
          </p:cNvPr>
          <p:cNvSpPr/>
          <p:nvPr/>
        </p:nvSpPr>
        <p:spPr>
          <a:xfrm>
            <a:off x="4125762" y="625165"/>
            <a:ext cx="274743" cy="28448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200" b="1" dirty="0">
                <a:solidFill>
                  <a:srgbClr val="FFFFFF"/>
                </a:solidFill>
                <a:latin typeface="Calibri" panose="020F0502020204030204"/>
              </a:rPr>
              <a:t>2</a:t>
            </a:r>
          </a:p>
        </p:txBody>
      </p:sp>
      <p:sp>
        <p:nvSpPr>
          <p:cNvPr id="8" name="TextBox 7">
            <a:extLst>
              <a:ext uri="{FF2B5EF4-FFF2-40B4-BE49-F238E27FC236}">
                <a16:creationId xmlns:a16="http://schemas.microsoft.com/office/drawing/2014/main" id="{613A2308-348D-4DD0-B1EB-1C59A1C73556}"/>
              </a:ext>
            </a:extLst>
          </p:cNvPr>
          <p:cNvSpPr txBox="1"/>
          <p:nvPr/>
        </p:nvSpPr>
        <p:spPr>
          <a:xfrm>
            <a:off x="4436245" y="604036"/>
            <a:ext cx="2761912" cy="276999"/>
          </a:xfrm>
          <a:prstGeom prst="rect">
            <a:avLst/>
          </a:prstGeom>
          <a:noFill/>
        </p:spPr>
        <p:txBody>
          <a:bodyPr wrap="square" rtlCol="0">
            <a:spAutoFit/>
          </a:bodyPr>
          <a:lstStyle/>
          <a:p>
            <a:pPr defTabSz="554019"/>
            <a:r>
              <a:rPr lang="en-US" sz="1200" b="1" dirty="0">
                <a:solidFill>
                  <a:srgbClr val="0070C0"/>
                </a:solidFill>
                <a:latin typeface="Calibri" panose="020F0502020204030204"/>
              </a:rPr>
              <a:t>Data Integration &amp; normalization layer</a:t>
            </a:r>
          </a:p>
        </p:txBody>
      </p:sp>
      <p:sp>
        <p:nvSpPr>
          <p:cNvPr id="9" name="Oval 8">
            <a:extLst>
              <a:ext uri="{FF2B5EF4-FFF2-40B4-BE49-F238E27FC236}">
                <a16:creationId xmlns:a16="http://schemas.microsoft.com/office/drawing/2014/main" id="{424B3202-EDBE-467D-8F9C-D1E8531D57FD}"/>
              </a:ext>
            </a:extLst>
          </p:cNvPr>
          <p:cNvSpPr/>
          <p:nvPr/>
        </p:nvSpPr>
        <p:spPr>
          <a:xfrm>
            <a:off x="8006069" y="603501"/>
            <a:ext cx="292608" cy="2584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200" b="1" dirty="0">
                <a:solidFill>
                  <a:srgbClr val="FFFFFF"/>
                </a:solidFill>
                <a:latin typeface="Calibri" panose="020F0502020204030204"/>
              </a:rPr>
              <a:t>3</a:t>
            </a:r>
          </a:p>
        </p:txBody>
      </p:sp>
      <p:sp>
        <p:nvSpPr>
          <p:cNvPr id="10" name="TextBox 9">
            <a:extLst>
              <a:ext uri="{FF2B5EF4-FFF2-40B4-BE49-F238E27FC236}">
                <a16:creationId xmlns:a16="http://schemas.microsoft.com/office/drawing/2014/main" id="{78EAD42E-F0BC-43B9-9964-6F341EA18444}"/>
              </a:ext>
            </a:extLst>
          </p:cNvPr>
          <p:cNvSpPr txBox="1"/>
          <p:nvPr/>
        </p:nvSpPr>
        <p:spPr>
          <a:xfrm>
            <a:off x="8378370" y="546565"/>
            <a:ext cx="3454372" cy="276999"/>
          </a:xfrm>
          <a:prstGeom prst="rect">
            <a:avLst/>
          </a:prstGeom>
          <a:noFill/>
        </p:spPr>
        <p:txBody>
          <a:bodyPr wrap="square" rtlCol="0">
            <a:spAutoFit/>
          </a:bodyPr>
          <a:lstStyle/>
          <a:p>
            <a:pPr defTabSz="554019"/>
            <a:r>
              <a:rPr lang="en-US" sz="1200" b="1" dirty="0">
                <a:solidFill>
                  <a:srgbClr val="0070C0"/>
                </a:solidFill>
                <a:latin typeface="Calibri" panose="020F0502020204030204"/>
              </a:rPr>
              <a:t>Exposure &amp; intra-day position monitoring</a:t>
            </a:r>
          </a:p>
        </p:txBody>
      </p:sp>
      <p:sp>
        <p:nvSpPr>
          <p:cNvPr id="11" name="Oval 10">
            <a:extLst>
              <a:ext uri="{FF2B5EF4-FFF2-40B4-BE49-F238E27FC236}">
                <a16:creationId xmlns:a16="http://schemas.microsoft.com/office/drawing/2014/main" id="{95E993AD-22D0-4F95-9B44-73283AE8CA8B}"/>
              </a:ext>
            </a:extLst>
          </p:cNvPr>
          <p:cNvSpPr/>
          <p:nvPr/>
        </p:nvSpPr>
        <p:spPr>
          <a:xfrm>
            <a:off x="328352" y="2717260"/>
            <a:ext cx="292609" cy="285027"/>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200" b="1" dirty="0">
                <a:solidFill>
                  <a:srgbClr val="FFFFFF"/>
                </a:solidFill>
                <a:latin typeface="Calibri" panose="020F0502020204030204"/>
              </a:rPr>
              <a:t>4</a:t>
            </a:r>
          </a:p>
        </p:txBody>
      </p:sp>
      <p:sp>
        <p:nvSpPr>
          <p:cNvPr id="12" name="TextBox 11">
            <a:extLst>
              <a:ext uri="{FF2B5EF4-FFF2-40B4-BE49-F238E27FC236}">
                <a16:creationId xmlns:a16="http://schemas.microsoft.com/office/drawing/2014/main" id="{9C1ED2BD-B2E8-44AF-B7B0-2198FE5CCEF5}"/>
              </a:ext>
            </a:extLst>
          </p:cNvPr>
          <p:cNvSpPr txBox="1"/>
          <p:nvPr/>
        </p:nvSpPr>
        <p:spPr>
          <a:xfrm>
            <a:off x="687607" y="2679719"/>
            <a:ext cx="3189427" cy="276999"/>
          </a:xfrm>
          <a:prstGeom prst="rect">
            <a:avLst/>
          </a:prstGeom>
          <a:noFill/>
        </p:spPr>
        <p:txBody>
          <a:bodyPr wrap="square" rtlCol="0">
            <a:spAutoFit/>
          </a:bodyPr>
          <a:lstStyle/>
          <a:p>
            <a:pPr defTabSz="554019"/>
            <a:r>
              <a:rPr lang="en-US" sz="1200" b="1" dirty="0">
                <a:solidFill>
                  <a:srgbClr val="0070C0"/>
                </a:solidFill>
                <a:latin typeface="Calibri" panose="020F0502020204030204"/>
              </a:rPr>
              <a:t>Risk calculation engines</a:t>
            </a:r>
          </a:p>
        </p:txBody>
      </p:sp>
      <p:sp>
        <p:nvSpPr>
          <p:cNvPr id="13" name="Oval 12">
            <a:extLst>
              <a:ext uri="{FF2B5EF4-FFF2-40B4-BE49-F238E27FC236}">
                <a16:creationId xmlns:a16="http://schemas.microsoft.com/office/drawing/2014/main" id="{F731DA40-3D27-4137-A785-9CD47D363E53}"/>
              </a:ext>
            </a:extLst>
          </p:cNvPr>
          <p:cNvSpPr/>
          <p:nvPr/>
        </p:nvSpPr>
        <p:spPr>
          <a:xfrm>
            <a:off x="4127381" y="2672506"/>
            <a:ext cx="284507" cy="266740"/>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200" b="1" dirty="0">
                <a:solidFill>
                  <a:srgbClr val="FFFFFF"/>
                </a:solidFill>
                <a:latin typeface="Calibri" panose="020F0502020204030204"/>
              </a:rPr>
              <a:t>5</a:t>
            </a:r>
          </a:p>
        </p:txBody>
      </p:sp>
      <p:sp>
        <p:nvSpPr>
          <p:cNvPr id="14" name="TextBox 13">
            <a:extLst>
              <a:ext uri="{FF2B5EF4-FFF2-40B4-BE49-F238E27FC236}">
                <a16:creationId xmlns:a16="http://schemas.microsoft.com/office/drawing/2014/main" id="{147BB817-14C0-47A1-8681-62C5848AF7F6}"/>
              </a:ext>
            </a:extLst>
          </p:cNvPr>
          <p:cNvSpPr txBox="1"/>
          <p:nvPr/>
        </p:nvSpPr>
        <p:spPr>
          <a:xfrm>
            <a:off x="4400504" y="2635111"/>
            <a:ext cx="3189427" cy="276999"/>
          </a:xfrm>
          <a:prstGeom prst="rect">
            <a:avLst/>
          </a:prstGeom>
          <a:noFill/>
        </p:spPr>
        <p:txBody>
          <a:bodyPr wrap="square" rtlCol="0">
            <a:spAutoFit/>
          </a:bodyPr>
          <a:lstStyle/>
          <a:p>
            <a:pPr defTabSz="554019"/>
            <a:r>
              <a:rPr lang="en-US" sz="1200" b="1" dirty="0">
                <a:solidFill>
                  <a:srgbClr val="0070C0"/>
                </a:solidFill>
                <a:latin typeface="Calibri" panose="020F0502020204030204"/>
              </a:rPr>
              <a:t>Stress Testing &amp; scenario analysis</a:t>
            </a:r>
          </a:p>
        </p:txBody>
      </p:sp>
      <p:sp>
        <p:nvSpPr>
          <p:cNvPr id="15" name="Oval 14">
            <a:extLst>
              <a:ext uri="{FF2B5EF4-FFF2-40B4-BE49-F238E27FC236}">
                <a16:creationId xmlns:a16="http://schemas.microsoft.com/office/drawing/2014/main" id="{33D48D23-3520-4F5C-AA39-42CA27EBF46B}"/>
              </a:ext>
            </a:extLst>
          </p:cNvPr>
          <p:cNvSpPr/>
          <p:nvPr/>
        </p:nvSpPr>
        <p:spPr>
          <a:xfrm>
            <a:off x="8001227" y="2654352"/>
            <a:ext cx="292608" cy="28448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200" b="1" dirty="0">
                <a:solidFill>
                  <a:srgbClr val="FFFFFF"/>
                </a:solidFill>
                <a:latin typeface="Calibri" panose="020F0502020204030204"/>
              </a:rPr>
              <a:t>6</a:t>
            </a:r>
          </a:p>
        </p:txBody>
      </p:sp>
      <p:sp>
        <p:nvSpPr>
          <p:cNvPr id="16" name="TextBox 15">
            <a:extLst>
              <a:ext uri="{FF2B5EF4-FFF2-40B4-BE49-F238E27FC236}">
                <a16:creationId xmlns:a16="http://schemas.microsoft.com/office/drawing/2014/main" id="{6A1F8E67-64BF-4B5F-ADDF-6280E7CADE1D}"/>
              </a:ext>
            </a:extLst>
          </p:cNvPr>
          <p:cNvSpPr txBox="1"/>
          <p:nvPr/>
        </p:nvSpPr>
        <p:spPr>
          <a:xfrm>
            <a:off x="8378370" y="2623830"/>
            <a:ext cx="3277183" cy="276999"/>
          </a:xfrm>
          <a:prstGeom prst="rect">
            <a:avLst/>
          </a:prstGeom>
          <a:noFill/>
        </p:spPr>
        <p:txBody>
          <a:bodyPr wrap="square" rtlCol="0">
            <a:spAutoFit/>
          </a:bodyPr>
          <a:lstStyle/>
          <a:p>
            <a:pPr defTabSz="554019"/>
            <a:r>
              <a:rPr lang="en-US" sz="1200" b="1" dirty="0">
                <a:solidFill>
                  <a:srgbClr val="0070C0"/>
                </a:solidFill>
                <a:latin typeface="Calibri" panose="020F0502020204030204"/>
              </a:rPr>
              <a:t>Pre-trade &amp; eligibility checks</a:t>
            </a:r>
          </a:p>
        </p:txBody>
      </p:sp>
      <p:sp>
        <p:nvSpPr>
          <p:cNvPr id="18" name="Oval 17">
            <a:extLst>
              <a:ext uri="{FF2B5EF4-FFF2-40B4-BE49-F238E27FC236}">
                <a16:creationId xmlns:a16="http://schemas.microsoft.com/office/drawing/2014/main" id="{212299B0-5A8A-43DD-A111-26B9EECD6196}"/>
              </a:ext>
            </a:extLst>
          </p:cNvPr>
          <p:cNvSpPr/>
          <p:nvPr/>
        </p:nvSpPr>
        <p:spPr>
          <a:xfrm>
            <a:off x="2648083" y="4758157"/>
            <a:ext cx="292608" cy="25845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200" b="1" dirty="0">
                <a:solidFill>
                  <a:srgbClr val="FFFFFF"/>
                </a:solidFill>
                <a:latin typeface="Calibri" panose="020F0502020204030204"/>
              </a:rPr>
              <a:t>7</a:t>
            </a:r>
          </a:p>
        </p:txBody>
      </p:sp>
      <p:sp>
        <p:nvSpPr>
          <p:cNvPr id="19" name="TextBox 18">
            <a:extLst>
              <a:ext uri="{FF2B5EF4-FFF2-40B4-BE49-F238E27FC236}">
                <a16:creationId xmlns:a16="http://schemas.microsoft.com/office/drawing/2014/main" id="{90813BE1-8501-4CCE-99E0-14208243F8F4}"/>
              </a:ext>
            </a:extLst>
          </p:cNvPr>
          <p:cNvSpPr txBox="1"/>
          <p:nvPr/>
        </p:nvSpPr>
        <p:spPr>
          <a:xfrm>
            <a:off x="2903344" y="4730481"/>
            <a:ext cx="3543785" cy="276999"/>
          </a:xfrm>
          <a:prstGeom prst="rect">
            <a:avLst/>
          </a:prstGeom>
          <a:noFill/>
        </p:spPr>
        <p:txBody>
          <a:bodyPr wrap="square" rtlCol="0">
            <a:spAutoFit/>
          </a:bodyPr>
          <a:lstStyle/>
          <a:p>
            <a:pPr defTabSz="554019"/>
            <a:r>
              <a:rPr lang="en-US" sz="1200" b="1" dirty="0">
                <a:solidFill>
                  <a:srgbClr val="0070C0"/>
                </a:solidFill>
                <a:latin typeface="Calibri" panose="020F0502020204030204"/>
              </a:rPr>
              <a:t>Regulatory Reporting</a:t>
            </a:r>
          </a:p>
        </p:txBody>
      </p:sp>
      <p:sp>
        <p:nvSpPr>
          <p:cNvPr id="20" name="Oval 19">
            <a:extLst>
              <a:ext uri="{FF2B5EF4-FFF2-40B4-BE49-F238E27FC236}">
                <a16:creationId xmlns:a16="http://schemas.microsoft.com/office/drawing/2014/main" id="{640B7BAE-D631-4680-B19B-26E138FAC4B2}"/>
              </a:ext>
            </a:extLst>
          </p:cNvPr>
          <p:cNvSpPr/>
          <p:nvPr/>
        </p:nvSpPr>
        <p:spPr>
          <a:xfrm>
            <a:off x="7139648" y="4719538"/>
            <a:ext cx="292608" cy="284481"/>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r>
              <a:rPr lang="en-US" sz="1200" b="1" dirty="0">
                <a:solidFill>
                  <a:srgbClr val="FFFFFF"/>
                </a:solidFill>
                <a:latin typeface="Calibri" panose="020F0502020204030204"/>
              </a:rPr>
              <a:t>8</a:t>
            </a:r>
          </a:p>
        </p:txBody>
      </p:sp>
      <p:sp>
        <p:nvSpPr>
          <p:cNvPr id="21" name="TextBox 20">
            <a:extLst>
              <a:ext uri="{FF2B5EF4-FFF2-40B4-BE49-F238E27FC236}">
                <a16:creationId xmlns:a16="http://schemas.microsoft.com/office/drawing/2014/main" id="{8C3D4716-AD27-4355-BCD6-C21570D442A5}"/>
              </a:ext>
            </a:extLst>
          </p:cNvPr>
          <p:cNvSpPr txBox="1"/>
          <p:nvPr/>
        </p:nvSpPr>
        <p:spPr>
          <a:xfrm>
            <a:off x="7429008" y="4669510"/>
            <a:ext cx="4202205" cy="276999"/>
          </a:xfrm>
          <a:prstGeom prst="rect">
            <a:avLst/>
          </a:prstGeom>
          <a:noFill/>
        </p:spPr>
        <p:txBody>
          <a:bodyPr wrap="square" rtlCol="0">
            <a:spAutoFit/>
          </a:bodyPr>
          <a:lstStyle/>
          <a:p>
            <a:pPr defTabSz="554019"/>
            <a:r>
              <a:rPr lang="en-US" sz="1200" b="1" dirty="0">
                <a:solidFill>
                  <a:srgbClr val="0070C0"/>
                </a:solidFill>
                <a:latin typeface="Calibri" panose="020F0502020204030204"/>
              </a:rPr>
              <a:t>Management / dealer reporting / workflow</a:t>
            </a:r>
          </a:p>
        </p:txBody>
      </p:sp>
      <p:sp>
        <p:nvSpPr>
          <p:cNvPr id="3" name="Rectangle 2">
            <a:extLst>
              <a:ext uri="{FF2B5EF4-FFF2-40B4-BE49-F238E27FC236}">
                <a16:creationId xmlns:a16="http://schemas.microsoft.com/office/drawing/2014/main" id="{FC4D23F7-77A2-4349-A732-31C568F5154E}"/>
              </a:ext>
            </a:extLst>
          </p:cNvPr>
          <p:cNvSpPr/>
          <p:nvPr/>
        </p:nvSpPr>
        <p:spPr>
          <a:xfrm>
            <a:off x="477927" y="936347"/>
            <a:ext cx="3189427" cy="1546664"/>
          </a:xfrm>
          <a:prstGeom prst="rect">
            <a:avLst/>
          </a:prstGeom>
          <a:noFill/>
          <a:ln>
            <a:solidFill>
              <a:srgbClr val="EF413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endParaRPr lang="en-US" sz="1091">
              <a:solidFill>
                <a:srgbClr val="FFFFFF"/>
              </a:solidFill>
              <a:latin typeface="Calibri" panose="020F0502020204030204"/>
            </a:endParaRPr>
          </a:p>
        </p:txBody>
      </p:sp>
      <p:sp>
        <p:nvSpPr>
          <p:cNvPr id="22" name="Rectangle 21">
            <a:extLst>
              <a:ext uri="{FF2B5EF4-FFF2-40B4-BE49-F238E27FC236}">
                <a16:creationId xmlns:a16="http://schemas.microsoft.com/office/drawing/2014/main" id="{846299A1-B2B2-45A1-BB73-24645F1302B3}"/>
              </a:ext>
            </a:extLst>
          </p:cNvPr>
          <p:cNvSpPr/>
          <p:nvPr/>
        </p:nvSpPr>
        <p:spPr>
          <a:xfrm>
            <a:off x="4263132" y="951688"/>
            <a:ext cx="3189427" cy="154666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endParaRPr lang="en-US" sz="1091">
              <a:solidFill>
                <a:srgbClr val="FFFFFF"/>
              </a:solidFill>
              <a:latin typeface="Calibri" panose="020F0502020204030204"/>
            </a:endParaRPr>
          </a:p>
        </p:txBody>
      </p:sp>
      <p:sp>
        <p:nvSpPr>
          <p:cNvPr id="23" name="Rectangle 22">
            <a:extLst>
              <a:ext uri="{FF2B5EF4-FFF2-40B4-BE49-F238E27FC236}">
                <a16:creationId xmlns:a16="http://schemas.microsoft.com/office/drawing/2014/main" id="{D0B9246C-1F0C-4A93-9EB5-E0EC74B3BDE9}"/>
              </a:ext>
            </a:extLst>
          </p:cNvPr>
          <p:cNvSpPr/>
          <p:nvPr/>
        </p:nvSpPr>
        <p:spPr>
          <a:xfrm>
            <a:off x="8147531" y="936347"/>
            <a:ext cx="3189427" cy="154666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endParaRPr lang="en-US" sz="1091">
              <a:solidFill>
                <a:srgbClr val="FFFFFF"/>
              </a:solidFill>
              <a:latin typeface="Calibri" panose="020F0502020204030204"/>
            </a:endParaRPr>
          </a:p>
        </p:txBody>
      </p:sp>
      <p:sp>
        <p:nvSpPr>
          <p:cNvPr id="24" name="Rectangle 23">
            <a:extLst>
              <a:ext uri="{FF2B5EF4-FFF2-40B4-BE49-F238E27FC236}">
                <a16:creationId xmlns:a16="http://schemas.microsoft.com/office/drawing/2014/main" id="{88C48F26-01FA-4220-A8BC-98EFD360CBEC}"/>
              </a:ext>
            </a:extLst>
          </p:cNvPr>
          <p:cNvSpPr/>
          <p:nvPr/>
        </p:nvSpPr>
        <p:spPr>
          <a:xfrm>
            <a:off x="477927" y="3031709"/>
            <a:ext cx="3189427" cy="154666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endParaRPr lang="en-US" sz="1091">
              <a:solidFill>
                <a:srgbClr val="FFFFFF"/>
              </a:solidFill>
              <a:latin typeface="Calibri" panose="020F0502020204030204"/>
            </a:endParaRPr>
          </a:p>
        </p:txBody>
      </p:sp>
      <p:sp>
        <p:nvSpPr>
          <p:cNvPr id="25" name="Rectangle 24">
            <a:extLst>
              <a:ext uri="{FF2B5EF4-FFF2-40B4-BE49-F238E27FC236}">
                <a16:creationId xmlns:a16="http://schemas.microsoft.com/office/drawing/2014/main" id="{B7674676-B666-446F-AF42-6A48A9643031}"/>
              </a:ext>
            </a:extLst>
          </p:cNvPr>
          <p:cNvSpPr/>
          <p:nvPr/>
        </p:nvSpPr>
        <p:spPr>
          <a:xfrm>
            <a:off x="4263132" y="3027811"/>
            <a:ext cx="3189427" cy="156590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endParaRPr lang="en-US" sz="1091">
              <a:solidFill>
                <a:srgbClr val="FFFFFF"/>
              </a:solidFill>
              <a:latin typeface="Calibri" panose="020F0502020204030204"/>
            </a:endParaRPr>
          </a:p>
        </p:txBody>
      </p:sp>
      <p:sp>
        <p:nvSpPr>
          <p:cNvPr id="26" name="Rectangle 25">
            <a:extLst>
              <a:ext uri="{FF2B5EF4-FFF2-40B4-BE49-F238E27FC236}">
                <a16:creationId xmlns:a16="http://schemas.microsoft.com/office/drawing/2014/main" id="{F4BA0956-7C03-461A-8C2B-5422181A8D6D}"/>
              </a:ext>
            </a:extLst>
          </p:cNvPr>
          <p:cNvSpPr/>
          <p:nvPr/>
        </p:nvSpPr>
        <p:spPr>
          <a:xfrm>
            <a:off x="8147531" y="3031709"/>
            <a:ext cx="3189427" cy="154666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endParaRPr lang="en-US" sz="1091">
              <a:solidFill>
                <a:srgbClr val="FFFFFF"/>
              </a:solidFill>
              <a:latin typeface="Calibri" panose="020F0502020204030204"/>
            </a:endParaRPr>
          </a:p>
        </p:txBody>
      </p:sp>
      <p:sp>
        <p:nvSpPr>
          <p:cNvPr id="27" name="Rectangle 26">
            <a:extLst>
              <a:ext uri="{FF2B5EF4-FFF2-40B4-BE49-F238E27FC236}">
                <a16:creationId xmlns:a16="http://schemas.microsoft.com/office/drawing/2014/main" id="{9C05A846-4E43-447F-8BEC-3EF69A972EB6}"/>
              </a:ext>
            </a:extLst>
          </p:cNvPr>
          <p:cNvSpPr/>
          <p:nvPr/>
        </p:nvSpPr>
        <p:spPr>
          <a:xfrm>
            <a:off x="2794387" y="5061052"/>
            <a:ext cx="3189427" cy="154666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endParaRPr lang="en-US" sz="1091">
              <a:solidFill>
                <a:srgbClr val="FFFFFF"/>
              </a:solidFill>
              <a:latin typeface="Calibri" panose="020F0502020204030204"/>
            </a:endParaRPr>
          </a:p>
        </p:txBody>
      </p:sp>
      <p:sp>
        <p:nvSpPr>
          <p:cNvPr id="28" name="Rectangle 27">
            <a:extLst>
              <a:ext uri="{FF2B5EF4-FFF2-40B4-BE49-F238E27FC236}">
                <a16:creationId xmlns:a16="http://schemas.microsoft.com/office/drawing/2014/main" id="{5E63D359-B975-4683-8DB8-1FB2FE6F44BF}"/>
              </a:ext>
            </a:extLst>
          </p:cNvPr>
          <p:cNvSpPr/>
          <p:nvPr/>
        </p:nvSpPr>
        <p:spPr>
          <a:xfrm>
            <a:off x="7261577" y="5049771"/>
            <a:ext cx="3189427" cy="154666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554019"/>
            <a:endParaRPr lang="en-US" sz="1091">
              <a:solidFill>
                <a:srgbClr val="FFFFFF"/>
              </a:solidFill>
              <a:latin typeface="Calibri" panose="020F0502020204030204"/>
            </a:endParaRPr>
          </a:p>
        </p:txBody>
      </p:sp>
      <p:sp>
        <p:nvSpPr>
          <p:cNvPr id="17" name="TextBox 16">
            <a:extLst>
              <a:ext uri="{FF2B5EF4-FFF2-40B4-BE49-F238E27FC236}">
                <a16:creationId xmlns:a16="http://schemas.microsoft.com/office/drawing/2014/main" id="{0A2BB088-C3F9-4A2B-A1CF-503D3522ECDC}"/>
              </a:ext>
            </a:extLst>
          </p:cNvPr>
          <p:cNvSpPr txBox="1"/>
          <p:nvPr/>
        </p:nvSpPr>
        <p:spPr>
          <a:xfrm>
            <a:off x="477927" y="936347"/>
            <a:ext cx="3189427" cy="1573892"/>
          </a:xfrm>
          <a:prstGeom prst="rect">
            <a:avLst/>
          </a:prstGeom>
          <a:noFill/>
        </p:spPr>
        <p:txBody>
          <a:bodyPr wrap="square" rtlCol="0">
            <a:spAutoFit/>
          </a:bodyPr>
          <a:lstStyle/>
          <a:p>
            <a:pPr defTabSz="554019"/>
            <a:r>
              <a:rPr lang="en-US" sz="1091" dirty="0">
                <a:solidFill>
                  <a:srgbClr val="000000"/>
                </a:solidFill>
                <a:latin typeface="Calibri" panose="020F0502020204030204"/>
              </a:rPr>
              <a:t>Typical sources / data include:</a:t>
            </a:r>
          </a:p>
          <a:p>
            <a:pPr marL="228594" indent="-228594" defTabSz="554019">
              <a:buFont typeface="Arial" panose="020B0604020202020204" pitchFamily="34" charset="0"/>
              <a:buChar char="•"/>
            </a:pPr>
            <a:r>
              <a:rPr lang="en-US" sz="1067" dirty="0">
                <a:solidFill>
                  <a:srgbClr val="000000"/>
                </a:solidFill>
                <a:latin typeface="Calibri" panose="020F0502020204030204"/>
              </a:rPr>
              <a:t>Exchanges / CCP -  Counterparty information, trade settlement, confirmation / failures</a:t>
            </a:r>
          </a:p>
          <a:p>
            <a:pPr marL="228594" indent="-228594" defTabSz="554019">
              <a:buFont typeface="Arial" panose="020B0604020202020204" pitchFamily="34" charset="0"/>
              <a:buChar char="•"/>
            </a:pPr>
            <a:r>
              <a:rPr lang="en-US" sz="1067" dirty="0">
                <a:solidFill>
                  <a:srgbClr val="000000"/>
                </a:solidFill>
                <a:latin typeface="Calibri" panose="020F0502020204030204"/>
              </a:rPr>
              <a:t>Order capture – Order details</a:t>
            </a:r>
          </a:p>
          <a:p>
            <a:pPr marL="228594" indent="-228594" defTabSz="554019">
              <a:buFont typeface="Arial" panose="020B0604020202020204" pitchFamily="34" charset="0"/>
              <a:buChar char="•"/>
            </a:pPr>
            <a:r>
              <a:rPr lang="en-US" sz="1067" dirty="0">
                <a:solidFill>
                  <a:srgbClr val="000000"/>
                </a:solidFill>
                <a:latin typeface="Calibri" panose="020F0502020204030204"/>
              </a:rPr>
              <a:t>Custodian – Collateral, securities, settlement info</a:t>
            </a:r>
          </a:p>
          <a:p>
            <a:pPr marL="228594" indent="-228594" defTabSz="554019">
              <a:buFont typeface="Arial" panose="020B0604020202020204" pitchFamily="34" charset="0"/>
              <a:buChar char="•"/>
            </a:pPr>
            <a:r>
              <a:rPr lang="en-US" sz="1067" dirty="0">
                <a:solidFill>
                  <a:srgbClr val="000000"/>
                </a:solidFill>
                <a:latin typeface="Calibri" panose="020F0502020204030204"/>
              </a:rPr>
              <a:t>Market data – Price, exchange rate et al from Bloomberg, </a:t>
            </a:r>
            <a:r>
              <a:rPr lang="en-US" sz="1067" dirty="0" err="1">
                <a:solidFill>
                  <a:srgbClr val="000000"/>
                </a:solidFill>
                <a:latin typeface="Calibri" panose="020F0502020204030204"/>
              </a:rPr>
              <a:t>Refinitiv</a:t>
            </a:r>
            <a:endParaRPr lang="en-US" sz="1067" dirty="0">
              <a:solidFill>
                <a:srgbClr val="000000"/>
              </a:solidFill>
              <a:latin typeface="Calibri" panose="020F0502020204030204"/>
            </a:endParaRPr>
          </a:p>
          <a:p>
            <a:pPr marL="228594" indent="-228594" defTabSz="554019">
              <a:buFont typeface="Arial" panose="020B0604020202020204" pitchFamily="34" charset="0"/>
              <a:buChar char="•"/>
            </a:pPr>
            <a:r>
              <a:rPr lang="en-US" sz="1067" dirty="0">
                <a:solidFill>
                  <a:srgbClr val="000000"/>
                </a:solidFill>
                <a:latin typeface="Calibri" panose="020F0502020204030204"/>
              </a:rPr>
              <a:t>Treasury – Trade, cash &amp; liquidity</a:t>
            </a:r>
          </a:p>
          <a:p>
            <a:pPr marL="228594" indent="-228594" defTabSz="554019">
              <a:buFont typeface="Arial" panose="020B0604020202020204" pitchFamily="34" charset="0"/>
              <a:buChar char="•"/>
            </a:pPr>
            <a:r>
              <a:rPr lang="en-US" sz="1067" dirty="0">
                <a:solidFill>
                  <a:srgbClr val="000000"/>
                </a:solidFill>
                <a:latin typeface="Calibri" panose="020F0502020204030204"/>
              </a:rPr>
              <a:t>General Ledger – GL balances</a:t>
            </a:r>
          </a:p>
        </p:txBody>
      </p:sp>
      <p:sp>
        <p:nvSpPr>
          <p:cNvPr id="29" name="TextBox 28">
            <a:extLst>
              <a:ext uri="{FF2B5EF4-FFF2-40B4-BE49-F238E27FC236}">
                <a16:creationId xmlns:a16="http://schemas.microsoft.com/office/drawing/2014/main" id="{A52ED490-C285-408F-B9E4-FBE95BFD4844}"/>
              </a:ext>
            </a:extLst>
          </p:cNvPr>
          <p:cNvSpPr txBox="1"/>
          <p:nvPr/>
        </p:nvSpPr>
        <p:spPr>
          <a:xfrm rot="1028326">
            <a:off x="10639772" y="206366"/>
            <a:ext cx="2010867" cy="318100"/>
          </a:xfrm>
          <a:prstGeom prst="rect">
            <a:avLst/>
          </a:prstGeom>
          <a:noFill/>
        </p:spPr>
        <p:txBody>
          <a:bodyPr wrap="square" rtlCol="0">
            <a:spAutoFit/>
          </a:bodyPr>
          <a:lstStyle/>
          <a:p>
            <a:pPr algn="ctr" defTabSz="554019"/>
            <a:r>
              <a:rPr lang="en-US" sz="1467" b="1" dirty="0">
                <a:solidFill>
                  <a:srgbClr val="FF0000"/>
                </a:solidFill>
                <a:latin typeface="Calibri" panose="020F0502020204030204"/>
              </a:rPr>
              <a:t>WIP</a:t>
            </a:r>
          </a:p>
        </p:txBody>
      </p:sp>
      <p:sp>
        <p:nvSpPr>
          <p:cNvPr id="30" name="TextBox 29">
            <a:extLst>
              <a:ext uri="{FF2B5EF4-FFF2-40B4-BE49-F238E27FC236}">
                <a16:creationId xmlns:a16="http://schemas.microsoft.com/office/drawing/2014/main" id="{0EA6949C-647C-48D1-8923-45255F73BCBC}"/>
              </a:ext>
            </a:extLst>
          </p:cNvPr>
          <p:cNvSpPr txBox="1"/>
          <p:nvPr/>
        </p:nvSpPr>
        <p:spPr>
          <a:xfrm>
            <a:off x="4263132" y="951689"/>
            <a:ext cx="3189427" cy="1267398"/>
          </a:xfrm>
          <a:prstGeom prst="rect">
            <a:avLst/>
          </a:prstGeom>
          <a:noFill/>
        </p:spPr>
        <p:txBody>
          <a:bodyPr wrap="square" rtlCol="0">
            <a:spAutoFit/>
          </a:bodyPr>
          <a:lstStyle/>
          <a:p>
            <a:pPr defTabSz="554019"/>
            <a:r>
              <a:rPr lang="en-US" sz="1091" dirty="0">
                <a:solidFill>
                  <a:srgbClr val="000000"/>
                </a:solidFill>
                <a:latin typeface="Calibri" panose="020F0502020204030204"/>
              </a:rPr>
              <a:t>Data integration bus and data ingestion layer. All upstream feeds (OMS/EMS, trade capture, settlement platform, and market data) flow through a normalized message bus — Kafka is the typical choice for near real-time throughput. Every event is timestamped and written to an audit trail from the point of ingestion.</a:t>
            </a:r>
          </a:p>
        </p:txBody>
      </p:sp>
      <p:sp>
        <p:nvSpPr>
          <p:cNvPr id="31" name="TextBox 30">
            <a:extLst>
              <a:ext uri="{FF2B5EF4-FFF2-40B4-BE49-F238E27FC236}">
                <a16:creationId xmlns:a16="http://schemas.microsoft.com/office/drawing/2014/main" id="{0D688389-74D7-49A0-A02C-50BADABB2093}"/>
              </a:ext>
            </a:extLst>
          </p:cNvPr>
          <p:cNvSpPr txBox="1"/>
          <p:nvPr/>
        </p:nvSpPr>
        <p:spPr>
          <a:xfrm>
            <a:off x="8147531" y="936347"/>
            <a:ext cx="3189427" cy="1435265"/>
          </a:xfrm>
          <a:prstGeom prst="rect">
            <a:avLst/>
          </a:prstGeom>
          <a:noFill/>
        </p:spPr>
        <p:txBody>
          <a:bodyPr wrap="square" rtlCol="0">
            <a:spAutoFit/>
          </a:bodyPr>
          <a:lstStyle/>
          <a:p>
            <a:pPr defTabSz="554019"/>
            <a:r>
              <a:rPr lang="en-US" sz="1091" dirty="0">
                <a:solidFill>
                  <a:srgbClr val="000000"/>
                </a:solidFill>
                <a:latin typeface="Calibri" panose="020F0502020204030204"/>
              </a:rPr>
              <a:t>Position and intraday exposure engine enabling near real-time monitoring. The position keeper maintains gross and net positions by account, asset class, and currency, updated on each trade confirmation. Intraday P&amp;L (both mark-to-market and realized) is recalculated on price tick. Limit monitoring component fires tiered alerts.</a:t>
            </a:r>
            <a:br>
              <a:rPr lang="en-US" sz="1091" dirty="0">
                <a:solidFill>
                  <a:srgbClr val="000000"/>
                </a:solidFill>
                <a:latin typeface="Calibri" panose="020F0502020204030204"/>
              </a:rPr>
            </a:br>
            <a:endParaRPr lang="en-US" sz="1091" dirty="0">
              <a:solidFill>
                <a:srgbClr val="000000"/>
              </a:solidFill>
              <a:latin typeface="Calibri" panose="020F0502020204030204"/>
            </a:endParaRPr>
          </a:p>
        </p:txBody>
      </p:sp>
      <p:sp>
        <p:nvSpPr>
          <p:cNvPr id="32" name="TextBox 31">
            <a:extLst>
              <a:ext uri="{FF2B5EF4-FFF2-40B4-BE49-F238E27FC236}">
                <a16:creationId xmlns:a16="http://schemas.microsoft.com/office/drawing/2014/main" id="{A7D86078-9989-4289-BE0C-45EC4ABEEC21}"/>
              </a:ext>
            </a:extLst>
          </p:cNvPr>
          <p:cNvSpPr txBox="1"/>
          <p:nvPr/>
        </p:nvSpPr>
        <p:spPr>
          <a:xfrm>
            <a:off x="477927" y="3041301"/>
            <a:ext cx="3189427" cy="763799"/>
          </a:xfrm>
          <a:prstGeom prst="rect">
            <a:avLst/>
          </a:prstGeom>
          <a:noFill/>
        </p:spPr>
        <p:txBody>
          <a:bodyPr wrap="square" rtlCol="0">
            <a:spAutoFit/>
          </a:bodyPr>
          <a:lstStyle/>
          <a:p>
            <a:pPr defTabSz="554019"/>
            <a:r>
              <a:rPr lang="en-US" sz="1091" dirty="0">
                <a:solidFill>
                  <a:srgbClr val="000000"/>
                </a:solidFill>
                <a:latin typeface="Calibri" panose="020F0502020204030204"/>
              </a:rPr>
              <a:t>Three risk management pillars are market risk, counterparty credit risk, and liquidity risk. The margin engine manages initial and variation margin calls.</a:t>
            </a:r>
          </a:p>
        </p:txBody>
      </p:sp>
      <p:sp>
        <p:nvSpPr>
          <p:cNvPr id="34" name="TextBox 33">
            <a:extLst>
              <a:ext uri="{FF2B5EF4-FFF2-40B4-BE49-F238E27FC236}">
                <a16:creationId xmlns:a16="http://schemas.microsoft.com/office/drawing/2014/main" id="{F151E01C-4F1A-4505-9FA9-3D95DF839522}"/>
              </a:ext>
            </a:extLst>
          </p:cNvPr>
          <p:cNvSpPr txBox="1"/>
          <p:nvPr/>
        </p:nvSpPr>
        <p:spPr>
          <a:xfrm>
            <a:off x="4263133" y="3027811"/>
            <a:ext cx="3165876" cy="1099532"/>
          </a:xfrm>
          <a:prstGeom prst="rect">
            <a:avLst/>
          </a:prstGeom>
          <a:noFill/>
        </p:spPr>
        <p:txBody>
          <a:bodyPr wrap="square" rtlCol="0">
            <a:spAutoFit/>
          </a:bodyPr>
          <a:lstStyle/>
          <a:p>
            <a:pPr defTabSz="554019"/>
            <a:r>
              <a:rPr lang="en-US" sz="1091" dirty="0">
                <a:solidFill>
                  <a:srgbClr val="000000"/>
                </a:solidFill>
                <a:latin typeface="Calibri" panose="020F0502020204030204"/>
              </a:rPr>
              <a:t>Stress testing  and scenarios historical (e.g. 2008 GFC, COVID-19, 2022 UK gilt crisis), hypothetical shocks (parallel rate shifts, FX moves, credit spread widening), and reverse stress tests to check any potential business model failure point. The engine feeds ICARA and ILSA capital planning inputs.</a:t>
            </a:r>
          </a:p>
        </p:txBody>
      </p:sp>
      <p:sp>
        <p:nvSpPr>
          <p:cNvPr id="35" name="TextBox 34">
            <a:extLst>
              <a:ext uri="{FF2B5EF4-FFF2-40B4-BE49-F238E27FC236}">
                <a16:creationId xmlns:a16="http://schemas.microsoft.com/office/drawing/2014/main" id="{7905E56B-5B3A-460A-A0AA-1EDA66ADB534}"/>
              </a:ext>
            </a:extLst>
          </p:cNvPr>
          <p:cNvSpPr txBox="1"/>
          <p:nvPr/>
        </p:nvSpPr>
        <p:spPr>
          <a:xfrm>
            <a:off x="8147531" y="3027811"/>
            <a:ext cx="3189427" cy="1435265"/>
          </a:xfrm>
          <a:prstGeom prst="rect">
            <a:avLst/>
          </a:prstGeom>
          <a:noFill/>
        </p:spPr>
        <p:txBody>
          <a:bodyPr wrap="square" rtlCol="0">
            <a:spAutoFit/>
          </a:bodyPr>
          <a:lstStyle/>
          <a:p>
            <a:pPr defTabSz="554019"/>
            <a:r>
              <a:rPr lang="en-US" sz="1091" dirty="0">
                <a:solidFill>
                  <a:srgbClr val="000000"/>
                </a:solidFill>
                <a:latin typeface="Calibri" panose="020F0502020204030204"/>
              </a:rPr>
              <a:t>These run synchronously before any order reaches the exchange, targeting sub-millisecond latency via in-memory lookup. Checks include counterparty credit line adequacy, limit headroom, position limits and fat-finger controls, pro-forma margin impact against available collateral, short-sell compliance, and wash-trade surveillance. A reject produces a structured reason code and triggers a broker alert.</a:t>
            </a:r>
          </a:p>
        </p:txBody>
      </p:sp>
      <p:sp>
        <p:nvSpPr>
          <p:cNvPr id="36" name="TextBox 35">
            <a:extLst>
              <a:ext uri="{FF2B5EF4-FFF2-40B4-BE49-F238E27FC236}">
                <a16:creationId xmlns:a16="http://schemas.microsoft.com/office/drawing/2014/main" id="{F65FE161-7C5E-4A97-A770-1AB115F870B0}"/>
              </a:ext>
            </a:extLst>
          </p:cNvPr>
          <p:cNvSpPr txBox="1"/>
          <p:nvPr/>
        </p:nvSpPr>
        <p:spPr>
          <a:xfrm>
            <a:off x="2794387" y="5038256"/>
            <a:ext cx="3189427" cy="1435265"/>
          </a:xfrm>
          <a:prstGeom prst="rect">
            <a:avLst/>
          </a:prstGeom>
          <a:noFill/>
        </p:spPr>
        <p:txBody>
          <a:bodyPr wrap="square" rtlCol="0">
            <a:spAutoFit/>
          </a:bodyPr>
          <a:lstStyle/>
          <a:p>
            <a:pPr defTabSz="554019"/>
            <a:r>
              <a:rPr lang="en-US" sz="1091" dirty="0">
                <a:solidFill>
                  <a:srgbClr val="000000"/>
                </a:solidFill>
                <a:latin typeface="Calibri" panose="020F0502020204030204"/>
              </a:rPr>
              <a:t>The engine calculates the risk metrics feeds four reporting streams: MiFID II/</a:t>
            </a:r>
            <a:r>
              <a:rPr lang="en-US" sz="1091" dirty="0" err="1">
                <a:solidFill>
                  <a:srgbClr val="000000"/>
                </a:solidFill>
                <a:latin typeface="Calibri" panose="020F0502020204030204"/>
              </a:rPr>
              <a:t>MiFIR</a:t>
            </a:r>
            <a:r>
              <a:rPr lang="en-US" sz="1091" dirty="0">
                <a:solidFill>
                  <a:srgbClr val="000000"/>
                </a:solidFill>
                <a:latin typeface="Calibri" panose="020F0502020204030204"/>
              </a:rPr>
              <a:t> transaction reports and RTS 27/28 best-execution disclosures; UK EMIR trade repository reporting with margin and collateral data; MIFIDPRU/ICARA capital adequacy and wind-down reports; and FCA supervisory returns including REP-CRIM and commodity position limits under COMC</a:t>
            </a:r>
          </a:p>
        </p:txBody>
      </p:sp>
      <p:sp>
        <p:nvSpPr>
          <p:cNvPr id="37" name="TextBox 36">
            <a:extLst>
              <a:ext uri="{FF2B5EF4-FFF2-40B4-BE49-F238E27FC236}">
                <a16:creationId xmlns:a16="http://schemas.microsoft.com/office/drawing/2014/main" id="{B5939369-4822-4C74-B01C-3BBE6B861554}"/>
              </a:ext>
            </a:extLst>
          </p:cNvPr>
          <p:cNvSpPr txBox="1"/>
          <p:nvPr/>
        </p:nvSpPr>
        <p:spPr>
          <a:xfrm>
            <a:off x="7261577" y="5038256"/>
            <a:ext cx="3189427" cy="1435265"/>
          </a:xfrm>
          <a:prstGeom prst="rect">
            <a:avLst/>
          </a:prstGeom>
          <a:noFill/>
        </p:spPr>
        <p:txBody>
          <a:bodyPr wrap="square" rtlCol="0">
            <a:spAutoFit/>
          </a:bodyPr>
          <a:lstStyle/>
          <a:p>
            <a:pPr defTabSz="554019"/>
            <a:r>
              <a:rPr lang="en-US" sz="1091" dirty="0">
                <a:solidFill>
                  <a:srgbClr val="000000"/>
                </a:solidFill>
                <a:latin typeface="Calibri" panose="020F0502020204030204"/>
              </a:rPr>
              <a:t>Includes management reports. broker dashboards and alerts. Brokers see a live feed of P&amp;L, exposure, and limit utilization. Margin call workflow tracks issuance, receipt, and collateral substitution. Escalation may follows a workflow like warn → breach → block cascade delivered via email, Slack, or API push. End-of-day risk packs and board-level stress summaries are generated.</a:t>
            </a:r>
          </a:p>
        </p:txBody>
      </p:sp>
    </p:spTree>
    <p:extLst>
      <p:ext uri="{BB962C8B-B14F-4D97-AF65-F5344CB8AC3E}">
        <p14:creationId xmlns:p14="http://schemas.microsoft.com/office/powerpoint/2010/main" val="412790343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EEB5EC-FCAE-58D2-8102-4D0C6FA56638}"/>
            </a:ext>
          </a:extLst>
        </p:cNvPr>
        <p:cNvGrpSpPr/>
        <p:nvPr/>
      </p:nvGrpSpPr>
      <p:grpSpPr>
        <a:xfrm>
          <a:off x="0" y="0"/>
          <a:ext cx="0" cy="0"/>
          <a:chOff x="0" y="0"/>
          <a:chExt cx="0" cy="0"/>
        </a:xfrm>
      </p:grpSpPr>
      <p:sp>
        <p:nvSpPr>
          <p:cNvPr id="39" name="box_marketdata">
            <a:extLst>
              <a:ext uri="{FF2B5EF4-FFF2-40B4-BE49-F238E27FC236}">
                <a16:creationId xmlns:a16="http://schemas.microsoft.com/office/drawing/2014/main" id="{06CFB847-014F-780A-B008-EADA2EE26F3A}"/>
              </a:ext>
            </a:extLst>
          </p:cNvPr>
          <p:cNvSpPr/>
          <p:nvPr/>
        </p:nvSpPr>
        <p:spPr>
          <a:xfrm>
            <a:off x="2561388" y="3235158"/>
            <a:ext cx="5715000" cy="1348872"/>
          </a:xfrm>
          <a:prstGeom prst="roundRect">
            <a:avLst/>
          </a:prstGeom>
          <a:solidFill>
            <a:srgbClr val="FFFFFF"/>
          </a:solidFill>
          <a:ln w="19050" cap="flat" cmpd="sng" algn="ctr">
            <a:solidFill>
              <a:srgbClr val="1F5E7A"/>
            </a:solidFill>
            <a:prstDash val="dash"/>
            <a:miter lim="800000"/>
          </a:ln>
          <a:effectLst/>
        </p:spPr>
        <p:style>
          <a:lnRef idx="2">
            <a:schemeClr val="accent1">
              <a:shade val="50000"/>
            </a:schemeClr>
          </a:lnRef>
          <a:fillRef idx="1">
            <a:schemeClr val="accent1"/>
          </a:fillRef>
          <a:effectRef idx="0">
            <a:schemeClr val="accent1"/>
          </a:effectRef>
          <a:fontRef idx="minor">
            <a:schemeClr val="lt1"/>
          </a:fontRef>
        </p:style>
        <p:txBody>
          <a:bodyPr vertOverflow="clip" horzOverflow="clip" lIns="101600" tIns="76200" rIns="101600" bIns="76200" rtlCol="0" anchor="ctr" anchorCtr="0"/>
          <a:lstStyle/>
          <a:p>
            <a:pPr algn="ctr"/>
            <a:endParaRPr lang="en-US" sz="1100" b="1" dirty="0">
              <a:solidFill>
                <a:srgbClr val="0F2430"/>
              </a:solidFill>
              <a:latin typeface="Segoe UI Semibold"/>
              <a:cs typeface="Segoe UI Semibold"/>
            </a:endParaRPr>
          </a:p>
        </p:txBody>
      </p:sp>
      <p:sp>
        <p:nvSpPr>
          <p:cNvPr id="2" name="Title 1">
            <a:extLst>
              <a:ext uri="{FF2B5EF4-FFF2-40B4-BE49-F238E27FC236}">
                <a16:creationId xmlns:a16="http://schemas.microsoft.com/office/drawing/2014/main" id="{6D908823-0D4A-0364-694C-E1535CDC8727}"/>
              </a:ext>
            </a:extLst>
          </p:cNvPr>
          <p:cNvSpPr>
            <a:spLocks noGrp="1"/>
          </p:cNvSpPr>
          <p:nvPr>
            <p:ph type="title"/>
          </p:nvPr>
        </p:nvSpPr>
        <p:spPr>
          <a:xfrm>
            <a:off x="384176" y="550259"/>
            <a:ext cx="10752000" cy="347491"/>
          </a:xfrm>
        </p:spPr>
        <p:txBody>
          <a:bodyPr>
            <a:normAutofit fontScale="90000"/>
          </a:bodyPr>
          <a:lstStyle/>
          <a:p>
            <a:r>
              <a:rPr lang="en-GB" sz="3100" b="1" spc="-50">
                <a:solidFill>
                  <a:srgbClr val="24303B"/>
                </a:solidFill>
                <a:latin typeface="Segoe UI"/>
              </a:rPr>
              <a:t>Risk Transformation | </a:t>
            </a:r>
            <a:r>
              <a:rPr lang="en-US" sz="2700"/>
              <a:t>RFP </a:t>
            </a:r>
            <a:endParaRPr lang="en-GB" sz="2400"/>
          </a:p>
        </p:txBody>
      </p:sp>
      <p:sp>
        <p:nvSpPr>
          <p:cNvPr id="5" name="3. Subtitle">
            <a:extLst>
              <a:ext uri="{FF2B5EF4-FFF2-40B4-BE49-F238E27FC236}">
                <a16:creationId xmlns:a16="http://schemas.microsoft.com/office/drawing/2014/main" id="{9BD14F2B-357B-1B30-0D1F-C8BA2DD85A67}"/>
              </a:ext>
            </a:extLst>
          </p:cNvPr>
          <p:cNvSpPr txBox="1">
            <a:spLocks/>
          </p:cNvSpPr>
          <p:nvPr>
            <p:custDataLst>
              <p:tags r:id="rId1"/>
            </p:custDataLst>
          </p:nvPr>
        </p:nvSpPr>
        <p:spPr>
          <a:xfrm>
            <a:off x="404512" y="1010328"/>
            <a:ext cx="8397744" cy="361841"/>
          </a:xfrm>
          <a:prstGeom prst="rect">
            <a:avLst/>
          </a:prstGeom>
          <a:noFill/>
          <a:ln/>
          <a:extLst>
            <a:ext uri="{909E8E84-426E-40DD-AFC4-6F175D3DCCD1}">
              <a14:hiddenFill xmlns:a14="http://schemas.microsoft.com/office/drawing/2010/main">
                <a:solidFill>
                  <a:srgbClr val="FFFFFF"/>
                </a:solidFill>
              </a14:hiddenFill>
            </a:ext>
          </a:extLst>
        </p:spPr>
        <p:txBody>
          <a:bodyPr vert="horz" lIns="0" tIns="0" rIns="0" bIns="0" rtlCol="0" anchor="t">
            <a:normAutofit/>
          </a:bodyPr>
          <a:lstStyle>
            <a:lvl1pPr marL="0" indent="0" algn="l" defTabSz="914400" rtl="0" eaLnBrk="1" latinLnBrk="0" hangingPunct="1">
              <a:lnSpc>
                <a:spcPct val="120000"/>
              </a:lnSpc>
              <a:spcBef>
                <a:spcPts val="800"/>
              </a:spcBef>
              <a:buFont typeface="Calibri" panose="020F0502020204030204" pitchFamily="34" charset="0"/>
              <a:buNone/>
              <a:defRPr sz="1800" kern="1200">
                <a:solidFill>
                  <a:schemeClr val="tx1"/>
                </a:solidFill>
                <a:latin typeface="+mj-lt"/>
                <a:ea typeface="+mn-ea"/>
                <a:cs typeface="+mn-cs"/>
              </a:defRPr>
            </a:lvl1pPr>
            <a:lvl2pPr marL="0" indent="0" algn="l" defTabSz="914400" rtl="0" eaLnBrk="1" latinLnBrk="0" hangingPunct="1">
              <a:lnSpc>
                <a:spcPct val="120000"/>
              </a:lnSpc>
              <a:spcBef>
                <a:spcPts val="800"/>
              </a:spcBef>
              <a:buFont typeface="Calibri" panose="020F0502020204030204" pitchFamily="34" charset="0"/>
              <a:buNone/>
              <a:defRPr sz="1800" kern="1200">
                <a:solidFill>
                  <a:schemeClr val="tx1"/>
                </a:solidFill>
                <a:latin typeface="+mn-lt"/>
                <a:ea typeface="+mn-ea"/>
                <a:cs typeface="+mn-cs"/>
              </a:defRPr>
            </a:lvl2pPr>
            <a:lvl3pPr marL="182563" indent="-182563" algn="l" defTabSz="914400" rtl="0" eaLnBrk="1" latinLnBrk="0" hangingPunct="1">
              <a:lnSpc>
                <a:spcPct val="120000"/>
              </a:lnSpc>
              <a:spcBef>
                <a:spcPts val="800"/>
              </a:spcBef>
              <a:buFont typeface="Calibri" panose="020F0502020204030204" pitchFamily="34" charset="0"/>
              <a:buChar char="–"/>
              <a:defRPr sz="1500" kern="1200">
                <a:solidFill>
                  <a:schemeClr val="tx1"/>
                </a:solidFill>
                <a:latin typeface="+mn-lt"/>
                <a:ea typeface="+mn-ea"/>
                <a:cs typeface="+mn-cs"/>
              </a:defRPr>
            </a:lvl3pPr>
            <a:lvl4pPr marL="358775" indent="-176213" algn="l" defTabSz="914400" rtl="0" eaLnBrk="1" latinLnBrk="0" hangingPunct="1">
              <a:lnSpc>
                <a:spcPct val="120000"/>
              </a:lnSpc>
              <a:spcBef>
                <a:spcPts val="0"/>
              </a:spcBef>
              <a:buFont typeface="Calibri" panose="020F0502020204030204" pitchFamily="34" charset="0"/>
              <a:buChar char="–"/>
              <a:defRPr sz="1500" kern="1200">
                <a:solidFill>
                  <a:schemeClr val="tx1"/>
                </a:solidFill>
                <a:latin typeface="+mn-lt"/>
                <a:ea typeface="+mn-ea"/>
                <a:cs typeface="+mn-cs"/>
              </a:defRPr>
            </a:lvl4pPr>
            <a:lvl5pPr marL="541338" indent="-182563" algn="l" defTabSz="914400" rtl="0" eaLnBrk="1" latinLnBrk="0" hangingPunct="1">
              <a:lnSpc>
                <a:spcPct val="120000"/>
              </a:lnSpc>
              <a:spcBef>
                <a:spcPts val="0"/>
              </a:spcBef>
              <a:buFont typeface="Calibri" panose="020F0502020204030204" pitchFamily="34" charset="0"/>
              <a:buChar char="–"/>
              <a:defRPr sz="15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300"/>
              </a:spcBef>
              <a:spcAft>
                <a:spcPts val="300"/>
              </a:spcAft>
            </a:pPr>
            <a:r>
              <a:rPr lang="en-GB" sz="1400" dirty="0"/>
              <a:t>Tech Capabilities, Delivery Sequencing &amp; Key Considerations</a:t>
            </a:r>
            <a:endParaRPr lang="de-DE" sz="1400" dirty="0"/>
          </a:p>
        </p:txBody>
      </p:sp>
      <p:sp>
        <p:nvSpPr>
          <p:cNvPr id="4" name="Rectangle: Rounded Corners 3">
            <a:extLst>
              <a:ext uri="{FF2B5EF4-FFF2-40B4-BE49-F238E27FC236}">
                <a16:creationId xmlns:a16="http://schemas.microsoft.com/office/drawing/2014/main" id="{2311BCFC-FB70-415D-BE63-4E7A9347F83D}"/>
              </a:ext>
            </a:extLst>
          </p:cNvPr>
          <p:cNvSpPr/>
          <p:nvPr/>
        </p:nvSpPr>
        <p:spPr>
          <a:xfrm>
            <a:off x="444500" y="1549400"/>
            <a:ext cx="7747000" cy="304800"/>
          </a:xfrm>
          <a:prstGeom prst="roundRect">
            <a:avLst/>
          </a:prstGeom>
          <a:solidFill>
            <a:srgbClr val="1F5E7A"/>
          </a:solidFill>
          <a:ln w="12700" cap="flat" cmpd="sng" algn="ctr">
            <a:solidFill>
              <a:srgbClr val="1F5E7A"/>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clip" horzOverflow="clip" lIns="127000" rIns="101600" rtlCol="0" anchor="ctr" anchorCtr="0"/>
          <a:lstStyle/>
          <a:p>
            <a:r>
              <a:rPr lang="en-US" sz="1100" b="1">
                <a:solidFill>
                  <a:srgbClr val="FFFFFF"/>
                </a:solidFill>
                <a:latin typeface="Segoe UI Semibold"/>
                <a:cs typeface="Segoe UI Semibold"/>
              </a:rPr>
              <a:t>Core Flow</a:t>
            </a:r>
          </a:p>
        </p:txBody>
      </p:sp>
      <p:sp>
        <p:nvSpPr>
          <p:cNvPr id="6" name="Rectangle: Rounded Corners 5">
            <a:extLst>
              <a:ext uri="{FF2B5EF4-FFF2-40B4-BE49-F238E27FC236}">
                <a16:creationId xmlns:a16="http://schemas.microsoft.com/office/drawing/2014/main" id="{B0C8B3CB-FA0D-4DFD-A87D-D4942D422755}"/>
              </a:ext>
            </a:extLst>
          </p:cNvPr>
          <p:cNvSpPr/>
          <p:nvPr/>
        </p:nvSpPr>
        <p:spPr>
          <a:xfrm>
            <a:off x="8420100" y="1549400"/>
            <a:ext cx="3327400" cy="304800"/>
          </a:xfrm>
          <a:prstGeom prst="roundRect">
            <a:avLst/>
          </a:prstGeom>
          <a:solidFill>
            <a:srgbClr val="1F5E7A"/>
          </a:solidFill>
          <a:ln w="12700" cap="flat" cmpd="sng" algn="ctr">
            <a:solidFill>
              <a:srgbClr val="1F5E7A"/>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clip" horzOverflow="clip" lIns="127000" rIns="101600" rtlCol="0" anchor="ctr" anchorCtr="0"/>
          <a:lstStyle/>
          <a:p>
            <a:r>
              <a:rPr lang="en-US" sz="1100" b="1">
                <a:solidFill>
                  <a:srgbClr val="FFFFFF"/>
                </a:solidFill>
                <a:latin typeface="Segoe UI Semibold"/>
                <a:cs typeface="Segoe UI Semibold"/>
              </a:rPr>
              <a:t>Real-Time Triggers</a:t>
            </a:r>
          </a:p>
        </p:txBody>
      </p:sp>
      <p:sp>
        <p:nvSpPr>
          <p:cNvPr id="7" name="box_sources">
            <a:extLst>
              <a:ext uri="{FF2B5EF4-FFF2-40B4-BE49-F238E27FC236}">
                <a16:creationId xmlns:a16="http://schemas.microsoft.com/office/drawing/2014/main" id="{66A283B0-283E-4184-AD47-0BB34CA8873B}"/>
              </a:ext>
            </a:extLst>
          </p:cNvPr>
          <p:cNvSpPr/>
          <p:nvPr/>
        </p:nvSpPr>
        <p:spPr>
          <a:xfrm>
            <a:off x="571500" y="2032000"/>
            <a:ext cx="2286000" cy="787400"/>
          </a:xfrm>
          <a:prstGeom prst="roundRect">
            <a:avLst/>
          </a:prstGeom>
          <a:solidFill>
            <a:srgbClr val="FFFFFF"/>
          </a:solidFill>
          <a:ln w="19050" cap="flat" cmpd="sng" algn="ctr">
            <a:solidFill>
              <a:srgbClr val="1F5E7A"/>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clip" horzOverflow="clip" lIns="101600" tIns="76200" rIns="101600" bIns="76200" rtlCol="0" anchor="ctr" anchorCtr="0"/>
          <a:lstStyle/>
          <a:p>
            <a:pPr algn="ctr"/>
            <a:r>
              <a:rPr lang="en-US" sz="1100" b="1">
                <a:solidFill>
                  <a:srgbClr val="0F2430"/>
                </a:solidFill>
                <a:latin typeface="Segoe UI Semibold"/>
                <a:cs typeface="Segoe UI Semibold"/>
              </a:rPr>
              <a:t>Trade + Position
Feeds</a:t>
            </a:r>
          </a:p>
        </p:txBody>
      </p:sp>
      <p:sp>
        <p:nvSpPr>
          <p:cNvPr id="8" name="box_marketdata">
            <a:extLst>
              <a:ext uri="{FF2B5EF4-FFF2-40B4-BE49-F238E27FC236}">
                <a16:creationId xmlns:a16="http://schemas.microsoft.com/office/drawing/2014/main" id="{62BE0017-758D-4ABF-B70C-26F29A8DE687}"/>
              </a:ext>
            </a:extLst>
          </p:cNvPr>
          <p:cNvSpPr/>
          <p:nvPr/>
        </p:nvSpPr>
        <p:spPr>
          <a:xfrm>
            <a:off x="3213100" y="2032000"/>
            <a:ext cx="2286000" cy="787400"/>
          </a:xfrm>
          <a:prstGeom prst="roundRect">
            <a:avLst/>
          </a:prstGeom>
          <a:solidFill>
            <a:srgbClr val="FFFFFF"/>
          </a:solidFill>
          <a:ln w="19050" cap="flat" cmpd="sng" algn="ctr">
            <a:solidFill>
              <a:srgbClr val="1F5E7A"/>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clip" horzOverflow="clip" lIns="101600" tIns="76200" rIns="101600" bIns="76200" rtlCol="0" anchor="ctr" anchorCtr="0"/>
          <a:lstStyle/>
          <a:p>
            <a:pPr algn="ctr"/>
            <a:r>
              <a:rPr lang="en-US" sz="1100" b="1">
                <a:solidFill>
                  <a:srgbClr val="0F2430"/>
                </a:solidFill>
                <a:latin typeface="Segoe UI Semibold"/>
                <a:cs typeface="Segoe UI Semibold"/>
              </a:rPr>
              <a:t>Market Data
Feeds</a:t>
            </a:r>
          </a:p>
        </p:txBody>
      </p:sp>
      <p:sp>
        <p:nvSpPr>
          <p:cNvPr id="9" name="box_repo">
            <a:extLst>
              <a:ext uri="{FF2B5EF4-FFF2-40B4-BE49-F238E27FC236}">
                <a16:creationId xmlns:a16="http://schemas.microsoft.com/office/drawing/2014/main" id="{5DDB2D84-B298-4F8A-AC1E-B4ACA9558DD1}"/>
              </a:ext>
            </a:extLst>
          </p:cNvPr>
          <p:cNvSpPr/>
          <p:nvPr/>
        </p:nvSpPr>
        <p:spPr>
          <a:xfrm>
            <a:off x="5854700" y="2032000"/>
            <a:ext cx="2286000" cy="787400"/>
          </a:xfrm>
          <a:prstGeom prst="roundRect">
            <a:avLst/>
          </a:prstGeom>
          <a:solidFill>
            <a:srgbClr val="FFFFFF"/>
          </a:solidFill>
          <a:ln w="19050" cap="flat" cmpd="sng" algn="ctr">
            <a:solidFill>
              <a:srgbClr val="1F5E7A"/>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clip" horzOverflow="clip" lIns="101600" tIns="76200" rIns="101600" bIns="76200" rtlCol="0" anchor="ctr" anchorCtr="0"/>
          <a:lstStyle/>
          <a:p>
            <a:pPr algn="ctr"/>
            <a:endParaRPr lang="en-US" sz="1100" b="1" dirty="0">
              <a:solidFill>
                <a:srgbClr val="0F2430"/>
              </a:solidFill>
              <a:latin typeface="Segoe UI Semibold"/>
              <a:cs typeface="Segoe UI Semibold"/>
            </a:endParaRPr>
          </a:p>
        </p:txBody>
      </p:sp>
      <p:sp>
        <p:nvSpPr>
          <p:cNvPr id="10" name="box_orch">
            <a:extLst>
              <a:ext uri="{FF2B5EF4-FFF2-40B4-BE49-F238E27FC236}">
                <a16:creationId xmlns:a16="http://schemas.microsoft.com/office/drawing/2014/main" id="{69F51D5F-9A51-456E-9D8C-B80FCAFBB053}"/>
              </a:ext>
            </a:extLst>
          </p:cNvPr>
          <p:cNvSpPr/>
          <p:nvPr/>
        </p:nvSpPr>
        <p:spPr>
          <a:xfrm>
            <a:off x="3213100" y="3505200"/>
            <a:ext cx="2286000" cy="787400"/>
          </a:xfrm>
          <a:prstGeom prst="roundRect">
            <a:avLst/>
          </a:prstGeom>
          <a:solidFill>
            <a:srgbClr val="E8F2F6"/>
          </a:solidFill>
          <a:ln w="19050" cap="flat" cmpd="sng" algn="ctr">
            <a:solidFill>
              <a:srgbClr val="1F5E7A"/>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clip" horzOverflow="clip" lIns="101600" tIns="76200" rIns="101600" bIns="76200" rtlCol="0" anchor="ctr" anchorCtr="0"/>
          <a:lstStyle/>
          <a:p>
            <a:pPr algn="ctr"/>
            <a:r>
              <a:rPr lang="en-US" sz="1100" b="1">
                <a:solidFill>
                  <a:srgbClr val="0F2430"/>
                </a:solidFill>
                <a:latin typeface="Segoe UI Semibold"/>
                <a:cs typeface="Segoe UI Semibold"/>
              </a:rPr>
              <a:t>Orchestration +
Rules Engine</a:t>
            </a:r>
          </a:p>
        </p:txBody>
      </p:sp>
      <p:sp>
        <p:nvSpPr>
          <p:cNvPr id="11" name="box_calc">
            <a:extLst>
              <a:ext uri="{FF2B5EF4-FFF2-40B4-BE49-F238E27FC236}">
                <a16:creationId xmlns:a16="http://schemas.microsoft.com/office/drawing/2014/main" id="{2D5C5F12-CECF-47D2-84B9-84ABA0FB162B}"/>
              </a:ext>
            </a:extLst>
          </p:cNvPr>
          <p:cNvSpPr/>
          <p:nvPr/>
        </p:nvSpPr>
        <p:spPr>
          <a:xfrm>
            <a:off x="5854700" y="3505200"/>
            <a:ext cx="2286000" cy="787400"/>
          </a:xfrm>
          <a:prstGeom prst="roundRect">
            <a:avLst/>
          </a:prstGeom>
          <a:solidFill>
            <a:srgbClr val="E8F2F6"/>
          </a:solidFill>
          <a:ln w="19050" cap="flat" cmpd="sng" algn="ctr">
            <a:solidFill>
              <a:srgbClr val="1F5E7A"/>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clip" horzOverflow="clip" lIns="101600" tIns="76200" rIns="101600" bIns="76200" rtlCol="0" anchor="ctr" anchorCtr="0"/>
          <a:lstStyle/>
          <a:p>
            <a:pPr algn="ctr"/>
            <a:r>
              <a:rPr lang="en-US" sz="1100" b="1">
                <a:solidFill>
                  <a:srgbClr val="0F2430"/>
                </a:solidFill>
                <a:latin typeface="Segoe UI Semibold"/>
                <a:cs typeface="Segoe UI Semibold"/>
              </a:rPr>
              <a:t>Market Risk
Calc Engine</a:t>
            </a:r>
          </a:p>
        </p:txBody>
      </p:sp>
      <p:sp>
        <p:nvSpPr>
          <p:cNvPr id="12" name="box_ui">
            <a:extLst>
              <a:ext uri="{FF2B5EF4-FFF2-40B4-BE49-F238E27FC236}">
                <a16:creationId xmlns:a16="http://schemas.microsoft.com/office/drawing/2014/main" id="{BBF7C66E-C11A-40B2-9F90-76368FFD4D09}"/>
              </a:ext>
            </a:extLst>
          </p:cNvPr>
          <p:cNvSpPr/>
          <p:nvPr/>
        </p:nvSpPr>
        <p:spPr>
          <a:xfrm>
            <a:off x="3213100" y="4851400"/>
            <a:ext cx="4927600" cy="787400"/>
          </a:xfrm>
          <a:prstGeom prst="roundRect">
            <a:avLst/>
          </a:prstGeom>
          <a:solidFill>
            <a:srgbClr val="FFFFFF"/>
          </a:solidFill>
          <a:ln w="19050" cap="flat" cmpd="sng" algn="ctr">
            <a:solidFill>
              <a:srgbClr val="1F5E7A"/>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clip" horzOverflow="clip" lIns="101600" tIns="76200" rIns="101600" bIns="76200" rtlCol="0" anchor="ctr" anchorCtr="0"/>
          <a:lstStyle/>
          <a:p>
            <a:pPr algn="ctr"/>
            <a:r>
              <a:rPr lang="en-US" sz="1100" b="1">
                <a:solidFill>
                  <a:srgbClr val="0F2430"/>
                </a:solidFill>
                <a:latin typeface="Segoe UI Semibold"/>
                <a:cs typeface="Segoe UI Semibold"/>
              </a:rPr>
              <a:t>Dashboards + Reporting
(Exposure &amp; Limits)</a:t>
            </a:r>
          </a:p>
        </p:txBody>
      </p:sp>
      <p:sp>
        <p:nvSpPr>
          <p:cNvPr id="18" name="triggers_callout">
            <a:extLst>
              <a:ext uri="{FF2B5EF4-FFF2-40B4-BE49-F238E27FC236}">
                <a16:creationId xmlns:a16="http://schemas.microsoft.com/office/drawing/2014/main" id="{58EC1C42-EA94-416B-A6F4-628D9407496F}"/>
              </a:ext>
            </a:extLst>
          </p:cNvPr>
          <p:cNvSpPr/>
          <p:nvPr/>
        </p:nvSpPr>
        <p:spPr>
          <a:xfrm>
            <a:off x="8420100" y="2057400"/>
            <a:ext cx="3327400" cy="1549400"/>
          </a:xfrm>
          <a:prstGeom prst="roundRect">
            <a:avLst/>
          </a:prstGeom>
          <a:solidFill>
            <a:srgbClr val="FFF7E6"/>
          </a:solidFill>
          <a:ln w="19050" cap="flat" cmpd="sng" algn="ctr">
            <a:solidFill>
              <a:srgbClr val="D38214"/>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clip" horzOverflow="clip" lIns="152400" tIns="127000" rIns="127000" bIns="127000" rtlCol="0" anchor="t" anchorCtr="0"/>
          <a:lstStyle/>
          <a:p>
            <a:r>
              <a:rPr lang="en-US" sz="1100" dirty="0">
                <a:solidFill>
                  <a:srgbClr val="3D3C39"/>
                </a:solidFill>
                <a:latin typeface="Segoe UI Semibold"/>
                <a:cs typeface="Segoe UI Semibold"/>
              </a:rPr>
              <a:t>• Trade event (new / amend / cancel)</a:t>
            </a:r>
          </a:p>
          <a:p>
            <a:r>
              <a:rPr lang="en-US" sz="1100" dirty="0">
                <a:solidFill>
                  <a:srgbClr val="3D3C39"/>
                </a:solidFill>
                <a:latin typeface="Segoe UI Semibold"/>
                <a:cs typeface="Segoe UI Semibold"/>
              </a:rPr>
              <a:t>• Price move / vol shift</a:t>
            </a:r>
          </a:p>
          <a:p>
            <a:r>
              <a:rPr lang="en-US" sz="1100" dirty="0">
                <a:solidFill>
                  <a:srgbClr val="3D3C39"/>
                </a:solidFill>
                <a:latin typeface="Segoe UI Semibold"/>
                <a:cs typeface="Segoe UI Semibold"/>
              </a:rPr>
              <a:t>• Limit threshold / breach</a:t>
            </a:r>
          </a:p>
        </p:txBody>
      </p:sp>
      <p:sp>
        <p:nvSpPr>
          <p:cNvPr id="19" name="Rectangle: Rounded Corners 18">
            <a:extLst>
              <a:ext uri="{FF2B5EF4-FFF2-40B4-BE49-F238E27FC236}">
                <a16:creationId xmlns:a16="http://schemas.microsoft.com/office/drawing/2014/main" id="{4EE41F99-6AC1-42D4-B64D-4A3E2AA1D2B1}"/>
              </a:ext>
            </a:extLst>
          </p:cNvPr>
          <p:cNvSpPr/>
          <p:nvPr/>
        </p:nvSpPr>
        <p:spPr>
          <a:xfrm>
            <a:off x="8420100" y="3810000"/>
            <a:ext cx="3327400" cy="304800"/>
          </a:xfrm>
          <a:prstGeom prst="roundRect">
            <a:avLst/>
          </a:prstGeom>
          <a:solidFill>
            <a:srgbClr val="1F5E7A"/>
          </a:solidFill>
          <a:ln w="12700" cap="flat" cmpd="sng" algn="ctr">
            <a:solidFill>
              <a:srgbClr val="1F5E7A"/>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clip" horzOverflow="clip" lIns="127000" rIns="101600" rtlCol="0" anchor="ctr" anchorCtr="0"/>
          <a:lstStyle/>
          <a:p>
            <a:r>
              <a:rPr lang="en-US" sz="1100" b="1">
                <a:solidFill>
                  <a:srgbClr val="FFFFFF"/>
                </a:solidFill>
                <a:latin typeface="Segoe UI Semibold"/>
                <a:cs typeface="Segoe UI Semibold"/>
              </a:rPr>
              <a:t>Key Outputs</a:t>
            </a:r>
          </a:p>
        </p:txBody>
      </p:sp>
      <p:sp>
        <p:nvSpPr>
          <p:cNvPr id="20" name="outputs_list">
            <a:extLst>
              <a:ext uri="{FF2B5EF4-FFF2-40B4-BE49-F238E27FC236}">
                <a16:creationId xmlns:a16="http://schemas.microsoft.com/office/drawing/2014/main" id="{B7FB55E7-20AB-494A-85D7-58DC5497CC32}"/>
              </a:ext>
            </a:extLst>
          </p:cNvPr>
          <p:cNvSpPr/>
          <p:nvPr/>
        </p:nvSpPr>
        <p:spPr>
          <a:xfrm>
            <a:off x="8420100" y="4165600"/>
            <a:ext cx="3327400" cy="1524000"/>
          </a:xfrm>
          <a:prstGeom prst="roundRect">
            <a:avLst/>
          </a:prstGeom>
          <a:solidFill>
            <a:srgbClr val="F3F7FA"/>
          </a:solidFill>
          <a:ln w="15875" cap="flat" cmpd="sng" algn="ctr">
            <a:solidFill>
              <a:srgbClr val="1F5E7A"/>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clip" horzOverflow="clip" lIns="152400" tIns="127000" rIns="127000" bIns="127000" rtlCol="0" anchor="t" anchorCtr="0"/>
          <a:lstStyle/>
          <a:p>
            <a:pPr marL="171450" indent="-171450">
              <a:buFont typeface="Arial" panose="020B0604020202020204" pitchFamily="34" charset="0"/>
              <a:buChar char="•"/>
            </a:pPr>
            <a:r>
              <a:rPr lang="en-US" sz="1100" dirty="0">
                <a:solidFill>
                  <a:srgbClr val="0F2430"/>
                </a:solidFill>
                <a:latin typeface="Segoe UI Semibold"/>
                <a:cs typeface="Segoe UI Semibold"/>
              </a:rPr>
              <a:t>Sensitivities (DV01/Greeks)</a:t>
            </a:r>
          </a:p>
          <a:p>
            <a:pPr marL="171450" indent="-171450">
              <a:buFont typeface="Arial" panose="020B0604020202020204" pitchFamily="34" charset="0"/>
              <a:buChar char="•"/>
            </a:pPr>
            <a:r>
              <a:rPr lang="en-US" sz="1100" dirty="0">
                <a:solidFill>
                  <a:srgbClr val="0F2430"/>
                </a:solidFill>
                <a:latin typeface="Segoe UI Semibold"/>
                <a:cs typeface="Segoe UI Semibold"/>
              </a:rPr>
              <a:t>VaR (intraday refresh)</a:t>
            </a:r>
          </a:p>
          <a:p>
            <a:pPr marL="171450" indent="-171450">
              <a:buFont typeface="Arial" panose="020B0604020202020204" pitchFamily="34" charset="0"/>
              <a:buChar char="•"/>
            </a:pPr>
            <a:r>
              <a:rPr lang="en-US" sz="1100" dirty="0">
                <a:solidFill>
                  <a:srgbClr val="0F2430"/>
                </a:solidFill>
                <a:latin typeface="Segoe UI Semibold"/>
                <a:cs typeface="Segoe UI Semibold"/>
              </a:rPr>
              <a:t>Stress / scenario shocks</a:t>
            </a:r>
          </a:p>
          <a:p>
            <a:pPr marL="171450" indent="-171450">
              <a:buFont typeface="Arial" panose="020B0604020202020204" pitchFamily="34" charset="0"/>
              <a:buChar char="•"/>
            </a:pPr>
            <a:r>
              <a:rPr lang="en-US" sz="1100" dirty="0">
                <a:solidFill>
                  <a:srgbClr val="0F2430"/>
                </a:solidFill>
                <a:latin typeface="Segoe UI Semibold"/>
                <a:cs typeface="Segoe UI Semibold"/>
              </a:rPr>
              <a:t>Limit utilization &amp; alerts</a:t>
            </a:r>
          </a:p>
          <a:p>
            <a:pPr marL="171450" indent="-171450">
              <a:buFont typeface="Arial" panose="020B0604020202020204" pitchFamily="34" charset="0"/>
              <a:buChar char="•"/>
            </a:pPr>
            <a:r>
              <a:rPr lang="en-US" sz="1100" dirty="0">
                <a:solidFill>
                  <a:srgbClr val="0F2430"/>
                </a:solidFill>
                <a:latin typeface="Segoe UI Semibold"/>
                <a:cs typeface="Segoe UI Semibold"/>
              </a:rPr>
              <a:t>Pre-deal GO/NOGO</a:t>
            </a:r>
          </a:p>
          <a:p>
            <a:pPr marL="171450" indent="-171450">
              <a:buFont typeface="Arial" panose="020B0604020202020204" pitchFamily="34" charset="0"/>
              <a:buChar char="•"/>
            </a:pPr>
            <a:r>
              <a:rPr lang="en-US" sz="1100" dirty="0">
                <a:solidFill>
                  <a:srgbClr val="0F2430"/>
                </a:solidFill>
                <a:latin typeface="Segoe UI Semibold"/>
                <a:cs typeface="Segoe UI Semibold"/>
              </a:rPr>
              <a:t>Internal EAD reports + ICARA report</a:t>
            </a:r>
          </a:p>
          <a:p>
            <a:endParaRPr lang="en-US" sz="1100" dirty="0">
              <a:solidFill>
                <a:srgbClr val="0F2430"/>
              </a:solidFill>
              <a:latin typeface="Segoe UI Semibold"/>
              <a:cs typeface="Segoe UI Semibold"/>
            </a:endParaRPr>
          </a:p>
        </p:txBody>
      </p:sp>
      <p:sp>
        <p:nvSpPr>
          <p:cNvPr id="3" name="Arrow: Right 2">
            <a:extLst>
              <a:ext uri="{FF2B5EF4-FFF2-40B4-BE49-F238E27FC236}">
                <a16:creationId xmlns:a16="http://schemas.microsoft.com/office/drawing/2014/main" id="{EC6DBD18-283B-4602-A75A-50F40F059EBF}"/>
              </a:ext>
            </a:extLst>
          </p:cNvPr>
          <p:cNvSpPr/>
          <p:nvPr/>
        </p:nvSpPr>
        <p:spPr>
          <a:xfrm>
            <a:off x="2895600" y="2362200"/>
            <a:ext cx="279400" cy="127000"/>
          </a:xfrm>
          <a:prstGeom prst="rightArrow">
            <a:avLst/>
          </a:prstGeom>
          <a:solidFill>
            <a:srgbClr val="1F5E7A"/>
          </a:solidFill>
          <a:ln w="9525" cap="flat" cmpd="sng" algn="ctr">
            <a:solidFill>
              <a:srgbClr val="1F5E7A"/>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clip" horzOverflow="clip" rtlCol="0" anchor="t"/>
          <a:lstStyle/>
          <a:p>
            <a:pPr algn="ctr"/>
            <a:endParaRPr lang="en-US" sz="1000">
              <a:solidFill>
                <a:schemeClr val="tx1"/>
              </a:solidFill>
            </a:endParaRPr>
          </a:p>
        </p:txBody>
      </p:sp>
      <p:sp>
        <p:nvSpPr>
          <p:cNvPr id="13" name="Arrow: Right 12">
            <a:extLst>
              <a:ext uri="{FF2B5EF4-FFF2-40B4-BE49-F238E27FC236}">
                <a16:creationId xmlns:a16="http://schemas.microsoft.com/office/drawing/2014/main" id="{8070CE6C-4510-48A3-9E48-3FD326691F18}"/>
              </a:ext>
            </a:extLst>
          </p:cNvPr>
          <p:cNvSpPr/>
          <p:nvPr/>
        </p:nvSpPr>
        <p:spPr>
          <a:xfrm>
            <a:off x="5537200" y="2362200"/>
            <a:ext cx="279400" cy="127000"/>
          </a:xfrm>
          <a:prstGeom prst="rightArrow">
            <a:avLst/>
          </a:prstGeom>
          <a:solidFill>
            <a:srgbClr val="1F5E7A"/>
          </a:solidFill>
          <a:ln w="9525" cap="flat" cmpd="sng" algn="ctr">
            <a:solidFill>
              <a:srgbClr val="1F5E7A"/>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clip" horzOverflow="clip" rtlCol="0" anchor="t"/>
          <a:lstStyle/>
          <a:p>
            <a:pPr algn="ctr"/>
            <a:endParaRPr lang="en-US" sz="1000">
              <a:solidFill>
                <a:schemeClr val="tx1"/>
              </a:solidFill>
            </a:endParaRPr>
          </a:p>
        </p:txBody>
      </p:sp>
      <p:sp>
        <p:nvSpPr>
          <p:cNvPr id="14" name="Arrow: Right 13">
            <a:extLst>
              <a:ext uri="{FF2B5EF4-FFF2-40B4-BE49-F238E27FC236}">
                <a16:creationId xmlns:a16="http://schemas.microsoft.com/office/drawing/2014/main" id="{D51C4A48-DC41-4B2F-AD46-36B61D3654EC}"/>
              </a:ext>
            </a:extLst>
          </p:cNvPr>
          <p:cNvSpPr/>
          <p:nvPr/>
        </p:nvSpPr>
        <p:spPr>
          <a:xfrm rot="5400000">
            <a:off x="4061995" y="3028616"/>
            <a:ext cx="508000" cy="127000"/>
          </a:xfrm>
          <a:prstGeom prst="rightArrow">
            <a:avLst/>
          </a:prstGeom>
          <a:solidFill>
            <a:srgbClr val="1F5E7A"/>
          </a:solidFill>
          <a:ln w="9525" cap="flat" cmpd="sng" algn="ctr">
            <a:solidFill>
              <a:srgbClr val="1F5E7A"/>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clip" horzOverflow="clip" rtlCol="0" anchor="t"/>
          <a:lstStyle/>
          <a:p>
            <a:pPr algn="ctr"/>
            <a:endParaRPr lang="en-US" sz="1000">
              <a:solidFill>
                <a:schemeClr val="tx1"/>
              </a:solidFill>
            </a:endParaRPr>
          </a:p>
        </p:txBody>
      </p:sp>
      <p:sp>
        <p:nvSpPr>
          <p:cNvPr id="15" name="Arrow: Right 14">
            <a:extLst>
              <a:ext uri="{FF2B5EF4-FFF2-40B4-BE49-F238E27FC236}">
                <a16:creationId xmlns:a16="http://schemas.microsoft.com/office/drawing/2014/main" id="{8FAFCD3A-200F-4608-8E25-832EE4B5337B}"/>
              </a:ext>
            </a:extLst>
          </p:cNvPr>
          <p:cNvSpPr/>
          <p:nvPr/>
        </p:nvSpPr>
        <p:spPr>
          <a:xfrm>
            <a:off x="5537200" y="3835400"/>
            <a:ext cx="279400" cy="127000"/>
          </a:xfrm>
          <a:prstGeom prst="rightArrow">
            <a:avLst/>
          </a:prstGeom>
          <a:solidFill>
            <a:srgbClr val="1F5E7A"/>
          </a:solidFill>
          <a:ln w="9525" cap="flat" cmpd="sng" algn="ctr">
            <a:solidFill>
              <a:srgbClr val="1F5E7A"/>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clip" horzOverflow="clip" rtlCol="0" anchor="t"/>
          <a:lstStyle/>
          <a:p>
            <a:pPr algn="ctr"/>
            <a:endParaRPr lang="en-US" sz="1000">
              <a:solidFill>
                <a:schemeClr val="tx1"/>
              </a:solidFill>
            </a:endParaRPr>
          </a:p>
        </p:txBody>
      </p:sp>
      <p:sp>
        <p:nvSpPr>
          <p:cNvPr id="16" name="Arrow: Right 15">
            <a:extLst>
              <a:ext uri="{FF2B5EF4-FFF2-40B4-BE49-F238E27FC236}">
                <a16:creationId xmlns:a16="http://schemas.microsoft.com/office/drawing/2014/main" id="{DDD642F9-C251-478F-A08F-F33781E4F3C5}"/>
              </a:ext>
            </a:extLst>
          </p:cNvPr>
          <p:cNvSpPr/>
          <p:nvPr/>
        </p:nvSpPr>
        <p:spPr>
          <a:xfrm rot="5400000">
            <a:off x="6774447" y="4519195"/>
            <a:ext cx="406400" cy="127000"/>
          </a:xfrm>
          <a:prstGeom prst="rightArrow">
            <a:avLst/>
          </a:prstGeom>
          <a:solidFill>
            <a:srgbClr val="1F5E7A"/>
          </a:solidFill>
          <a:ln w="9525" cap="flat" cmpd="sng" algn="ctr">
            <a:solidFill>
              <a:srgbClr val="1F5E7A"/>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clip" horzOverflow="clip" rtlCol="0" anchor="t"/>
          <a:lstStyle/>
          <a:p>
            <a:pPr algn="ctr"/>
            <a:endParaRPr lang="en-US" sz="1000">
              <a:solidFill>
                <a:schemeClr val="tx1"/>
              </a:solidFill>
            </a:endParaRPr>
          </a:p>
        </p:txBody>
      </p:sp>
      <p:sp>
        <p:nvSpPr>
          <p:cNvPr id="31" name="TextBox 30">
            <a:extLst>
              <a:ext uri="{FF2B5EF4-FFF2-40B4-BE49-F238E27FC236}">
                <a16:creationId xmlns:a16="http://schemas.microsoft.com/office/drawing/2014/main" id="{E7078516-CE42-26F4-865B-8875BA198282}"/>
              </a:ext>
            </a:extLst>
          </p:cNvPr>
          <p:cNvSpPr txBox="1"/>
          <p:nvPr/>
        </p:nvSpPr>
        <p:spPr>
          <a:xfrm>
            <a:off x="5995735" y="2055396"/>
            <a:ext cx="1880936" cy="24622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000" b="1">
                <a:solidFill>
                  <a:srgbClr val="0F2430"/>
                </a:solidFill>
                <a:latin typeface="Segoe UI Semibold"/>
                <a:cs typeface="Segoe UI Semibold"/>
              </a:rPr>
              <a:t>Risk Data Repository</a:t>
            </a:r>
            <a:endParaRPr lang="en-US" sz="1400">
              <a:cs typeface="Segoe UI"/>
            </a:endParaRPr>
          </a:p>
        </p:txBody>
      </p:sp>
      <p:sp>
        <p:nvSpPr>
          <p:cNvPr id="35" name="box_orch">
            <a:extLst>
              <a:ext uri="{FF2B5EF4-FFF2-40B4-BE49-F238E27FC236}">
                <a16:creationId xmlns:a16="http://schemas.microsoft.com/office/drawing/2014/main" id="{4245ECB7-7F8D-B837-F073-E16D66234F9F}"/>
              </a:ext>
            </a:extLst>
          </p:cNvPr>
          <p:cNvSpPr/>
          <p:nvPr/>
        </p:nvSpPr>
        <p:spPr>
          <a:xfrm>
            <a:off x="6030494" y="2342147"/>
            <a:ext cx="651711" cy="426456"/>
          </a:xfrm>
          <a:prstGeom prst="flowChartMagneticDisk">
            <a:avLst/>
          </a:prstGeom>
          <a:solidFill>
            <a:srgbClr val="E8F2F6"/>
          </a:solidFill>
          <a:ln w="19050" cap="flat" cmpd="sng" algn="ctr">
            <a:solidFill>
              <a:srgbClr val="1F5E7A"/>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clip" horzOverflow="clip" lIns="101600" tIns="76200" rIns="101600" bIns="76200" rtlCol="0" anchor="ctr" anchorCtr="0"/>
          <a:lstStyle/>
          <a:p>
            <a:pPr algn="ctr"/>
            <a:r>
              <a:rPr lang="en-US" sz="800" b="1">
                <a:solidFill>
                  <a:srgbClr val="0F2430"/>
                </a:solidFill>
                <a:latin typeface="Segoe UI Semibold"/>
                <a:cs typeface="Segoe UI Semibold"/>
              </a:rPr>
              <a:t>Trade Store</a:t>
            </a:r>
          </a:p>
        </p:txBody>
      </p:sp>
      <p:sp>
        <p:nvSpPr>
          <p:cNvPr id="37" name="box_orch">
            <a:extLst>
              <a:ext uri="{FF2B5EF4-FFF2-40B4-BE49-F238E27FC236}">
                <a16:creationId xmlns:a16="http://schemas.microsoft.com/office/drawing/2014/main" id="{6F3D551F-2683-6A12-A1F0-EF6196B260D7}"/>
              </a:ext>
            </a:extLst>
          </p:cNvPr>
          <p:cNvSpPr/>
          <p:nvPr/>
        </p:nvSpPr>
        <p:spPr>
          <a:xfrm>
            <a:off x="6712283" y="2342146"/>
            <a:ext cx="651711" cy="426457"/>
          </a:xfrm>
          <a:prstGeom prst="flowChartMagneticDisk">
            <a:avLst/>
          </a:prstGeom>
          <a:solidFill>
            <a:srgbClr val="E8F2F6"/>
          </a:solidFill>
          <a:ln w="19050" cap="flat" cmpd="sng" algn="ctr">
            <a:solidFill>
              <a:srgbClr val="1F5E7A"/>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clip" horzOverflow="clip" lIns="101600" tIns="76200" rIns="101600" bIns="76200" rtlCol="0" anchor="ctr" anchorCtr="0"/>
          <a:lstStyle/>
          <a:p>
            <a:pPr algn="ctr"/>
            <a:r>
              <a:rPr lang="en-US" sz="800" b="1">
                <a:solidFill>
                  <a:srgbClr val="0F2430"/>
                </a:solidFill>
                <a:latin typeface="Segoe UI Semibold"/>
                <a:cs typeface="Segoe UI Semibold"/>
              </a:rPr>
              <a:t>Risk Store</a:t>
            </a:r>
          </a:p>
        </p:txBody>
      </p:sp>
      <p:sp>
        <p:nvSpPr>
          <p:cNvPr id="38" name="box_orch">
            <a:extLst>
              <a:ext uri="{FF2B5EF4-FFF2-40B4-BE49-F238E27FC236}">
                <a16:creationId xmlns:a16="http://schemas.microsoft.com/office/drawing/2014/main" id="{25512D99-9783-5DF0-2AF6-FFA94EF6301C}"/>
              </a:ext>
            </a:extLst>
          </p:cNvPr>
          <p:cNvSpPr/>
          <p:nvPr/>
        </p:nvSpPr>
        <p:spPr>
          <a:xfrm>
            <a:off x="7363992" y="2362202"/>
            <a:ext cx="641685" cy="386349"/>
          </a:xfrm>
          <a:prstGeom prst="flowChartMagneticDisk">
            <a:avLst/>
          </a:prstGeom>
          <a:solidFill>
            <a:srgbClr val="E8F2F6"/>
          </a:solidFill>
          <a:ln w="19050" cap="flat" cmpd="sng" algn="ctr">
            <a:solidFill>
              <a:srgbClr val="1F5E7A"/>
            </a:solidFill>
            <a:prstDash val="solid"/>
            <a:miter lim="800000"/>
          </a:ln>
        </p:spPr>
        <p:style>
          <a:lnRef idx="2">
            <a:schemeClr val="accent1">
              <a:shade val="50000"/>
            </a:schemeClr>
          </a:lnRef>
          <a:fillRef idx="1">
            <a:schemeClr val="accent1"/>
          </a:fillRef>
          <a:effectRef idx="0">
            <a:schemeClr val="accent1"/>
          </a:effectRef>
          <a:fontRef idx="minor">
            <a:schemeClr val="lt1"/>
          </a:fontRef>
        </p:style>
        <p:txBody>
          <a:bodyPr vertOverflow="clip" horzOverflow="clip" lIns="101600" tIns="76200" rIns="101600" bIns="76200" rtlCol="0" anchor="ctr" anchorCtr="0"/>
          <a:lstStyle/>
          <a:p>
            <a:pPr algn="ctr"/>
            <a:r>
              <a:rPr lang="en-US" sz="900" b="1">
                <a:solidFill>
                  <a:srgbClr val="0F2430"/>
                </a:solidFill>
                <a:latin typeface="Segoe UI Semibold"/>
                <a:cs typeface="Segoe UI Semibold"/>
              </a:rPr>
              <a:t>Static Stor</a:t>
            </a:r>
            <a:r>
              <a:rPr lang="en-US" sz="900" b="1" dirty="0">
                <a:solidFill>
                  <a:srgbClr val="0F2430"/>
                </a:solidFill>
                <a:latin typeface="Segoe UI Semibold"/>
                <a:cs typeface="Segoe UI Semibold"/>
              </a:rPr>
              <a:t>e</a:t>
            </a:r>
            <a:endParaRPr lang="en-US" sz="900" b="1">
              <a:solidFill>
                <a:srgbClr val="0F2430"/>
              </a:solidFill>
              <a:latin typeface="Segoe UI Semibold"/>
              <a:cs typeface="Segoe UI Semibold"/>
            </a:endParaRPr>
          </a:p>
        </p:txBody>
      </p:sp>
      <p:sp>
        <p:nvSpPr>
          <p:cNvPr id="40" name="TextBox 39">
            <a:extLst>
              <a:ext uri="{FF2B5EF4-FFF2-40B4-BE49-F238E27FC236}">
                <a16:creationId xmlns:a16="http://schemas.microsoft.com/office/drawing/2014/main" id="{CC8F1274-5031-800E-8AF7-3C26CF255EA6}"/>
              </a:ext>
            </a:extLst>
          </p:cNvPr>
          <p:cNvSpPr txBox="1"/>
          <p:nvPr/>
        </p:nvSpPr>
        <p:spPr>
          <a:xfrm>
            <a:off x="5133473" y="3248526"/>
            <a:ext cx="2743200" cy="2616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100" b="1">
                <a:solidFill>
                  <a:srgbClr val="0F2430"/>
                </a:solidFill>
                <a:latin typeface="Segoe UI Semibold"/>
                <a:cs typeface="Segoe UI Semibold"/>
              </a:rPr>
              <a:t>Risk Engine</a:t>
            </a:r>
          </a:p>
        </p:txBody>
      </p:sp>
    </p:spTree>
    <p:extLst>
      <p:ext uri="{BB962C8B-B14F-4D97-AF65-F5344CB8AC3E}">
        <p14:creationId xmlns:p14="http://schemas.microsoft.com/office/powerpoint/2010/main" val="89633280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D639AA-9984-8D3D-77B7-3CFFD5B5CAC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BBF5527B-9DEF-CBBA-02DD-87EB6E0C0543}"/>
              </a:ext>
            </a:extLst>
          </p:cNvPr>
          <p:cNvSpPr/>
          <p:nvPr/>
        </p:nvSpPr>
        <p:spPr>
          <a:xfrm>
            <a:off x="274320" y="137160"/>
            <a:ext cx="8686800" cy="411480"/>
          </a:xfrm>
          <a:prstGeom prst="rect">
            <a:avLst/>
          </a:prstGeom>
          <a:noFill/>
          <a:ln/>
        </p:spPr>
        <p:txBody>
          <a:bodyPr wrap="square" lIns="0" tIns="0" rIns="0" bIns="0" rtlCol="0" anchor="ctr"/>
          <a:lstStyle/>
          <a:p>
            <a:pPr defTabSz="554019"/>
            <a:r>
              <a:rPr lang="en-US" sz="2200" b="1" dirty="0">
                <a:solidFill>
                  <a:srgbClr val="0B2447"/>
                </a:solidFill>
                <a:latin typeface="Aptos" panose="020B0004020202020204" pitchFamily="34" charset="0"/>
                <a:ea typeface="Georgia" pitchFamily="34" charset="-122"/>
                <a:cs typeface="Georgia" pitchFamily="34" charset="-120"/>
              </a:rPr>
              <a:t>Core Risk Platform — Target Architecture</a:t>
            </a:r>
            <a:endParaRPr lang="en-US" sz="2200" dirty="0">
              <a:solidFill>
                <a:srgbClr val="000000"/>
              </a:solidFill>
              <a:latin typeface="Aptos" panose="020B0004020202020204" pitchFamily="34" charset="0"/>
            </a:endParaRPr>
          </a:p>
        </p:txBody>
      </p:sp>
      <p:sp>
        <p:nvSpPr>
          <p:cNvPr id="3" name="Text 1">
            <a:extLst>
              <a:ext uri="{FF2B5EF4-FFF2-40B4-BE49-F238E27FC236}">
                <a16:creationId xmlns:a16="http://schemas.microsoft.com/office/drawing/2014/main" id="{D0987761-7BE2-67B3-7303-C24EB509452F}"/>
              </a:ext>
            </a:extLst>
          </p:cNvPr>
          <p:cNvSpPr/>
          <p:nvPr/>
        </p:nvSpPr>
        <p:spPr>
          <a:xfrm>
            <a:off x="274320" y="530352"/>
            <a:ext cx="8686800" cy="256032"/>
          </a:xfrm>
          <a:prstGeom prst="rect">
            <a:avLst/>
          </a:prstGeom>
          <a:noFill/>
          <a:ln/>
        </p:spPr>
        <p:txBody>
          <a:bodyPr wrap="square" lIns="0" tIns="0" rIns="0" bIns="0" rtlCol="0" anchor="ctr"/>
          <a:lstStyle/>
          <a:p>
            <a:pPr defTabSz="554019"/>
            <a:r>
              <a:rPr lang="en-US" sz="1100" i="1" dirty="0">
                <a:solidFill>
                  <a:srgbClr val="5A6B8A"/>
                </a:solidFill>
                <a:latin typeface="Calibri" pitchFamily="34" charset="0"/>
                <a:ea typeface="Calibri" pitchFamily="34" charset="-122"/>
                <a:cs typeface="Calibri" pitchFamily="34" charset="-120"/>
              </a:rPr>
              <a:t>Layered, modular, event-driven  ·  AWS-hosted, cloud-portable</a:t>
            </a:r>
            <a:endParaRPr lang="en-US" sz="1100" dirty="0">
              <a:solidFill>
                <a:srgbClr val="000000"/>
              </a:solidFill>
              <a:latin typeface="Calibri" panose="020F0502020204030204"/>
            </a:endParaRPr>
          </a:p>
        </p:txBody>
      </p:sp>
      <p:sp>
        <p:nvSpPr>
          <p:cNvPr id="4" name="Shape 2">
            <a:extLst>
              <a:ext uri="{FF2B5EF4-FFF2-40B4-BE49-F238E27FC236}">
                <a16:creationId xmlns:a16="http://schemas.microsoft.com/office/drawing/2014/main" id="{11620058-50D5-2E27-0EB1-15A1977D12B6}"/>
              </a:ext>
            </a:extLst>
          </p:cNvPr>
          <p:cNvSpPr/>
          <p:nvPr/>
        </p:nvSpPr>
        <p:spPr>
          <a:xfrm>
            <a:off x="8412480" y="320040"/>
            <a:ext cx="256032" cy="0"/>
          </a:xfrm>
          <a:prstGeom prst="line">
            <a:avLst/>
          </a:prstGeom>
          <a:noFill/>
          <a:ln w="25400">
            <a:solidFill>
              <a:srgbClr val="19376D"/>
            </a:solidFill>
            <a:prstDash val="solid"/>
          </a:ln>
        </p:spPr>
        <p:txBody>
          <a:bodyPr/>
          <a:lstStyle/>
          <a:p>
            <a:pPr defTabSz="554019"/>
            <a:endParaRPr lang="en-US" sz="819">
              <a:solidFill>
                <a:srgbClr val="000000"/>
              </a:solidFill>
              <a:latin typeface="Calibri" panose="020F0502020204030204"/>
            </a:endParaRPr>
          </a:p>
        </p:txBody>
      </p:sp>
      <p:sp>
        <p:nvSpPr>
          <p:cNvPr id="5" name="Text 3">
            <a:extLst>
              <a:ext uri="{FF2B5EF4-FFF2-40B4-BE49-F238E27FC236}">
                <a16:creationId xmlns:a16="http://schemas.microsoft.com/office/drawing/2014/main" id="{235BAA47-BD2D-B6C5-ED94-57EF1D2BBC60}"/>
              </a:ext>
            </a:extLst>
          </p:cNvPr>
          <p:cNvSpPr/>
          <p:nvPr/>
        </p:nvSpPr>
        <p:spPr>
          <a:xfrm>
            <a:off x="8705088" y="201168"/>
            <a:ext cx="960120" cy="274320"/>
          </a:xfrm>
          <a:prstGeom prst="rect">
            <a:avLst/>
          </a:prstGeom>
          <a:noFill/>
          <a:ln/>
        </p:spPr>
        <p:txBody>
          <a:bodyPr wrap="square" lIns="0" tIns="0" rIns="0" bIns="0" rtlCol="0" anchor="ctr"/>
          <a:lstStyle/>
          <a:p>
            <a:pPr defTabSz="554019"/>
            <a:r>
              <a:rPr lang="en-US" sz="800" dirty="0">
                <a:solidFill>
                  <a:srgbClr val="1F2A44"/>
                </a:solidFill>
                <a:latin typeface="Calibri" pitchFamily="34" charset="0"/>
                <a:ea typeface="Calibri" pitchFamily="34" charset="-122"/>
                <a:cs typeface="Calibri" pitchFamily="34" charset="-120"/>
              </a:rPr>
              <a:t>Sync (REST / gRPC)</a:t>
            </a:r>
            <a:endParaRPr lang="en-US" sz="800" dirty="0">
              <a:solidFill>
                <a:srgbClr val="000000"/>
              </a:solidFill>
              <a:latin typeface="Calibri" panose="020F0502020204030204"/>
            </a:endParaRPr>
          </a:p>
        </p:txBody>
      </p:sp>
      <p:sp>
        <p:nvSpPr>
          <p:cNvPr id="6" name="Shape 4">
            <a:extLst>
              <a:ext uri="{FF2B5EF4-FFF2-40B4-BE49-F238E27FC236}">
                <a16:creationId xmlns:a16="http://schemas.microsoft.com/office/drawing/2014/main" id="{22573238-D0D5-9743-7509-4F8974D76CB4}"/>
              </a:ext>
            </a:extLst>
          </p:cNvPr>
          <p:cNvSpPr/>
          <p:nvPr/>
        </p:nvSpPr>
        <p:spPr>
          <a:xfrm>
            <a:off x="9646920" y="320040"/>
            <a:ext cx="256032" cy="0"/>
          </a:xfrm>
          <a:prstGeom prst="line">
            <a:avLst/>
          </a:prstGeom>
          <a:noFill/>
          <a:ln w="25400">
            <a:solidFill>
              <a:srgbClr val="C8841A"/>
            </a:solidFill>
            <a:prstDash val="dash"/>
          </a:ln>
        </p:spPr>
        <p:txBody>
          <a:bodyPr/>
          <a:lstStyle/>
          <a:p>
            <a:pPr defTabSz="554019"/>
            <a:endParaRPr lang="en-US" sz="819">
              <a:solidFill>
                <a:srgbClr val="000000"/>
              </a:solidFill>
              <a:latin typeface="Calibri" panose="020F0502020204030204"/>
            </a:endParaRPr>
          </a:p>
        </p:txBody>
      </p:sp>
      <p:sp>
        <p:nvSpPr>
          <p:cNvPr id="7" name="Text 5">
            <a:extLst>
              <a:ext uri="{FF2B5EF4-FFF2-40B4-BE49-F238E27FC236}">
                <a16:creationId xmlns:a16="http://schemas.microsoft.com/office/drawing/2014/main" id="{E945D2D6-FA49-9B13-1262-98092D524D21}"/>
              </a:ext>
            </a:extLst>
          </p:cNvPr>
          <p:cNvSpPr/>
          <p:nvPr/>
        </p:nvSpPr>
        <p:spPr>
          <a:xfrm>
            <a:off x="9939528" y="201168"/>
            <a:ext cx="960120" cy="274320"/>
          </a:xfrm>
          <a:prstGeom prst="rect">
            <a:avLst/>
          </a:prstGeom>
          <a:noFill/>
          <a:ln/>
        </p:spPr>
        <p:txBody>
          <a:bodyPr wrap="square" lIns="0" tIns="0" rIns="0" bIns="0" rtlCol="0" anchor="ctr"/>
          <a:lstStyle/>
          <a:p>
            <a:pPr defTabSz="554019"/>
            <a:r>
              <a:rPr lang="en-US" sz="800" dirty="0">
                <a:solidFill>
                  <a:srgbClr val="1F2A44"/>
                </a:solidFill>
                <a:latin typeface="Calibri" pitchFamily="34" charset="0"/>
                <a:ea typeface="Calibri" pitchFamily="34" charset="-122"/>
                <a:cs typeface="Calibri" pitchFamily="34" charset="-120"/>
              </a:rPr>
              <a:t>Event Stream</a:t>
            </a:r>
            <a:endParaRPr lang="en-US" sz="800" dirty="0">
              <a:solidFill>
                <a:srgbClr val="000000"/>
              </a:solidFill>
              <a:latin typeface="Calibri" panose="020F0502020204030204"/>
            </a:endParaRPr>
          </a:p>
        </p:txBody>
      </p:sp>
      <p:sp>
        <p:nvSpPr>
          <p:cNvPr id="8" name="Shape 6">
            <a:extLst>
              <a:ext uri="{FF2B5EF4-FFF2-40B4-BE49-F238E27FC236}">
                <a16:creationId xmlns:a16="http://schemas.microsoft.com/office/drawing/2014/main" id="{C6A7BC6A-EC23-2521-139C-247E05F3A062}"/>
              </a:ext>
            </a:extLst>
          </p:cNvPr>
          <p:cNvSpPr/>
          <p:nvPr/>
        </p:nvSpPr>
        <p:spPr>
          <a:xfrm>
            <a:off x="10881360" y="320040"/>
            <a:ext cx="256032" cy="0"/>
          </a:xfrm>
          <a:prstGeom prst="line">
            <a:avLst/>
          </a:prstGeom>
          <a:noFill/>
          <a:ln w="25400">
            <a:solidFill>
              <a:srgbClr val="5A6B8A"/>
            </a:solidFill>
            <a:prstDash val="dot"/>
          </a:ln>
        </p:spPr>
        <p:txBody>
          <a:bodyPr/>
          <a:lstStyle/>
          <a:p>
            <a:pPr defTabSz="554019"/>
            <a:endParaRPr lang="en-US" sz="819">
              <a:solidFill>
                <a:srgbClr val="000000"/>
              </a:solidFill>
              <a:latin typeface="Calibri" panose="020F0502020204030204"/>
            </a:endParaRPr>
          </a:p>
        </p:txBody>
      </p:sp>
      <p:sp>
        <p:nvSpPr>
          <p:cNvPr id="9" name="Text 7">
            <a:extLst>
              <a:ext uri="{FF2B5EF4-FFF2-40B4-BE49-F238E27FC236}">
                <a16:creationId xmlns:a16="http://schemas.microsoft.com/office/drawing/2014/main" id="{F5F8A770-5F91-0DAF-E855-B8F818AC8B99}"/>
              </a:ext>
            </a:extLst>
          </p:cNvPr>
          <p:cNvSpPr/>
          <p:nvPr/>
        </p:nvSpPr>
        <p:spPr>
          <a:xfrm>
            <a:off x="11173968" y="201168"/>
            <a:ext cx="960120" cy="274320"/>
          </a:xfrm>
          <a:prstGeom prst="rect">
            <a:avLst/>
          </a:prstGeom>
          <a:noFill/>
          <a:ln/>
        </p:spPr>
        <p:txBody>
          <a:bodyPr wrap="square" lIns="0" tIns="0" rIns="0" bIns="0" rtlCol="0" anchor="ctr"/>
          <a:lstStyle/>
          <a:p>
            <a:pPr defTabSz="554019"/>
            <a:r>
              <a:rPr lang="en-US" sz="800" dirty="0">
                <a:solidFill>
                  <a:srgbClr val="1F2A44"/>
                </a:solidFill>
                <a:latin typeface="Calibri" pitchFamily="34" charset="0"/>
                <a:ea typeface="Calibri" pitchFamily="34" charset="-122"/>
                <a:cs typeface="Calibri" pitchFamily="34" charset="-120"/>
              </a:rPr>
              <a:t>Batch / Bulk</a:t>
            </a:r>
            <a:endParaRPr lang="en-US" sz="800" dirty="0">
              <a:solidFill>
                <a:srgbClr val="000000"/>
              </a:solidFill>
              <a:latin typeface="Calibri" panose="020F0502020204030204"/>
            </a:endParaRPr>
          </a:p>
        </p:txBody>
      </p:sp>
      <p:grpSp>
        <p:nvGrpSpPr>
          <p:cNvPr id="13" name="Group 12">
            <a:extLst>
              <a:ext uri="{FF2B5EF4-FFF2-40B4-BE49-F238E27FC236}">
                <a16:creationId xmlns:a16="http://schemas.microsoft.com/office/drawing/2014/main" id="{04122ED3-94FB-8A22-ED98-A0AD75503902}"/>
              </a:ext>
            </a:extLst>
          </p:cNvPr>
          <p:cNvGrpSpPr/>
          <p:nvPr/>
        </p:nvGrpSpPr>
        <p:grpSpPr>
          <a:xfrm>
            <a:off x="3273552" y="885283"/>
            <a:ext cx="8161301" cy="2838008"/>
            <a:chOff x="1645920" y="868680"/>
            <a:chExt cx="9066076" cy="2838008"/>
          </a:xfrm>
        </p:grpSpPr>
        <p:sp>
          <p:nvSpPr>
            <p:cNvPr id="64" name="Shape 62">
              <a:extLst>
                <a:ext uri="{FF2B5EF4-FFF2-40B4-BE49-F238E27FC236}">
                  <a16:creationId xmlns:a16="http://schemas.microsoft.com/office/drawing/2014/main" id="{11C0EC8C-0908-71C0-A1DF-F454BF4E1B1F}"/>
                </a:ext>
              </a:extLst>
            </p:cNvPr>
            <p:cNvSpPr/>
            <p:nvPr/>
          </p:nvSpPr>
          <p:spPr>
            <a:xfrm>
              <a:off x="1645920" y="868680"/>
              <a:ext cx="8869680" cy="640080"/>
            </a:xfrm>
            <a:prstGeom prst="rect">
              <a:avLst/>
            </a:prstGeom>
            <a:solidFill>
              <a:srgbClr val="F4F6FA"/>
            </a:solidFill>
            <a:ln w="6350">
              <a:solidFill>
                <a:srgbClr val="94A3B8"/>
              </a:solidFill>
              <a:prstDash val="solid"/>
            </a:ln>
          </p:spPr>
          <p:txBody>
            <a:bodyPr/>
            <a:lstStyle/>
            <a:p>
              <a:pPr defTabSz="554019"/>
              <a:endParaRPr lang="en-US" sz="819">
                <a:solidFill>
                  <a:srgbClr val="000000"/>
                </a:solidFill>
                <a:latin typeface="Aptos" panose="020B0004020202020204" pitchFamily="34" charset="0"/>
              </a:endParaRPr>
            </a:p>
          </p:txBody>
        </p:sp>
        <p:sp>
          <p:nvSpPr>
            <p:cNvPr id="65" name="Shape 63">
              <a:extLst>
                <a:ext uri="{FF2B5EF4-FFF2-40B4-BE49-F238E27FC236}">
                  <a16:creationId xmlns:a16="http://schemas.microsoft.com/office/drawing/2014/main" id="{6EEF01BE-87F6-76F3-4718-2A1585352A0F}"/>
                </a:ext>
              </a:extLst>
            </p:cNvPr>
            <p:cNvSpPr/>
            <p:nvPr/>
          </p:nvSpPr>
          <p:spPr>
            <a:xfrm>
              <a:off x="1645920" y="868680"/>
              <a:ext cx="1417320" cy="640080"/>
            </a:xfrm>
            <a:prstGeom prst="rect">
              <a:avLst/>
            </a:prstGeom>
            <a:solidFill>
              <a:srgbClr val="0B2447"/>
            </a:solidFill>
            <a:ln w="12700">
              <a:solidFill>
                <a:srgbClr val="0B2447"/>
              </a:solidFill>
              <a:prstDash val="solid"/>
            </a:ln>
          </p:spPr>
          <p:txBody>
            <a:bodyPr/>
            <a:lstStyle/>
            <a:p>
              <a:pPr defTabSz="554019"/>
              <a:endParaRPr lang="en-US" sz="819">
                <a:solidFill>
                  <a:srgbClr val="000000"/>
                </a:solidFill>
                <a:latin typeface="Aptos" panose="020B0004020202020204" pitchFamily="34" charset="0"/>
              </a:endParaRPr>
            </a:p>
          </p:txBody>
        </p:sp>
        <p:sp>
          <p:nvSpPr>
            <p:cNvPr id="66" name="Text 64">
              <a:extLst>
                <a:ext uri="{FF2B5EF4-FFF2-40B4-BE49-F238E27FC236}">
                  <a16:creationId xmlns:a16="http://schemas.microsoft.com/office/drawing/2014/main" id="{FA1114B4-1D87-8FAD-9B04-3AFEB321D162}"/>
                </a:ext>
              </a:extLst>
            </p:cNvPr>
            <p:cNvSpPr/>
            <p:nvPr/>
          </p:nvSpPr>
          <p:spPr>
            <a:xfrm>
              <a:off x="1719072" y="941832"/>
              <a:ext cx="1289304" cy="288036"/>
            </a:xfrm>
            <a:prstGeom prst="rect">
              <a:avLst/>
            </a:prstGeom>
            <a:noFill/>
            <a:ln/>
          </p:spPr>
          <p:txBody>
            <a:bodyPr wrap="square" lIns="0" tIns="0" rIns="0" bIns="0" rtlCol="0" anchor="t"/>
            <a:lstStyle/>
            <a:p>
              <a:pPr defTabSz="554019"/>
              <a:r>
                <a:rPr lang="en-US" sz="1000" b="1" dirty="0">
                  <a:solidFill>
                    <a:srgbClr val="FFFFFF"/>
                  </a:solidFill>
                  <a:latin typeface="Aptos" panose="020B0004020202020204" pitchFamily="34" charset="0"/>
                  <a:ea typeface="Georgia" pitchFamily="34" charset="-122"/>
                  <a:cs typeface="Georgia" pitchFamily="34" charset="-120"/>
                </a:rPr>
                <a:t>UI SUITE</a:t>
              </a:r>
              <a:endParaRPr lang="en-US" sz="1000" dirty="0">
                <a:solidFill>
                  <a:srgbClr val="000000"/>
                </a:solidFill>
                <a:latin typeface="Aptos" panose="020B0004020202020204" pitchFamily="34" charset="0"/>
              </a:endParaRPr>
            </a:p>
          </p:txBody>
        </p:sp>
        <p:sp>
          <p:nvSpPr>
            <p:cNvPr id="67" name="Text 65">
              <a:extLst>
                <a:ext uri="{FF2B5EF4-FFF2-40B4-BE49-F238E27FC236}">
                  <a16:creationId xmlns:a16="http://schemas.microsoft.com/office/drawing/2014/main" id="{FCED58D6-05B3-3181-7F41-CF067E11748D}"/>
                </a:ext>
              </a:extLst>
            </p:cNvPr>
            <p:cNvSpPr/>
            <p:nvPr/>
          </p:nvSpPr>
          <p:spPr>
            <a:xfrm>
              <a:off x="1719072" y="1220724"/>
              <a:ext cx="1289304" cy="256032"/>
            </a:xfrm>
            <a:prstGeom prst="rect">
              <a:avLst/>
            </a:prstGeom>
            <a:noFill/>
            <a:ln/>
          </p:spPr>
          <p:txBody>
            <a:bodyPr wrap="square" lIns="0" tIns="0" rIns="0" bIns="0" rtlCol="0" anchor="t"/>
            <a:lstStyle/>
            <a:p>
              <a:pPr defTabSz="554019"/>
              <a:r>
                <a:rPr lang="en-US" sz="800" dirty="0">
                  <a:solidFill>
                    <a:srgbClr val="D9E7F4"/>
                  </a:solidFill>
                  <a:latin typeface="Aptos" panose="020B0004020202020204" pitchFamily="34" charset="0"/>
                  <a:ea typeface="Calibri" pitchFamily="34" charset="-122"/>
                  <a:cs typeface="Calibri" pitchFamily="34" charset="-120"/>
                </a:rPr>
                <a:t>React + TypeScript</a:t>
              </a:r>
              <a:endParaRPr lang="en-US" sz="800" dirty="0">
                <a:solidFill>
                  <a:srgbClr val="000000"/>
                </a:solidFill>
                <a:latin typeface="Aptos" panose="020B0004020202020204" pitchFamily="34" charset="0"/>
              </a:endParaRPr>
            </a:p>
          </p:txBody>
        </p:sp>
        <p:sp>
          <p:nvSpPr>
            <p:cNvPr id="68" name="Shape 66">
              <a:extLst>
                <a:ext uri="{FF2B5EF4-FFF2-40B4-BE49-F238E27FC236}">
                  <a16:creationId xmlns:a16="http://schemas.microsoft.com/office/drawing/2014/main" id="{43A841C5-CC4B-001F-F431-613620431E39}"/>
                </a:ext>
              </a:extLst>
            </p:cNvPr>
            <p:cNvSpPr/>
            <p:nvPr/>
          </p:nvSpPr>
          <p:spPr>
            <a:xfrm>
              <a:off x="3200400" y="923544"/>
              <a:ext cx="1737360" cy="530352"/>
            </a:xfrm>
            <a:prstGeom prst="rect">
              <a:avLst/>
            </a:prstGeom>
            <a:solidFill>
              <a:srgbClr val="FFFFFF"/>
            </a:solidFill>
            <a:ln w="12700">
              <a:solidFill>
                <a:srgbClr val="0B2447"/>
              </a:solidFill>
              <a:prstDash val="solid"/>
            </a:ln>
            <a:effectLst>
              <a:outerShdw blurRad="50800" dist="12700" dir="8100000" algn="bl" rotWithShape="0">
                <a:srgbClr val="000000">
                  <a:alpha val="8000"/>
                </a:srgbClr>
              </a:outerShdw>
            </a:effectLst>
          </p:spPr>
          <p:txBody>
            <a:bodyPr/>
            <a:lstStyle/>
            <a:p>
              <a:pPr algn="ctr" defTabSz="554019"/>
              <a:endParaRPr lang="en-US" sz="819">
                <a:solidFill>
                  <a:srgbClr val="000000"/>
                </a:solidFill>
                <a:latin typeface="Aptos" panose="020B0004020202020204" pitchFamily="34" charset="0"/>
              </a:endParaRPr>
            </a:p>
          </p:txBody>
        </p:sp>
        <p:sp>
          <p:nvSpPr>
            <p:cNvPr id="70" name="Text 68">
              <a:extLst>
                <a:ext uri="{FF2B5EF4-FFF2-40B4-BE49-F238E27FC236}">
                  <a16:creationId xmlns:a16="http://schemas.microsoft.com/office/drawing/2014/main" id="{6AED239F-18B0-1B33-4621-5F0F7144BA4F}"/>
                </a:ext>
              </a:extLst>
            </p:cNvPr>
            <p:cNvSpPr/>
            <p:nvPr/>
          </p:nvSpPr>
          <p:spPr>
            <a:xfrm>
              <a:off x="3264408" y="1005840"/>
              <a:ext cx="1609344" cy="201168"/>
            </a:xfrm>
            <a:prstGeom prst="rect">
              <a:avLst/>
            </a:prstGeom>
            <a:noFill/>
            <a:ln/>
          </p:spPr>
          <p:txBody>
            <a:bodyPr wrap="square" lIns="0" tIns="0" rIns="0" bIns="0" rtlCol="0" anchor="t"/>
            <a:lstStyle/>
            <a:p>
              <a:pPr algn="ctr" defTabSz="554019"/>
              <a:r>
                <a:rPr lang="en-US" sz="1000" b="1" dirty="0">
                  <a:solidFill>
                    <a:srgbClr val="0B2447"/>
                  </a:solidFill>
                  <a:latin typeface="Aptos" panose="020B0004020202020204" pitchFamily="34" charset="0"/>
                  <a:ea typeface="Calibri" pitchFamily="34" charset="-122"/>
                  <a:cs typeface="Calibri" pitchFamily="34" charset="-120"/>
                </a:rPr>
                <a:t>Broker Workspace</a:t>
              </a:r>
              <a:endParaRPr lang="en-US" sz="1000" dirty="0">
                <a:solidFill>
                  <a:srgbClr val="000000"/>
                </a:solidFill>
                <a:latin typeface="Aptos" panose="020B0004020202020204" pitchFamily="34" charset="0"/>
              </a:endParaRPr>
            </a:p>
          </p:txBody>
        </p:sp>
        <p:sp>
          <p:nvSpPr>
            <p:cNvPr id="71" name="Text 69">
              <a:extLst>
                <a:ext uri="{FF2B5EF4-FFF2-40B4-BE49-F238E27FC236}">
                  <a16:creationId xmlns:a16="http://schemas.microsoft.com/office/drawing/2014/main" id="{C61CCEDC-630E-BFF5-E695-1FE6019D597C}"/>
                </a:ext>
              </a:extLst>
            </p:cNvPr>
            <p:cNvSpPr/>
            <p:nvPr/>
          </p:nvSpPr>
          <p:spPr>
            <a:xfrm>
              <a:off x="3264408" y="1207008"/>
              <a:ext cx="1609344" cy="219456"/>
            </a:xfrm>
            <a:prstGeom prst="rect">
              <a:avLst/>
            </a:prstGeom>
            <a:noFill/>
            <a:ln/>
          </p:spPr>
          <p:txBody>
            <a:bodyPr wrap="square" lIns="0" tIns="0" rIns="0" bIns="0" rtlCol="0" anchor="t"/>
            <a:lstStyle/>
            <a:p>
              <a:pPr algn="ctr" defTabSz="554019"/>
              <a:r>
                <a:rPr lang="en-US" sz="780" dirty="0">
                  <a:solidFill>
                    <a:srgbClr val="5A6B8A"/>
                  </a:solidFill>
                  <a:latin typeface="Aptos" panose="020B0004020202020204" pitchFamily="34" charset="0"/>
                  <a:ea typeface="Calibri" pitchFamily="34" charset="-122"/>
                  <a:cs typeface="Calibri" pitchFamily="34" charset="-120"/>
                </a:rPr>
                <a:t>Pre-deal checks · limits</a:t>
              </a:r>
              <a:endParaRPr lang="en-US" sz="780" dirty="0">
                <a:solidFill>
                  <a:srgbClr val="000000"/>
                </a:solidFill>
                <a:latin typeface="Aptos" panose="020B0004020202020204" pitchFamily="34" charset="0"/>
              </a:endParaRPr>
            </a:p>
          </p:txBody>
        </p:sp>
        <p:sp>
          <p:nvSpPr>
            <p:cNvPr id="72" name="Shape 70">
              <a:extLst>
                <a:ext uri="{FF2B5EF4-FFF2-40B4-BE49-F238E27FC236}">
                  <a16:creationId xmlns:a16="http://schemas.microsoft.com/office/drawing/2014/main" id="{C65D6311-6D02-F2E4-BC2B-BA218D215782}"/>
                </a:ext>
              </a:extLst>
            </p:cNvPr>
            <p:cNvSpPr/>
            <p:nvPr/>
          </p:nvSpPr>
          <p:spPr>
            <a:xfrm>
              <a:off x="5029200" y="923544"/>
              <a:ext cx="1737360" cy="530352"/>
            </a:xfrm>
            <a:prstGeom prst="rect">
              <a:avLst/>
            </a:prstGeom>
            <a:solidFill>
              <a:srgbClr val="FFFFFF"/>
            </a:solidFill>
            <a:ln w="12700">
              <a:solidFill>
                <a:srgbClr val="0B2447"/>
              </a:solidFill>
              <a:prstDash val="solid"/>
            </a:ln>
            <a:effectLst>
              <a:outerShdw blurRad="50800" dist="12700" dir="8100000" algn="bl" rotWithShape="0">
                <a:srgbClr val="000000">
                  <a:alpha val="8000"/>
                </a:srgbClr>
              </a:outerShdw>
            </a:effectLst>
          </p:spPr>
          <p:txBody>
            <a:bodyPr/>
            <a:lstStyle/>
            <a:p>
              <a:pPr algn="ctr" defTabSz="554019"/>
              <a:endParaRPr lang="en-US" sz="819">
                <a:solidFill>
                  <a:srgbClr val="000000"/>
                </a:solidFill>
                <a:latin typeface="Aptos" panose="020B0004020202020204" pitchFamily="34" charset="0"/>
              </a:endParaRPr>
            </a:p>
          </p:txBody>
        </p:sp>
        <p:sp>
          <p:nvSpPr>
            <p:cNvPr id="74" name="Text 72">
              <a:extLst>
                <a:ext uri="{FF2B5EF4-FFF2-40B4-BE49-F238E27FC236}">
                  <a16:creationId xmlns:a16="http://schemas.microsoft.com/office/drawing/2014/main" id="{E5526B63-0559-5939-339A-87916FA6134D}"/>
                </a:ext>
              </a:extLst>
            </p:cNvPr>
            <p:cNvSpPr/>
            <p:nvPr/>
          </p:nvSpPr>
          <p:spPr>
            <a:xfrm>
              <a:off x="5093208" y="1005840"/>
              <a:ext cx="1609344" cy="201168"/>
            </a:xfrm>
            <a:prstGeom prst="rect">
              <a:avLst/>
            </a:prstGeom>
            <a:noFill/>
            <a:ln/>
          </p:spPr>
          <p:txBody>
            <a:bodyPr wrap="square" lIns="0" tIns="0" rIns="0" bIns="0" rtlCol="0" anchor="t"/>
            <a:lstStyle/>
            <a:p>
              <a:pPr algn="ctr" defTabSz="554019"/>
              <a:r>
                <a:rPr lang="en-US" sz="1000" b="1" dirty="0">
                  <a:solidFill>
                    <a:srgbClr val="0B2447"/>
                  </a:solidFill>
                  <a:latin typeface="Aptos" panose="020B0004020202020204" pitchFamily="34" charset="0"/>
                  <a:ea typeface="Calibri" pitchFamily="34" charset="-122"/>
                  <a:cs typeface="Calibri" pitchFamily="34" charset="-120"/>
                </a:rPr>
                <a:t>Risk Ops Console</a:t>
              </a:r>
              <a:endParaRPr lang="en-US" sz="1000" dirty="0">
                <a:solidFill>
                  <a:srgbClr val="000000"/>
                </a:solidFill>
                <a:latin typeface="Aptos" panose="020B0004020202020204" pitchFamily="34" charset="0"/>
              </a:endParaRPr>
            </a:p>
          </p:txBody>
        </p:sp>
        <p:sp>
          <p:nvSpPr>
            <p:cNvPr id="75" name="Text 73">
              <a:extLst>
                <a:ext uri="{FF2B5EF4-FFF2-40B4-BE49-F238E27FC236}">
                  <a16:creationId xmlns:a16="http://schemas.microsoft.com/office/drawing/2014/main" id="{C1732935-587F-B547-47CF-037F273CCF03}"/>
                </a:ext>
              </a:extLst>
            </p:cNvPr>
            <p:cNvSpPr/>
            <p:nvPr/>
          </p:nvSpPr>
          <p:spPr>
            <a:xfrm>
              <a:off x="5093208" y="1207008"/>
              <a:ext cx="1609344" cy="219456"/>
            </a:xfrm>
            <a:prstGeom prst="rect">
              <a:avLst/>
            </a:prstGeom>
            <a:noFill/>
            <a:ln/>
          </p:spPr>
          <p:txBody>
            <a:bodyPr wrap="square" lIns="0" tIns="0" rIns="0" bIns="0" rtlCol="0" anchor="t"/>
            <a:lstStyle/>
            <a:p>
              <a:pPr algn="ctr" defTabSz="554019"/>
              <a:r>
                <a:rPr lang="en-US" sz="780" dirty="0">
                  <a:solidFill>
                    <a:srgbClr val="5A6B8A"/>
                  </a:solidFill>
                  <a:latin typeface="Aptos" panose="020B0004020202020204" pitchFamily="34" charset="0"/>
                  <a:ea typeface="Calibri" pitchFamily="34" charset="-122"/>
                  <a:cs typeface="Calibri" pitchFamily="34" charset="-120"/>
                </a:rPr>
                <a:t>Approvals · re-assign · SLA</a:t>
              </a:r>
              <a:endParaRPr lang="en-US" sz="780" dirty="0">
                <a:solidFill>
                  <a:srgbClr val="000000"/>
                </a:solidFill>
                <a:latin typeface="Aptos" panose="020B0004020202020204" pitchFamily="34" charset="0"/>
              </a:endParaRPr>
            </a:p>
          </p:txBody>
        </p:sp>
        <p:sp>
          <p:nvSpPr>
            <p:cNvPr id="76" name="Shape 74">
              <a:extLst>
                <a:ext uri="{FF2B5EF4-FFF2-40B4-BE49-F238E27FC236}">
                  <a16:creationId xmlns:a16="http://schemas.microsoft.com/office/drawing/2014/main" id="{F537D08A-DC91-39FF-F222-D95168F35B6D}"/>
                </a:ext>
              </a:extLst>
            </p:cNvPr>
            <p:cNvSpPr/>
            <p:nvPr/>
          </p:nvSpPr>
          <p:spPr>
            <a:xfrm>
              <a:off x="6858000" y="923544"/>
              <a:ext cx="1737360" cy="530352"/>
            </a:xfrm>
            <a:prstGeom prst="rect">
              <a:avLst/>
            </a:prstGeom>
            <a:solidFill>
              <a:srgbClr val="FFFFFF"/>
            </a:solidFill>
            <a:ln w="12700">
              <a:solidFill>
                <a:srgbClr val="0B2447"/>
              </a:solidFill>
              <a:prstDash val="solid"/>
            </a:ln>
            <a:effectLst>
              <a:outerShdw blurRad="50800" dist="12700" dir="8100000" algn="bl" rotWithShape="0">
                <a:srgbClr val="000000">
                  <a:alpha val="8000"/>
                </a:srgbClr>
              </a:outerShdw>
            </a:effectLst>
          </p:spPr>
          <p:txBody>
            <a:bodyPr/>
            <a:lstStyle/>
            <a:p>
              <a:pPr algn="ctr" defTabSz="554019"/>
              <a:endParaRPr lang="en-US" sz="819">
                <a:solidFill>
                  <a:srgbClr val="000000"/>
                </a:solidFill>
                <a:latin typeface="Aptos" panose="020B0004020202020204" pitchFamily="34" charset="0"/>
              </a:endParaRPr>
            </a:p>
          </p:txBody>
        </p:sp>
        <p:sp>
          <p:nvSpPr>
            <p:cNvPr id="78" name="Text 76">
              <a:extLst>
                <a:ext uri="{FF2B5EF4-FFF2-40B4-BE49-F238E27FC236}">
                  <a16:creationId xmlns:a16="http://schemas.microsoft.com/office/drawing/2014/main" id="{E79E05EE-2834-B06A-AA83-540EFF89C473}"/>
                </a:ext>
              </a:extLst>
            </p:cNvPr>
            <p:cNvSpPr/>
            <p:nvPr/>
          </p:nvSpPr>
          <p:spPr>
            <a:xfrm>
              <a:off x="6922008" y="1005840"/>
              <a:ext cx="1609344" cy="201168"/>
            </a:xfrm>
            <a:prstGeom prst="rect">
              <a:avLst/>
            </a:prstGeom>
            <a:noFill/>
            <a:ln/>
          </p:spPr>
          <p:txBody>
            <a:bodyPr wrap="square" lIns="0" tIns="0" rIns="0" bIns="0" rtlCol="0" anchor="t"/>
            <a:lstStyle/>
            <a:p>
              <a:pPr algn="ctr" defTabSz="554019"/>
              <a:r>
                <a:rPr lang="en-US" sz="1000" b="1" dirty="0">
                  <a:solidFill>
                    <a:srgbClr val="0B2447"/>
                  </a:solidFill>
                  <a:latin typeface="Aptos" panose="020B0004020202020204" pitchFamily="34" charset="0"/>
                  <a:ea typeface="Calibri" pitchFamily="34" charset="-122"/>
                  <a:cs typeface="Calibri" pitchFamily="34" charset="-120"/>
                </a:rPr>
                <a:t>Risk Reporting</a:t>
              </a:r>
              <a:endParaRPr lang="en-US" sz="1000" dirty="0">
                <a:solidFill>
                  <a:srgbClr val="000000"/>
                </a:solidFill>
                <a:latin typeface="Aptos" panose="020B0004020202020204" pitchFamily="34" charset="0"/>
              </a:endParaRPr>
            </a:p>
          </p:txBody>
        </p:sp>
        <p:sp>
          <p:nvSpPr>
            <p:cNvPr id="79" name="Text 77">
              <a:extLst>
                <a:ext uri="{FF2B5EF4-FFF2-40B4-BE49-F238E27FC236}">
                  <a16:creationId xmlns:a16="http://schemas.microsoft.com/office/drawing/2014/main" id="{3930E30C-5B79-C12D-C477-258AB9486A32}"/>
                </a:ext>
              </a:extLst>
            </p:cNvPr>
            <p:cNvSpPr/>
            <p:nvPr/>
          </p:nvSpPr>
          <p:spPr>
            <a:xfrm>
              <a:off x="6922008" y="1207008"/>
              <a:ext cx="1609344" cy="219456"/>
            </a:xfrm>
            <a:prstGeom prst="rect">
              <a:avLst/>
            </a:prstGeom>
            <a:noFill/>
            <a:ln/>
          </p:spPr>
          <p:txBody>
            <a:bodyPr wrap="square" lIns="0" tIns="0" rIns="0" bIns="0" rtlCol="0" anchor="t"/>
            <a:lstStyle/>
            <a:p>
              <a:pPr algn="ctr" defTabSz="554019"/>
              <a:r>
                <a:rPr lang="en-US" sz="780" dirty="0">
                  <a:solidFill>
                    <a:srgbClr val="5A6B8A"/>
                  </a:solidFill>
                  <a:latin typeface="Aptos" panose="020B0004020202020204" pitchFamily="34" charset="0"/>
                  <a:ea typeface="Calibri" pitchFamily="34" charset="-122"/>
                  <a:cs typeface="Calibri" pitchFamily="34" charset="-120"/>
                </a:rPr>
                <a:t>Self-serve · dashboards</a:t>
              </a:r>
              <a:endParaRPr lang="en-US" sz="780" dirty="0">
                <a:solidFill>
                  <a:srgbClr val="000000"/>
                </a:solidFill>
                <a:latin typeface="Aptos" panose="020B0004020202020204" pitchFamily="34" charset="0"/>
              </a:endParaRPr>
            </a:p>
          </p:txBody>
        </p:sp>
        <p:sp>
          <p:nvSpPr>
            <p:cNvPr id="80" name="Shape 78">
              <a:extLst>
                <a:ext uri="{FF2B5EF4-FFF2-40B4-BE49-F238E27FC236}">
                  <a16:creationId xmlns:a16="http://schemas.microsoft.com/office/drawing/2014/main" id="{762ACF50-220E-1796-0E2A-BB308D66732F}"/>
                </a:ext>
              </a:extLst>
            </p:cNvPr>
            <p:cNvSpPr/>
            <p:nvPr/>
          </p:nvSpPr>
          <p:spPr>
            <a:xfrm>
              <a:off x="8686800" y="923544"/>
              <a:ext cx="1737360" cy="530352"/>
            </a:xfrm>
            <a:prstGeom prst="rect">
              <a:avLst/>
            </a:prstGeom>
            <a:solidFill>
              <a:srgbClr val="FFFFFF"/>
            </a:solidFill>
            <a:ln w="12700">
              <a:solidFill>
                <a:srgbClr val="0B2447"/>
              </a:solidFill>
              <a:prstDash val="solid"/>
            </a:ln>
            <a:effectLst>
              <a:outerShdw blurRad="50800" dist="12700" dir="8100000" algn="bl" rotWithShape="0">
                <a:srgbClr val="000000">
                  <a:alpha val="8000"/>
                </a:srgbClr>
              </a:outerShdw>
            </a:effectLst>
          </p:spPr>
          <p:txBody>
            <a:bodyPr/>
            <a:lstStyle/>
            <a:p>
              <a:pPr algn="ctr" defTabSz="554019"/>
              <a:endParaRPr lang="en-US" sz="819">
                <a:solidFill>
                  <a:srgbClr val="000000"/>
                </a:solidFill>
                <a:latin typeface="Aptos" panose="020B0004020202020204" pitchFamily="34" charset="0"/>
              </a:endParaRPr>
            </a:p>
          </p:txBody>
        </p:sp>
        <p:sp>
          <p:nvSpPr>
            <p:cNvPr id="82" name="Text 80">
              <a:extLst>
                <a:ext uri="{FF2B5EF4-FFF2-40B4-BE49-F238E27FC236}">
                  <a16:creationId xmlns:a16="http://schemas.microsoft.com/office/drawing/2014/main" id="{FDF1D6F8-46CA-B330-3726-7CB253874935}"/>
                </a:ext>
              </a:extLst>
            </p:cNvPr>
            <p:cNvSpPr/>
            <p:nvPr/>
          </p:nvSpPr>
          <p:spPr>
            <a:xfrm>
              <a:off x="8750808" y="1005840"/>
              <a:ext cx="1609344" cy="201168"/>
            </a:xfrm>
            <a:prstGeom prst="rect">
              <a:avLst/>
            </a:prstGeom>
            <a:noFill/>
            <a:ln/>
          </p:spPr>
          <p:txBody>
            <a:bodyPr wrap="square" lIns="0" tIns="0" rIns="0" bIns="0" rtlCol="0" anchor="t"/>
            <a:lstStyle/>
            <a:p>
              <a:pPr algn="ctr" defTabSz="554019"/>
              <a:r>
                <a:rPr lang="en-US" sz="1000" b="1" dirty="0">
                  <a:solidFill>
                    <a:srgbClr val="0B2447"/>
                  </a:solidFill>
                  <a:latin typeface="Aptos" panose="020B0004020202020204" pitchFamily="34" charset="0"/>
                  <a:ea typeface="Calibri" pitchFamily="34" charset="-122"/>
                  <a:cs typeface="Calibri" pitchFamily="34" charset="-120"/>
                </a:rPr>
                <a:t>Alerts</a:t>
              </a:r>
              <a:endParaRPr lang="en-US" sz="1000" dirty="0">
                <a:solidFill>
                  <a:srgbClr val="000000"/>
                </a:solidFill>
                <a:latin typeface="Aptos" panose="020B0004020202020204" pitchFamily="34" charset="0"/>
              </a:endParaRPr>
            </a:p>
          </p:txBody>
        </p:sp>
        <p:sp>
          <p:nvSpPr>
            <p:cNvPr id="83" name="Text 81">
              <a:extLst>
                <a:ext uri="{FF2B5EF4-FFF2-40B4-BE49-F238E27FC236}">
                  <a16:creationId xmlns:a16="http://schemas.microsoft.com/office/drawing/2014/main" id="{9920AAC5-2B5E-0F99-77DE-A2002E229E20}"/>
                </a:ext>
              </a:extLst>
            </p:cNvPr>
            <p:cNvSpPr/>
            <p:nvPr/>
          </p:nvSpPr>
          <p:spPr>
            <a:xfrm>
              <a:off x="8750808" y="1207008"/>
              <a:ext cx="1609344" cy="219456"/>
            </a:xfrm>
            <a:prstGeom prst="rect">
              <a:avLst/>
            </a:prstGeom>
            <a:noFill/>
            <a:ln/>
          </p:spPr>
          <p:txBody>
            <a:bodyPr wrap="square" lIns="0" tIns="0" rIns="0" bIns="0" rtlCol="0" anchor="t"/>
            <a:lstStyle/>
            <a:p>
              <a:pPr algn="ctr" defTabSz="554019"/>
              <a:r>
                <a:rPr lang="en-US" sz="780" dirty="0">
                  <a:solidFill>
                    <a:srgbClr val="5A6B8A"/>
                  </a:solidFill>
                  <a:latin typeface="Aptos" panose="020B0004020202020204" pitchFamily="34" charset="0"/>
                  <a:ea typeface="Calibri" pitchFamily="34" charset="-122"/>
                  <a:cs typeface="Calibri" pitchFamily="34" charset="-120"/>
                </a:rPr>
                <a:t>Push · breach alerts</a:t>
              </a:r>
              <a:endParaRPr lang="en-US" sz="780" dirty="0">
                <a:solidFill>
                  <a:srgbClr val="000000"/>
                </a:solidFill>
                <a:latin typeface="Aptos" panose="020B0004020202020204" pitchFamily="34" charset="0"/>
              </a:endParaRPr>
            </a:p>
          </p:txBody>
        </p:sp>
        <p:sp>
          <p:nvSpPr>
            <p:cNvPr id="84" name="Shape 82">
              <a:extLst>
                <a:ext uri="{FF2B5EF4-FFF2-40B4-BE49-F238E27FC236}">
                  <a16:creationId xmlns:a16="http://schemas.microsoft.com/office/drawing/2014/main" id="{4CFD7C4D-5DA2-24EB-BE81-0517EE1624AE}"/>
                </a:ext>
              </a:extLst>
            </p:cNvPr>
            <p:cNvSpPr/>
            <p:nvPr/>
          </p:nvSpPr>
          <p:spPr>
            <a:xfrm>
              <a:off x="1645920" y="1563625"/>
              <a:ext cx="8869680" cy="466344"/>
            </a:xfrm>
            <a:prstGeom prst="rect">
              <a:avLst/>
            </a:prstGeom>
            <a:solidFill>
              <a:srgbClr val="F4F6FA"/>
            </a:solidFill>
            <a:ln w="6350">
              <a:solidFill>
                <a:srgbClr val="94A3B8"/>
              </a:solidFill>
              <a:prstDash val="solid"/>
            </a:ln>
          </p:spPr>
          <p:txBody>
            <a:bodyPr/>
            <a:lstStyle/>
            <a:p>
              <a:pPr defTabSz="554019"/>
              <a:endParaRPr lang="en-US" sz="819">
                <a:solidFill>
                  <a:srgbClr val="000000"/>
                </a:solidFill>
                <a:latin typeface="Aptos" panose="020B0004020202020204" pitchFamily="34" charset="0"/>
              </a:endParaRPr>
            </a:p>
          </p:txBody>
        </p:sp>
        <p:sp>
          <p:nvSpPr>
            <p:cNvPr id="85" name="Shape 83">
              <a:extLst>
                <a:ext uri="{FF2B5EF4-FFF2-40B4-BE49-F238E27FC236}">
                  <a16:creationId xmlns:a16="http://schemas.microsoft.com/office/drawing/2014/main" id="{FB191A9A-878D-8040-CF4E-1D054F35B2A1}"/>
                </a:ext>
              </a:extLst>
            </p:cNvPr>
            <p:cNvSpPr/>
            <p:nvPr/>
          </p:nvSpPr>
          <p:spPr>
            <a:xfrm>
              <a:off x="1645920" y="1563625"/>
              <a:ext cx="1417320" cy="466344"/>
            </a:xfrm>
            <a:prstGeom prst="rect">
              <a:avLst/>
            </a:prstGeom>
            <a:solidFill>
              <a:srgbClr val="19376D"/>
            </a:solidFill>
            <a:ln w="12700">
              <a:solidFill>
                <a:srgbClr val="19376D"/>
              </a:solidFill>
              <a:prstDash val="solid"/>
            </a:ln>
          </p:spPr>
          <p:txBody>
            <a:bodyPr/>
            <a:lstStyle/>
            <a:p>
              <a:pPr defTabSz="554019"/>
              <a:endParaRPr lang="en-US" sz="819">
                <a:solidFill>
                  <a:srgbClr val="000000"/>
                </a:solidFill>
                <a:latin typeface="Aptos" panose="020B0004020202020204" pitchFamily="34" charset="0"/>
              </a:endParaRPr>
            </a:p>
          </p:txBody>
        </p:sp>
        <p:sp>
          <p:nvSpPr>
            <p:cNvPr id="86" name="Text 84">
              <a:extLst>
                <a:ext uri="{FF2B5EF4-FFF2-40B4-BE49-F238E27FC236}">
                  <a16:creationId xmlns:a16="http://schemas.microsoft.com/office/drawing/2014/main" id="{8E7A8556-3C24-C237-0EC8-AABA028807AB}"/>
                </a:ext>
              </a:extLst>
            </p:cNvPr>
            <p:cNvSpPr/>
            <p:nvPr/>
          </p:nvSpPr>
          <p:spPr>
            <a:xfrm>
              <a:off x="1719072" y="1636776"/>
              <a:ext cx="1289304" cy="279806"/>
            </a:xfrm>
            <a:prstGeom prst="rect">
              <a:avLst/>
            </a:prstGeom>
            <a:noFill/>
            <a:ln/>
          </p:spPr>
          <p:txBody>
            <a:bodyPr wrap="square" lIns="0" tIns="0" rIns="0" bIns="0" rtlCol="0" anchor="t"/>
            <a:lstStyle/>
            <a:p>
              <a:pPr defTabSz="554019"/>
              <a:r>
                <a:rPr lang="en-US" sz="1000" b="1" dirty="0">
                  <a:solidFill>
                    <a:srgbClr val="FFFFFF"/>
                  </a:solidFill>
                  <a:latin typeface="Aptos" panose="020B0004020202020204" pitchFamily="34" charset="0"/>
                  <a:ea typeface="Georgia" pitchFamily="34" charset="-122"/>
                  <a:cs typeface="Georgia" pitchFamily="34" charset="-120"/>
                </a:rPr>
                <a:t>API &amp; BFF</a:t>
              </a:r>
              <a:endParaRPr lang="en-US" sz="1000" dirty="0">
                <a:solidFill>
                  <a:srgbClr val="000000"/>
                </a:solidFill>
                <a:latin typeface="Aptos" panose="020B0004020202020204" pitchFamily="34" charset="0"/>
              </a:endParaRPr>
            </a:p>
          </p:txBody>
        </p:sp>
        <p:sp>
          <p:nvSpPr>
            <p:cNvPr id="87" name="Text 85">
              <a:extLst>
                <a:ext uri="{FF2B5EF4-FFF2-40B4-BE49-F238E27FC236}">
                  <a16:creationId xmlns:a16="http://schemas.microsoft.com/office/drawing/2014/main" id="{95F84B5F-BD5E-E440-FD17-F5F3521FBDC3}"/>
                </a:ext>
              </a:extLst>
            </p:cNvPr>
            <p:cNvSpPr/>
            <p:nvPr/>
          </p:nvSpPr>
          <p:spPr>
            <a:xfrm>
              <a:off x="1708380" y="1837439"/>
              <a:ext cx="1289304" cy="248717"/>
            </a:xfrm>
            <a:prstGeom prst="rect">
              <a:avLst/>
            </a:prstGeom>
            <a:noFill/>
            <a:ln/>
          </p:spPr>
          <p:txBody>
            <a:bodyPr wrap="square" lIns="0" tIns="0" rIns="0" bIns="0" rtlCol="0" anchor="t"/>
            <a:lstStyle/>
            <a:p>
              <a:pPr defTabSz="554019"/>
              <a:r>
                <a:rPr lang="en-US" sz="800" dirty="0">
                  <a:solidFill>
                    <a:srgbClr val="D9E7F4"/>
                  </a:solidFill>
                  <a:latin typeface="Aptos" panose="020B0004020202020204" pitchFamily="34" charset="0"/>
                  <a:ea typeface="Calibri" pitchFamily="34" charset="-122"/>
                  <a:cs typeface="Calibri" pitchFamily="34" charset="-120"/>
                </a:rPr>
                <a:t>Experience tier</a:t>
              </a:r>
              <a:endParaRPr lang="en-US" sz="800" dirty="0">
                <a:solidFill>
                  <a:srgbClr val="000000"/>
                </a:solidFill>
                <a:latin typeface="Aptos" panose="020B0004020202020204" pitchFamily="34" charset="0"/>
              </a:endParaRPr>
            </a:p>
          </p:txBody>
        </p:sp>
        <p:sp>
          <p:nvSpPr>
            <p:cNvPr id="88" name="Shape 86">
              <a:extLst>
                <a:ext uri="{FF2B5EF4-FFF2-40B4-BE49-F238E27FC236}">
                  <a16:creationId xmlns:a16="http://schemas.microsoft.com/office/drawing/2014/main" id="{A9591935-7A9D-B41C-6CF4-C3707F4BD8D0}"/>
                </a:ext>
              </a:extLst>
            </p:cNvPr>
            <p:cNvSpPr/>
            <p:nvPr/>
          </p:nvSpPr>
          <p:spPr>
            <a:xfrm>
              <a:off x="3200400" y="1618489"/>
              <a:ext cx="1737360" cy="384048"/>
            </a:xfrm>
            <a:prstGeom prst="rect">
              <a:avLst/>
            </a:prstGeom>
            <a:solidFill>
              <a:srgbClr val="FFFFFF"/>
            </a:solidFill>
            <a:ln w="12700">
              <a:solidFill>
                <a:srgbClr val="19376D"/>
              </a:solidFill>
              <a:prstDash val="solid"/>
            </a:ln>
            <a:effectLst>
              <a:outerShdw blurRad="50800" dist="12700" dir="8100000" algn="bl" rotWithShape="0">
                <a:srgbClr val="000000">
                  <a:alpha val="8000"/>
                </a:srgbClr>
              </a:outerShdw>
            </a:effectLst>
          </p:spPr>
          <p:txBody>
            <a:bodyPr/>
            <a:lstStyle/>
            <a:p>
              <a:pPr algn="ctr" defTabSz="554019"/>
              <a:endParaRPr lang="en-US" sz="819">
                <a:solidFill>
                  <a:srgbClr val="000000"/>
                </a:solidFill>
                <a:latin typeface="Aptos" panose="020B0004020202020204" pitchFamily="34" charset="0"/>
              </a:endParaRPr>
            </a:p>
          </p:txBody>
        </p:sp>
        <p:sp>
          <p:nvSpPr>
            <p:cNvPr id="90" name="Text 88">
              <a:extLst>
                <a:ext uri="{FF2B5EF4-FFF2-40B4-BE49-F238E27FC236}">
                  <a16:creationId xmlns:a16="http://schemas.microsoft.com/office/drawing/2014/main" id="{59987B0A-AE76-D551-FEEF-7A291CBF3FED}"/>
                </a:ext>
              </a:extLst>
            </p:cNvPr>
            <p:cNvSpPr/>
            <p:nvPr/>
          </p:nvSpPr>
          <p:spPr>
            <a:xfrm>
              <a:off x="3264408" y="1700784"/>
              <a:ext cx="1609344" cy="201168"/>
            </a:xfrm>
            <a:prstGeom prst="rect">
              <a:avLst/>
            </a:prstGeom>
            <a:noFill/>
            <a:ln/>
          </p:spPr>
          <p:txBody>
            <a:bodyPr wrap="square" lIns="0" tIns="0" rIns="0" bIns="0" rtlCol="0" anchor="t"/>
            <a:lstStyle/>
            <a:p>
              <a:pPr algn="ctr" defTabSz="554019"/>
              <a:r>
                <a:rPr lang="en-US" sz="1000" b="1" dirty="0">
                  <a:solidFill>
                    <a:srgbClr val="0B2447"/>
                  </a:solidFill>
                  <a:latin typeface="Aptos" panose="020B0004020202020204" pitchFamily="34" charset="0"/>
                  <a:ea typeface="Calibri" pitchFamily="34" charset="-122"/>
                  <a:cs typeface="Calibri" pitchFamily="34" charset="-120"/>
                </a:rPr>
                <a:t>API Gateway</a:t>
              </a:r>
              <a:endParaRPr lang="en-US" sz="1000" dirty="0">
                <a:solidFill>
                  <a:srgbClr val="000000"/>
                </a:solidFill>
                <a:latin typeface="Aptos" panose="020B0004020202020204" pitchFamily="34" charset="0"/>
              </a:endParaRPr>
            </a:p>
          </p:txBody>
        </p:sp>
        <p:sp>
          <p:nvSpPr>
            <p:cNvPr id="91" name="Text 89">
              <a:extLst>
                <a:ext uri="{FF2B5EF4-FFF2-40B4-BE49-F238E27FC236}">
                  <a16:creationId xmlns:a16="http://schemas.microsoft.com/office/drawing/2014/main" id="{8BCFA7BD-2600-B2E4-CC0B-1E28230B94AA}"/>
                </a:ext>
              </a:extLst>
            </p:cNvPr>
            <p:cNvSpPr/>
            <p:nvPr/>
          </p:nvSpPr>
          <p:spPr>
            <a:xfrm>
              <a:off x="3264408" y="1853827"/>
              <a:ext cx="1609344" cy="201168"/>
            </a:xfrm>
            <a:prstGeom prst="rect">
              <a:avLst/>
            </a:prstGeom>
            <a:noFill/>
            <a:ln/>
          </p:spPr>
          <p:txBody>
            <a:bodyPr wrap="square" lIns="0" tIns="0" rIns="0" bIns="0" rtlCol="0" anchor="t"/>
            <a:lstStyle/>
            <a:p>
              <a:pPr algn="ctr" defTabSz="554019"/>
              <a:r>
                <a:rPr lang="en-US" sz="780" dirty="0">
                  <a:solidFill>
                    <a:srgbClr val="5A6B8A"/>
                  </a:solidFill>
                  <a:latin typeface="Aptos" panose="020B0004020202020204" pitchFamily="34" charset="0"/>
                  <a:ea typeface="Calibri" pitchFamily="34" charset="-122"/>
                  <a:cs typeface="Calibri" pitchFamily="34" charset="-120"/>
                </a:rPr>
                <a:t>Kong · OAuth2 / OIDC</a:t>
              </a:r>
              <a:endParaRPr lang="en-US" sz="780" dirty="0">
                <a:solidFill>
                  <a:srgbClr val="000000"/>
                </a:solidFill>
                <a:latin typeface="Aptos" panose="020B0004020202020204" pitchFamily="34" charset="0"/>
              </a:endParaRPr>
            </a:p>
          </p:txBody>
        </p:sp>
        <p:sp>
          <p:nvSpPr>
            <p:cNvPr id="92" name="Shape 90">
              <a:extLst>
                <a:ext uri="{FF2B5EF4-FFF2-40B4-BE49-F238E27FC236}">
                  <a16:creationId xmlns:a16="http://schemas.microsoft.com/office/drawing/2014/main" id="{F0D6E861-71DD-5B41-BA87-363E0F3622CF}"/>
                </a:ext>
              </a:extLst>
            </p:cNvPr>
            <p:cNvSpPr/>
            <p:nvPr/>
          </p:nvSpPr>
          <p:spPr>
            <a:xfrm>
              <a:off x="5029200" y="1618489"/>
              <a:ext cx="1737360" cy="384048"/>
            </a:xfrm>
            <a:prstGeom prst="rect">
              <a:avLst/>
            </a:prstGeom>
            <a:solidFill>
              <a:srgbClr val="FFFFFF"/>
            </a:solidFill>
            <a:ln w="12700">
              <a:solidFill>
                <a:srgbClr val="19376D"/>
              </a:solidFill>
              <a:prstDash val="solid"/>
            </a:ln>
            <a:effectLst>
              <a:outerShdw blurRad="50800" dist="12700" dir="8100000" algn="bl" rotWithShape="0">
                <a:srgbClr val="000000">
                  <a:alpha val="8000"/>
                </a:srgbClr>
              </a:outerShdw>
            </a:effectLst>
          </p:spPr>
          <p:txBody>
            <a:bodyPr/>
            <a:lstStyle/>
            <a:p>
              <a:pPr algn="ctr" defTabSz="554019"/>
              <a:endParaRPr lang="en-US" sz="819">
                <a:solidFill>
                  <a:srgbClr val="000000"/>
                </a:solidFill>
                <a:latin typeface="Aptos" panose="020B0004020202020204" pitchFamily="34" charset="0"/>
              </a:endParaRPr>
            </a:p>
          </p:txBody>
        </p:sp>
        <p:sp>
          <p:nvSpPr>
            <p:cNvPr id="94" name="Text 92">
              <a:extLst>
                <a:ext uri="{FF2B5EF4-FFF2-40B4-BE49-F238E27FC236}">
                  <a16:creationId xmlns:a16="http://schemas.microsoft.com/office/drawing/2014/main" id="{E53C18FC-4EED-E9B3-F850-1141C8F1AFB1}"/>
                </a:ext>
              </a:extLst>
            </p:cNvPr>
            <p:cNvSpPr/>
            <p:nvPr/>
          </p:nvSpPr>
          <p:spPr>
            <a:xfrm>
              <a:off x="5093208" y="1700784"/>
              <a:ext cx="1609344" cy="201168"/>
            </a:xfrm>
            <a:prstGeom prst="rect">
              <a:avLst/>
            </a:prstGeom>
            <a:noFill/>
            <a:ln/>
          </p:spPr>
          <p:txBody>
            <a:bodyPr wrap="square" lIns="0" tIns="0" rIns="0" bIns="0" rtlCol="0" anchor="t"/>
            <a:lstStyle/>
            <a:p>
              <a:pPr algn="ctr" defTabSz="554019"/>
              <a:r>
                <a:rPr lang="en-US" sz="1000" b="1" dirty="0">
                  <a:solidFill>
                    <a:srgbClr val="0B2447"/>
                  </a:solidFill>
                  <a:latin typeface="Aptos" panose="020B0004020202020204" pitchFamily="34" charset="0"/>
                  <a:ea typeface="Calibri" pitchFamily="34" charset="-122"/>
                  <a:cs typeface="Calibri" pitchFamily="34" charset="-120"/>
                </a:rPr>
                <a:t>BFF Services</a:t>
              </a:r>
              <a:endParaRPr lang="en-US" sz="1000" dirty="0">
                <a:solidFill>
                  <a:srgbClr val="000000"/>
                </a:solidFill>
                <a:latin typeface="Aptos" panose="020B0004020202020204" pitchFamily="34" charset="0"/>
              </a:endParaRPr>
            </a:p>
          </p:txBody>
        </p:sp>
        <p:sp>
          <p:nvSpPr>
            <p:cNvPr id="95" name="Text 93">
              <a:extLst>
                <a:ext uri="{FF2B5EF4-FFF2-40B4-BE49-F238E27FC236}">
                  <a16:creationId xmlns:a16="http://schemas.microsoft.com/office/drawing/2014/main" id="{470E6C15-E213-BC54-0D07-CF2DE539CBCD}"/>
                </a:ext>
              </a:extLst>
            </p:cNvPr>
            <p:cNvSpPr/>
            <p:nvPr/>
          </p:nvSpPr>
          <p:spPr>
            <a:xfrm>
              <a:off x="5093208" y="1853827"/>
              <a:ext cx="1609344" cy="201168"/>
            </a:xfrm>
            <a:prstGeom prst="rect">
              <a:avLst/>
            </a:prstGeom>
            <a:noFill/>
            <a:ln/>
          </p:spPr>
          <p:txBody>
            <a:bodyPr wrap="square" lIns="0" tIns="0" rIns="0" bIns="0" rtlCol="0" anchor="t"/>
            <a:lstStyle/>
            <a:p>
              <a:pPr algn="ctr" defTabSz="554019"/>
              <a:r>
                <a:rPr lang="en-US" sz="780" dirty="0">
                  <a:solidFill>
                    <a:srgbClr val="5A6B8A"/>
                  </a:solidFill>
                  <a:latin typeface="Aptos" panose="020B0004020202020204" pitchFamily="34" charset="0"/>
                  <a:ea typeface="Calibri" pitchFamily="34" charset="-122"/>
                  <a:cs typeface="Calibri" pitchFamily="34" charset="-120"/>
                </a:rPr>
                <a:t>Python FastAPI</a:t>
              </a:r>
              <a:endParaRPr lang="en-US" sz="780" dirty="0">
                <a:solidFill>
                  <a:srgbClr val="000000"/>
                </a:solidFill>
                <a:latin typeface="Aptos" panose="020B0004020202020204" pitchFamily="34" charset="0"/>
              </a:endParaRPr>
            </a:p>
          </p:txBody>
        </p:sp>
        <p:sp>
          <p:nvSpPr>
            <p:cNvPr id="96" name="Shape 94">
              <a:extLst>
                <a:ext uri="{FF2B5EF4-FFF2-40B4-BE49-F238E27FC236}">
                  <a16:creationId xmlns:a16="http://schemas.microsoft.com/office/drawing/2014/main" id="{5851EA72-48A2-A695-37F5-4EAC3A5EA94D}"/>
                </a:ext>
              </a:extLst>
            </p:cNvPr>
            <p:cNvSpPr/>
            <p:nvPr/>
          </p:nvSpPr>
          <p:spPr>
            <a:xfrm>
              <a:off x="6858000" y="1618489"/>
              <a:ext cx="1737360" cy="384048"/>
            </a:xfrm>
            <a:prstGeom prst="rect">
              <a:avLst/>
            </a:prstGeom>
            <a:solidFill>
              <a:srgbClr val="FFFFFF"/>
            </a:solidFill>
            <a:ln w="12700">
              <a:solidFill>
                <a:srgbClr val="19376D"/>
              </a:solidFill>
              <a:prstDash val="solid"/>
            </a:ln>
            <a:effectLst>
              <a:outerShdw blurRad="50800" dist="12700" dir="8100000" algn="bl" rotWithShape="0">
                <a:srgbClr val="000000">
                  <a:alpha val="8000"/>
                </a:srgbClr>
              </a:outerShdw>
            </a:effectLst>
          </p:spPr>
          <p:txBody>
            <a:bodyPr/>
            <a:lstStyle/>
            <a:p>
              <a:pPr algn="ctr" defTabSz="554019"/>
              <a:endParaRPr lang="en-US" sz="819">
                <a:solidFill>
                  <a:srgbClr val="000000"/>
                </a:solidFill>
                <a:latin typeface="Aptos" panose="020B0004020202020204" pitchFamily="34" charset="0"/>
              </a:endParaRPr>
            </a:p>
          </p:txBody>
        </p:sp>
        <p:sp>
          <p:nvSpPr>
            <p:cNvPr id="98" name="Text 96">
              <a:extLst>
                <a:ext uri="{FF2B5EF4-FFF2-40B4-BE49-F238E27FC236}">
                  <a16:creationId xmlns:a16="http://schemas.microsoft.com/office/drawing/2014/main" id="{A739B098-B1F8-2A73-9418-CB3D6977AE25}"/>
                </a:ext>
              </a:extLst>
            </p:cNvPr>
            <p:cNvSpPr/>
            <p:nvPr/>
          </p:nvSpPr>
          <p:spPr>
            <a:xfrm>
              <a:off x="6922008" y="1700784"/>
              <a:ext cx="1609344" cy="201168"/>
            </a:xfrm>
            <a:prstGeom prst="rect">
              <a:avLst/>
            </a:prstGeom>
            <a:noFill/>
            <a:ln/>
          </p:spPr>
          <p:txBody>
            <a:bodyPr wrap="square" lIns="0" tIns="0" rIns="0" bIns="0" rtlCol="0" anchor="t"/>
            <a:lstStyle/>
            <a:p>
              <a:pPr algn="ctr" defTabSz="554019"/>
              <a:r>
                <a:rPr lang="en-US" sz="1000" b="1" dirty="0">
                  <a:solidFill>
                    <a:srgbClr val="0B2447"/>
                  </a:solidFill>
                  <a:latin typeface="Aptos" panose="020B0004020202020204" pitchFamily="34" charset="0"/>
                  <a:ea typeface="Calibri" pitchFamily="34" charset="-122"/>
                  <a:cs typeface="Calibri" pitchFamily="34" charset="-120"/>
                </a:rPr>
                <a:t>GraphQL Gateway</a:t>
              </a:r>
              <a:endParaRPr lang="en-US" sz="1000" dirty="0">
                <a:solidFill>
                  <a:srgbClr val="000000"/>
                </a:solidFill>
                <a:latin typeface="Aptos" panose="020B0004020202020204" pitchFamily="34" charset="0"/>
              </a:endParaRPr>
            </a:p>
          </p:txBody>
        </p:sp>
        <p:sp>
          <p:nvSpPr>
            <p:cNvPr id="99" name="Text 97">
              <a:extLst>
                <a:ext uri="{FF2B5EF4-FFF2-40B4-BE49-F238E27FC236}">
                  <a16:creationId xmlns:a16="http://schemas.microsoft.com/office/drawing/2014/main" id="{D85C7645-6444-B99D-73D9-D266B2395F82}"/>
                </a:ext>
              </a:extLst>
            </p:cNvPr>
            <p:cNvSpPr/>
            <p:nvPr/>
          </p:nvSpPr>
          <p:spPr>
            <a:xfrm>
              <a:off x="6922008" y="1853827"/>
              <a:ext cx="1609344" cy="201168"/>
            </a:xfrm>
            <a:prstGeom prst="rect">
              <a:avLst/>
            </a:prstGeom>
            <a:noFill/>
            <a:ln/>
          </p:spPr>
          <p:txBody>
            <a:bodyPr wrap="square" lIns="0" tIns="0" rIns="0" bIns="0" rtlCol="0" anchor="t"/>
            <a:lstStyle/>
            <a:p>
              <a:pPr algn="ctr" defTabSz="554019"/>
              <a:r>
                <a:rPr lang="en-US" sz="780" dirty="0">
                  <a:solidFill>
                    <a:srgbClr val="5A6B8A"/>
                  </a:solidFill>
                  <a:latin typeface="Aptos" panose="020B0004020202020204" pitchFamily="34" charset="0"/>
                  <a:ea typeface="Calibri" pitchFamily="34" charset="-122"/>
                  <a:cs typeface="Calibri" pitchFamily="34" charset="-120"/>
                </a:rPr>
                <a:t>Read aggregation</a:t>
              </a:r>
              <a:endParaRPr lang="en-US" sz="780" dirty="0">
                <a:solidFill>
                  <a:srgbClr val="000000"/>
                </a:solidFill>
                <a:latin typeface="Aptos" panose="020B0004020202020204" pitchFamily="34" charset="0"/>
              </a:endParaRPr>
            </a:p>
          </p:txBody>
        </p:sp>
        <p:sp>
          <p:nvSpPr>
            <p:cNvPr id="100" name="Shape 98">
              <a:extLst>
                <a:ext uri="{FF2B5EF4-FFF2-40B4-BE49-F238E27FC236}">
                  <a16:creationId xmlns:a16="http://schemas.microsoft.com/office/drawing/2014/main" id="{E94C699B-0895-54CC-676D-E62102B22CB7}"/>
                </a:ext>
              </a:extLst>
            </p:cNvPr>
            <p:cNvSpPr/>
            <p:nvPr/>
          </p:nvSpPr>
          <p:spPr>
            <a:xfrm>
              <a:off x="8686800" y="1618489"/>
              <a:ext cx="1737360" cy="384048"/>
            </a:xfrm>
            <a:prstGeom prst="rect">
              <a:avLst/>
            </a:prstGeom>
            <a:solidFill>
              <a:srgbClr val="FFFFFF"/>
            </a:solidFill>
            <a:ln w="12700">
              <a:solidFill>
                <a:srgbClr val="19376D"/>
              </a:solidFill>
              <a:prstDash val="solid"/>
            </a:ln>
            <a:effectLst>
              <a:outerShdw blurRad="50800" dist="12700" dir="8100000" algn="bl" rotWithShape="0">
                <a:srgbClr val="000000">
                  <a:alpha val="8000"/>
                </a:srgbClr>
              </a:outerShdw>
            </a:effectLst>
          </p:spPr>
          <p:txBody>
            <a:bodyPr/>
            <a:lstStyle/>
            <a:p>
              <a:pPr algn="ctr" defTabSz="554019"/>
              <a:endParaRPr lang="en-US" sz="819">
                <a:solidFill>
                  <a:srgbClr val="000000"/>
                </a:solidFill>
                <a:latin typeface="Aptos" panose="020B0004020202020204" pitchFamily="34" charset="0"/>
              </a:endParaRPr>
            </a:p>
          </p:txBody>
        </p:sp>
        <p:sp>
          <p:nvSpPr>
            <p:cNvPr id="102" name="Text 100">
              <a:extLst>
                <a:ext uri="{FF2B5EF4-FFF2-40B4-BE49-F238E27FC236}">
                  <a16:creationId xmlns:a16="http://schemas.microsoft.com/office/drawing/2014/main" id="{D1845B23-2325-17A2-E0D9-0451F248CF01}"/>
                </a:ext>
              </a:extLst>
            </p:cNvPr>
            <p:cNvSpPr/>
            <p:nvPr/>
          </p:nvSpPr>
          <p:spPr>
            <a:xfrm>
              <a:off x="8750808" y="1700784"/>
              <a:ext cx="1609344" cy="201168"/>
            </a:xfrm>
            <a:prstGeom prst="rect">
              <a:avLst/>
            </a:prstGeom>
            <a:noFill/>
            <a:ln/>
          </p:spPr>
          <p:txBody>
            <a:bodyPr wrap="square" lIns="0" tIns="0" rIns="0" bIns="0" rtlCol="0" anchor="t"/>
            <a:lstStyle/>
            <a:p>
              <a:pPr algn="ctr" defTabSz="554019"/>
              <a:r>
                <a:rPr lang="en-US" sz="1000" b="1" dirty="0">
                  <a:solidFill>
                    <a:srgbClr val="0B2447"/>
                  </a:solidFill>
                  <a:latin typeface="Aptos" panose="020B0004020202020204" pitchFamily="34" charset="0"/>
                  <a:ea typeface="Calibri" pitchFamily="34" charset="-122"/>
                  <a:cs typeface="Calibri" pitchFamily="34" charset="-120"/>
                </a:rPr>
                <a:t>WebSocket Hub</a:t>
              </a:r>
              <a:endParaRPr lang="en-US" sz="1000" dirty="0">
                <a:solidFill>
                  <a:srgbClr val="000000"/>
                </a:solidFill>
                <a:latin typeface="Aptos" panose="020B0004020202020204" pitchFamily="34" charset="0"/>
              </a:endParaRPr>
            </a:p>
          </p:txBody>
        </p:sp>
        <p:sp>
          <p:nvSpPr>
            <p:cNvPr id="103" name="Text 101">
              <a:extLst>
                <a:ext uri="{FF2B5EF4-FFF2-40B4-BE49-F238E27FC236}">
                  <a16:creationId xmlns:a16="http://schemas.microsoft.com/office/drawing/2014/main" id="{D1809471-E781-96E3-3735-116B9FF08FCD}"/>
                </a:ext>
              </a:extLst>
            </p:cNvPr>
            <p:cNvSpPr/>
            <p:nvPr/>
          </p:nvSpPr>
          <p:spPr>
            <a:xfrm>
              <a:off x="8750808" y="1853827"/>
              <a:ext cx="1609344" cy="201168"/>
            </a:xfrm>
            <a:prstGeom prst="rect">
              <a:avLst/>
            </a:prstGeom>
            <a:noFill/>
            <a:ln/>
          </p:spPr>
          <p:txBody>
            <a:bodyPr wrap="square" lIns="0" tIns="0" rIns="0" bIns="0" rtlCol="0" anchor="t"/>
            <a:lstStyle/>
            <a:p>
              <a:pPr algn="ctr" defTabSz="554019"/>
              <a:r>
                <a:rPr lang="en-US" sz="780" dirty="0">
                  <a:solidFill>
                    <a:srgbClr val="5A6B8A"/>
                  </a:solidFill>
                  <a:latin typeface="Aptos" panose="020B0004020202020204" pitchFamily="34" charset="0"/>
                  <a:ea typeface="Calibri" pitchFamily="34" charset="-122"/>
                  <a:cs typeface="Calibri" pitchFamily="34" charset="-120"/>
                </a:rPr>
                <a:t>Push PnL · breaches</a:t>
              </a:r>
              <a:endParaRPr lang="en-US" sz="780" dirty="0">
                <a:solidFill>
                  <a:srgbClr val="000000"/>
                </a:solidFill>
                <a:latin typeface="Aptos" panose="020B0004020202020204" pitchFamily="34" charset="0"/>
              </a:endParaRPr>
            </a:p>
          </p:txBody>
        </p:sp>
        <p:sp>
          <p:nvSpPr>
            <p:cNvPr id="104" name="Shape 102">
              <a:extLst>
                <a:ext uri="{FF2B5EF4-FFF2-40B4-BE49-F238E27FC236}">
                  <a16:creationId xmlns:a16="http://schemas.microsoft.com/office/drawing/2014/main" id="{D2DBDD35-0995-0151-A355-704C9265BB13}"/>
                </a:ext>
              </a:extLst>
            </p:cNvPr>
            <p:cNvSpPr/>
            <p:nvPr/>
          </p:nvSpPr>
          <p:spPr>
            <a:xfrm>
              <a:off x="1645920" y="2076651"/>
              <a:ext cx="8869680" cy="516877"/>
            </a:xfrm>
            <a:prstGeom prst="rect">
              <a:avLst/>
            </a:prstGeom>
            <a:solidFill>
              <a:srgbClr val="F4F6FA"/>
            </a:solidFill>
            <a:ln w="6350">
              <a:solidFill>
                <a:srgbClr val="94A3B8"/>
              </a:solidFill>
              <a:prstDash val="solid"/>
            </a:ln>
          </p:spPr>
          <p:txBody>
            <a:bodyPr/>
            <a:lstStyle/>
            <a:p>
              <a:pPr defTabSz="554019"/>
              <a:endParaRPr lang="en-US" sz="819">
                <a:solidFill>
                  <a:srgbClr val="000000"/>
                </a:solidFill>
                <a:latin typeface="Aptos" panose="020B0004020202020204" pitchFamily="34" charset="0"/>
              </a:endParaRPr>
            </a:p>
          </p:txBody>
        </p:sp>
        <p:sp>
          <p:nvSpPr>
            <p:cNvPr id="105" name="Shape 103">
              <a:extLst>
                <a:ext uri="{FF2B5EF4-FFF2-40B4-BE49-F238E27FC236}">
                  <a16:creationId xmlns:a16="http://schemas.microsoft.com/office/drawing/2014/main" id="{5F370A9E-032A-2FAB-D7F1-FFE4B90EA620}"/>
                </a:ext>
              </a:extLst>
            </p:cNvPr>
            <p:cNvSpPr/>
            <p:nvPr/>
          </p:nvSpPr>
          <p:spPr>
            <a:xfrm>
              <a:off x="1645920" y="2076651"/>
              <a:ext cx="1417320" cy="516877"/>
            </a:xfrm>
            <a:prstGeom prst="rect">
              <a:avLst/>
            </a:prstGeom>
            <a:solidFill>
              <a:srgbClr val="2E5C8A"/>
            </a:solidFill>
            <a:ln w="12700">
              <a:solidFill>
                <a:srgbClr val="2E5C8A"/>
              </a:solidFill>
              <a:prstDash val="solid"/>
            </a:ln>
          </p:spPr>
          <p:txBody>
            <a:bodyPr/>
            <a:lstStyle/>
            <a:p>
              <a:pPr defTabSz="554019"/>
              <a:endParaRPr lang="en-US" sz="819">
                <a:solidFill>
                  <a:srgbClr val="000000"/>
                </a:solidFill>
                <a:latin typeface="Aptos" panose="020B0004020202020204" pitchFamily="34" charset="0"/>
              </a:endParaRPr>
            </a:p>
          </p:txBody>
        </p:sp>
        <p:sp>
          <p:nvSpPr>
            <p:cNvPr id="106" name="Text 104">
              <a:extLst>
                <a:ext uri="{FF2B5EF4-FFF2-40B4-BE49-F238E27FC236}">
                  <a16:creationId xmlns:a16="http://schemas.microsoft.com/office/drawing/2014/main" id="{28BC6B63-1218-2006-3451-EBAEC793CCDA}"/>
                </a:ext>
              </a:extLst>
            </p:cNvPr>
            <p:cNvSpPr/>
            <p:nvPr/>
          </p:nvSpPr>
          <p:spPr>
            <a:xfrm>
              <a:off x="1719072" y="2149803"/>
              <a:ext cx="1289304" cy="296266"/>
            </a:xfrm>
            <a:prstGeom prst="rect">
              <a:avLst/>
            </a:prstGeom>
            <a:noFill/>
            <a:ln/>
          </p:spPr>
          <p:txBody>
            <a:bodyPr wrap="square" lIns="0" tIns="0" rIns="0" bIns="0" rtlCol="0" anchor="t"/>
            <a:lstStyle/>
            <a:p>
              <a:pPr defTabSz="554019"/>
              <a:r>
                <a:rPr lang="en-US" sz="1000" b="1" dirty="0">
                  <a:solidFill>
                    <a:srgbClr val="FFFFFF"/>
                  </a:solidFill>
                  <a:latin typeface="Aptos" panose="020B0004020202020204" pitchFamily="34" charset="0"/>
                  <a:ea typeface="Georgia" pitchFamily="34" charset="-122"/>
                  <a:cs typeface="Georgia" pitchFamily="34" charset="-120"/>
                </a:rPr>
                <a:t>WORKFLOW</a:t>
              </a:r>
              <a:endParaRPr lang="en-US" sz="1000" dirty="0">
                <a:solidFill>
                  <a:srgbClr val="000000"/>
                </a:solidFill>
                <a:latin typeface="Aptos" panose="020B0004020202020204" pitchFamily="34" charset="0"/>
              </a:endParaRPr>
            </a:p>
          </p:txBody>
        </p:sp>
        <p:sp>
          <p:nvSpPr>
            <p:cNvPr id="107" name="Text 105">
              <a:extLst>
                <a:ext uri="{FF2B5EF4-FFF2-40B4-BE49-F238E27FC236}">
                  <a16:creationId xmlns:a16="http://schemas.microsoft.com/office/drawing/2014/main" id="{11753AD7-4A0B-ADBE-7EE4-90D48E908625}"/>
                </a:ext>
              </a:extLst>
            </p:cNvPr>
            <p:cNvSpPr/>
            <p:nvPr/>
          </p:nvSpPr>
          <p:spPr>
            <a:xfrm>
              <a:off x="1719072" y="2390628"/>
              <a:ext cx="1289304" cy="263347"/>
            </a:xfrm>
            <a:prstGeom prst="rect">
              <a:avLst/>
            </a:prstGeom>
            <a:noFill/>
            <a:ln/>
          </p:spPr>
          <p:txBody>
            <a:bodyPr wrap="square" lIns="0" tIns="0" rIns="0" bIns="0" rtlCol="0" anchor="t"/>
            <a:lstStyle/>
            <a:p>
              <a:pPr defTabSz="554019"/>
              <a:r>
                <a:rPr lang="en-US" sz="800" dirty="0">
                  <a:solidFill>
                    <a:srgbClr val="D9E7F4"/>
                  </a:solidFill>
                  <a:latin typeface="Aptos" panose="020B0004020202020204" pitchFamily="34" charset="0"/>
                  <a:ea typeface="Calibri" pitchFamily="34" charset="-122"/>
                  <a:cs typeface="Calibri" pitchFamily="34" charset="-120"/>
                </a:rPr>
                <a:t>Rules orchestration </a:t>
              </a:r>
              <a:endParaRPr lang="en-US" sz="800" dirty="0">
                <a:solidFill>
                  <a:srgbClr val="000000"/>
                </a:solidFill>
                <a:latin typeface="Aptos" panose="020B0004020202020204" pitchFamily="34" charset="0"/>
              </a:endParaRPr>
            </a:p>
          </p:txBody>
        </p:sp>
        <p:sp>
          <p:nvSpPr>
            <p:cNvPr id="108" name="Shape 106">
              <a:extLst>
                <a:ext uri="{FF2B5EF4-FFF2-40B4-BE49-F238E27FC236}">
                  <a16:creationId xmlns:a16="http://schemas.microsoft.com/office/drawing/2014/main" id="{1C6672B3-4C7D-C691-B4CB-1E9A7AA4AFFF}"/>
                </a:ext>
              </a:extLst>
            </p:cNvPr>
            <p:cNvSpPr/>
            <p:nvPr/>
          </p:nvSpPr>
          <p:spPr>
            <a:xfrm>
              <a:off x="3200400" y="2131515"/>
              <a:ext cx="1737360" cy="430731"/>
            </a:xfrm>
            <a:prstGeom prst="rect">
              <a:avLst/>
            </a:prstGeom>
            <a:solidFill>
              <a:srgbClr val="FFFFFF"/>
            </a:solidFill>
            <a:ln w="12700">
              <a:solidFill>
                <a:srgbClr val="2E5C8A"/>
              </a:solidFill>
              <a:prstDash val="solid"/>
            </a:ln>
            <a:effectLst>
              <a:outerShdw blurRad="50800" dist="12700" dir="8100000" algn="bl" rotWithShape="0">
                <a:srgbClr val="000000">
                  <a:alpha val="8000"/>
                </a:srgbClr>
              </a:outerShdw>
            </a:effectLst>
          </p:spPr>
          <p:txBody>
            <a:bodyPr/>
            <a:lstStyle/>
            <a:p>
              <a:pPr algn="ctr" defTabSz="554019"/>
              <a:endParaRPr lang="en-US" sz="819">
                <a:solidFill>
                  <a:srgbClr val="000000"/>
                </a:solidFill>
                <a:latin typeface="Aptos" panose="020B0004020202020204" pitchFamily="34" charset="0"/>
              </a:endParaRPr>
            </a:p>
          </p:txBody>
        </p:sp>
        <p:sp>
          <p:nvSpPr>
            <p:cNvPr id="110" name="Text 108">
              <a:extLst>
                <a:ext uri="{FF2B5EF4-FFF2-40B4-BE49-F238E27FC236}">
                  <a16:creationId xmlns:a16="http://schemas.microsoft.com/office/drawing/2014/main" id="{0B57048E-7EEC-4D37-EA16-7EBE7718D4A0}"/>
                </a:ext>
              </a:extLst>
            </p:cNvPr>
            <p:cNvSpPr/>
            <p:nvPr/>
          </p:nvSpPr>
          <p:spPr>
            <a:xfrm>
              <a:off x="3264408" y="2213811"/>
              <a:ext cx="1609344" cy="201168"/>
            </a:xfrm>
            <a:prstGeom prst="rect">
              <a:avLst/>
            </a:prstGeom>
            <a:noFill/>
            <a:ln/>
          </p:spPr>
          <p:txBody>
            <a:bodyPr wrap="square" lIns="0" tIns="0" rIns="0" bIns="0" rtlCol="0" anchor="t"/>
            <a:lstStyle/>
            <a:p>
              <a:pPr algn="ctr" defTabSz="554019"/>
              <a:r>
                <a:rPr lang="en-US" sz="1000" b="1" dirty="0">
                  <a:solidFill>
                    <a:srgbClr val="0B2447"/>
                  </a:solidFill>
                  <a:latin typeface="Aptos" panose="020B0004020202020204" pitchFamily="34" charset="0"/>
                  <a:ea typeface="Calibri" pitchFamily="34" charset="-122"/>
                  <a:cs typeface="Calibri" pitchFamily="34" charset="-120"/>
                </a:rPr>
                <a:t>Rules Engine</a:t>
              </a:r>
              <a:endParaRPr lang="en-US" sz="1000" dirty="0">
                <a:solidFill>
                  <a:srgbClr val="000000"/>
                </a:solidFill>
                <a:latin typeface="Aptos" panose="020B0004020202020204" pitchFamily="34" charset="0"/>
              </a:endParaRPr>
            </a:p>
          </p:txBody>
        </p:sp>
        <p:sp>
          <p:nvSpPr>
            <p:cNvPr id="111" name="Text 109">
              <a:extLst>
                <a:ext uri="{FF2B5EF4-FFF2-40B4-BE49-F238E27FC236}">
                  <a16:creationId xmlns:a16="http://schemas.microsoft.com/office/drawing/2014/main" id="{393C5199-2595-5382-D0A1-9F300E78E4C2}"/>
                </a:ext>
              </a:extLst>
            </p:cNvPr>
            <p:cNvSpPr/>
            <p:nvPr/>
          </p:nvSpPr>
          <p:spPr>
            <a:xfrm>
              <a:off x="3264408" y="2366854"/>
              <a:ext cx="1609344" cy="237744"/>
            </a:xfrm>
            <a:prstGeom prst="rect">
              <a:avLst/>
            </a:prstGeom>
            <a:noFill/>
            <a:ln/>
          </p:spPr>
          <p:txBody>
            <a:bodyPr wrap="square" lIns="0" tIns="0" rIns="0" bIns="0" rtlCol="0" anchor="t"/>
            <a:lstStyle/>
            <a:p>
              <a:pPr algn="ctr" defTabSz="554019"/>
              <a:r>
                <a:rPr lang="en-US" sz="780" dirty="0">
                  <a:solidFill>
                    <a:srgbClr val="5A6B8A"/>
                  </a:solidFill>
                  <a:latin typeface="Aptos" panose="020B0004020202020204" pitchFamily="34" charset="0"/>
                  <a:ea typeface="Calibri" pitchFamily="34" charset="-122"/>
                  <a:cs typeface="Calibri" pitchFamily="34" charset="-120"/>
                </a:rPr>
                <a:t>Drools / Python DSL</a:t>
              </a:r>
              <a:endParaRPr lang="en-US" sz="780" dirty="0">
                <a:solidFill>
                  <a:srgbClr val="000000"/>
                </a:solidFill>
                <a:latin typeface="Aptos" panose="020B0004020202020204" pitchFamily="34" charset="0"/>
              </a:endParaRPr>
            </a:p>
          </p:txBody>
        </p:sp>
        <p:sp>
          <p:nvSpPr>
            <p:cNvPr id="112" name="Shape 110">
              <a:extLst>
                <a:ext uri="{FF2B5EF4-FFF2-40B4-BE49-F238E27FC236}">
                  <a16:creationId xmlns:a16="http://schemas.microsoft.com/office/drawing/2014/main" id="{0D9F0B1D-7A5A-1D89-0F31-D023BBAD06BC}"/>
                </a:ext>
              </a:extLst>
            </p:cNvPr>
            <p:cNvSpPr/>
            <p:nvPr/>
          </p:nvSpPr>
          <p:spPr>
            <a:xfrm>
              <a:off x="5029200" y="2131515"/>
              <a:ext cx="1737360" cy="430731"/>
            </a:xfrm>
            <a:prstGeom prst="rect">
              <a:avLst/>
            </a:prstGeom>
            <a:solidFill>
              <a:srgbClr val="FFFFFF"/>
            </a:solidFill>
            <a:ln w="12700">
              <a:solidFill>
                <a:srgbClr val="2E5C8A"/>
              </a:solidFill>
              <a:prstDash val="solid"/>
            </a:ln>
            <a:effectLst>
              <a:outerShdw blurRad="50800" dist="12700" dir="8100000" algn="bl" rotWithShape="0">
                <a:srgbClr val="000000">
                  <a:alpha val="8000"/>
                </a:srgbClr>
              </a:outerShdw>
            </a:effectLst>
          </p:spPr>
          <p:txBody>
            <a:bodyPr/>
            <a:lstStyle/>
            <a:p>
              <a:pPr algn="ctr" defTabSz="554019"/>
              <a:endParaRPr lang="en-US" sz="819">
                <a:solidFill>
                  <a:srgbClr val="000000"/>
                </a:solidFill>
                <a:latin typeface="Aptos" panose="020B0004020202020204" pitchFamily="34" charset="0"/>
              </a:endParaRPr>
            </a:p>
          </p:txBody>
        </p:sp>
        <p:sp>
          <p:nvSpPr>
            <p:cNvPr id="114" name="Text 112">
              <a:extLst>
                <a:ext uri="{FF2B5EF4-FFF2-40B4-BE49-F238E27FC236}">
                  <a16:creationId xmlns:a16="http://schemas.microsoft.com/office/drawing/2014/main" id="{90723BBB-C078-A612-8C42-D69AA874F895}"/>
                </a:ext>
              </a:extLst>
            </p:cNvPr>
            <p:cNvSpPr/>
            <p:nvPr/>
          </p:nvSpPr>
          <p:spPr>
            <a:xfrm>
              <a:off x="5093208" y="2213811"/>
              <a:ext cx="1609344" cy="201168"/>
            </a:xfrm>
            <a:prstGeom prst="rect">
              <a:avLst/>
            </a:prstGeom>
            <a:noFill/>
            <a:ln/>
          </p:spPr>
          <p:txBody>
            <a:bodyPr wrap="square" lIns="0" tIns="0" rIns="0" bIns="0" rtlCol="0" anchor="t"/>
            <a:lstStyle/>
            <a:p>
              <a:pPr algn="ctr" defTabSz="554019"/>
              <a:r>
                <a:rPr lang="en-US" sz="1000" b="1" dirty="0">
                  <a:solidFill>
                    <a:srgbClr val="0B2447"/>
                  </a:solidFill>
                  <a:latin typeface="Aptos" panose="020B0004020202020204" pitchFamily="34" charset="0"/>
                  <a:ea typeface="Calibri" pitchFamily="34" charset="-122"/>
                  <a:cs typeface="Calibri" pitchFamily="34" charset="-120"/>
                </a:rPr>
                <a:t>Workflow Engine</a:t>
              </a:r>
              <a:endParaRPr lang="en-US" sz="1000" dirty="0">
                <a:solidFill>
                  <a:srgbClr val="000000"/>
                </a:solidFill>
                <a:latin typeface="Aptos" panose="020B0004020202020204" pitchFamily="34" charset="0"/>
              </a:endParaRPr>
            </a:p>
          </p:txBody>
        </p:sp>
        <p:sp>
          <p:nvSpPr>
            <p:cNvPr id="115" name="Text 113">
              <a:extLst>
                <a:ext uri="{FF2B5EF4-FFF2-40B4-BE49-F238E27FC236}">
                  <a16:creationId xmlns:a16="http://schemas.microsoft.com/office/drawing/2014/main" id="{56FC0B07-1245-FF64-4961-04689576FEFE}"/>
                </a:ext>
              </a:extLst>
            </p:cNvPr>
            <p:cNvSpPr/>
            <p:nvPr/>
          </p:nvSpPr>
          <p:spPr>
            <a:xfrm>
              <a:off x="5093208" y="2366854"/>
              <a:ext cx="1609344" cy="237744"/>
            </a:xfrm>
            <a:prstGeom prst="rect">
              <a:avLst/>
            </a:prstGeom>
            <a:noFill/>
            <a:ln/>
          </p:spPr>
          <p:txBody>
            <a:bodyPr wrap="square" lIns="0" tIns="0" rIns="0" bIns="0" rtlCol="0" anchor="t"/>
            <a:lstStyle/>
            <a:p>
              <a:pPr algn="ctr" defTabSz="554019"/>
              <a:r>
                <a:rPr lang="en-US" sz="780" dirty="0">
                  <a:solidFill>
                    <a:srgbClr val="5A6B8A"/>
                  </a:solidFill>
                  <a:latin typeface="Aptos" panose="020B0004020202020204" pitchFamily="34" charset="0"/>
                  <a:ea typeface="Calibri" pitchFamily="34" charset="-122"/>
                  <a:cs typeface="Calibri" pitchFamily="34" charset="-120"/>
                </a:rPr>
                <a:t>Temporal · sagas</a:t>
              </a:r>
              <a:endParaRPr lang="en-US" sz="780" dirty="0">
                <a:solidFill>
                  <a:srgbClr val="000000"/>
                </a:solidFill>
                <a:latin typeface="Aptos" panose="020B0004020202020204" pitchFamily="34" charset="0"/>
              </a:endParaRPr>
            </a:p>
          </p:txBody>
        </p:sp>
        <p:sp>
          <p:nvSpPr>
            <p:cNvPr id="116" name="Shape 114">
              <a:extLst>
                <a:ext uri="{FF2B5EF4-FFF2-40B4-BE49-F238E27FC236}">
                  <a16:creationId xmlns:a16="http://schemas.microsoft.com/office/drawing/2014/main" id="{7816BFCB-349A-4804-1A5B-58F411547753}"/>
                </a:ext>
              </a:extLst>
            </p:cNvPr>
            <p:cNvSpPr/>
            <p:nvPr/>
          </p:nvSpPr>
          <p:spPr>
            <a:xfrm>
              <a:off x="6858000" y="2131515"/>
              <a:ext cx="1737360" cy="430731"/>
            </a:xfrm>
            <a:prstGeom prst="rect">
              <a:avLst/>
            </a:prstGeom>
            <a:solidFill>
              <a:srgbClr val="FFFFFF"/>
            </a:solidFill>
            <a:ln w="12700">
              <a:solidFill>
                <a:srgbClr val="2E5C8A"/>
              </a:solidFill>
              <a:prstDash val="solid"/>
            </a:ln>
            <a:effectLst>
              <a:outerShdw blurRad="50800" dist="12700" dir="8100000" algn="bl" rotWithShape="0">
                <a:srgbClr val="000000">
                  <a:alpha val="8000"/>
                </a:srgbClr>
              </a:outerShdw>
            </a:effectLst>
          </p:spPr>
          <p:txBody>
            <a:bodyPr/>
            <a:lstStyle/>
            <a:p>
              <a:pPr algn="ctr" defTabSz="554019"/>
              <a:endParaRPr lang="en-US" sz="819">
                <a:solidFill>
                  <a:srgbClr val="000000"/>
                </a:solidFill>
                <a:latin typeface="Aptos" panose="020B0004020202020204" pitchFamily="34" charset="0"/>
              </a:endParaRPr>
            </a:p>
          </p:txBody>
        </p:sp>
        <p:sp>
          <p:nvSpPr>
            <p:cNvPr id="118" name="Text 116">
              <a:extLst>
                <a:ext uri="{FF2B5EF4-FFF2-40B4-BE49-F238E27FC236}">
                  <a16:creationId xmlns:a16="http://schemas.microsoft.com/office/drawing/2014/main" id="{E0025F02-8AF0-C9D3-2262-036DECB548D6}"/>
                </a:ext>
              </a:extLst>
            </p:cNvPr>
            <p:cNvSpPr/>
            <p:nvPr/>
          </p:nvSpPr>
          <p:spPr>
            <a:xfrm>
              <a:off x="6922008" y="2213811"/>
              <a:ext cx="1609344" cy="201168"/>
            </a:xfrm>
            <a:prstGeom prst="rect">
              <a:avLst/>
            </a:prstGeom>
            <a:noFill/>
            <a:ln/>
          </p:spPr>
          <p:txBody>
            <a:bodyPr wrap="square" lIns="0" tIns="0" rIns="0" bIns="0" rtlCol="0" anchor="t"/>
            <a:lstStyle/>
            <a:p>
              <a:pPr algn="ctr" defTabSz="554019"/>
              <a:r>
                <a:rPr lang="en-US" sz="1000" b="1" dirty="0">
                  <a:solidFill>
                    <a:srgbClr val="0B2447"/>
                  </a:solidFill>
                  <a:latin typeface="Aptos" panose="020B0004020202020204" pitchFamily="34" charset="0"/>
                  <a:ea typeface="Calibri" pitchFamily="34" charset="-122"/>
                  <a:cs typeface="Calibri" pitchFamily="34" charset="-120"/>
                </a:rPr>
                <a:t>Event Router</a:t>
              </a:r>
              <a:endParaRPr lang="en-US" sz="1000" dirty="0">
                <a:solidFill>
                  <a:srgbClr val="000000"/>
                </a:solidFill>
                <a:latin typeface="Aptos" panose="020B0004020202020204" pitchFamily="34" charset="0"/>
              </a:endParaRPr>
            </a:p>
          </p:txBody>
        </p:sp>
        <p:sp>
          <p:nvSpPr>
            <p:cNvPr id="119" name="Text 117">
              <a:extLst>
                <a:ext uri="{FF2B5EF4-FFF2-40B4-BE49-F238E27FC236}">
                  <a16:creationId xmlns:a16="http://schemas.microsoft.com/office/drawing/2014/main" id="{47DF9AF4-BC81-AF4F-26E8-195B49377810}"/>
                </a:ext>
              </a:extLst>
            </p:cNvPr>
            <p:cNvSpPr/>
            <p:nvPr/>
          </p:nvSpPr>
          <p:spPr>
            <a:xfrm>
              <a:off x="6922008" y="2366854"/>
              <a:ext cx="1609344" cy="237744"/>
            </a:xfrm>
            <a:prstGeom prst="rect">
              <a:avLst/>
            </a:prstGeom>
            <a:noFill/>
            <a:ln/>
          </p:spPr>
          <p:txBody>
            <a:bodyPr wrap="square" lIns="0" tIns="0" rIns="0" bIns="0" rtlCol="0" anchor="t"/>
            <a:lstStyle/>
            <a:p>
              <a:pPr algn="ctr" defTabSz="554019"/>
              <a:r>
                <a:rPr lang="en-US" sz="780" dirty="0">
                  <a:solidFill>
                    <a:srgbClr val="5A6B8A"/>
                  </a:solidFill>
                  <a:latin typeface="Aptos" panose="020B0004020202020204" pitchFamily="34" charset="0"/>
                  <a:ea typeface="Calibri" pitchFamily="34" charset="-122"/>
                  <a:cs typeface="Calibri" pitchFamily="34" charset="-120"/>
                </a:rPr>
                <a:t>Topic fan-out</a:t>
              </a:r>
              <a:endParaRPr lang="en-US" sz="780" dirty="0">
                <a:solidFill>
                  <a:srgbClr val="000000"/>
                </a:solidFill>
                <a:latin typeface="Aptos" panose="020B0004020202020204" pitchFamily="34" charset="0"/>
              </a:endParaRPr>
            </a:p>
          </p:txBody>
        </p:sp>
        <p:sp>
          <p:nvSpPr>
            <p:cNvPr id="120" name="Shape 118">
              <a:extLst>
                <a:ext uri="{FF2B5EF4-FFF2-40B4-BE49-F238E27FC236}">
                  <a16:creationId xmlns:a16="http://schemas.microsoft.com/office/drawing/2014/main" id="{D57315ED-FA1E-1946-5100-E8A2E37E997C}"/>
                </a:ext>
              </a:extLst>
            </p:cNvPr>
            <p:cNvSpPr/>
            <p:nvPr/>
          </p:nvSpPr>
          <p:spPr>
            <a:xfrm>
              <a:off x="8686800" y="2131515"/>
              <a:ext cx="1737360" cy="430731"/>
            </a:xfrm>
            <a:prstGeom prst="rect">
              <a:avLst/>
            </a:prstGeom>
            <a:solidFill>
              <a:srgbClr val="FFFFFF"/>
            </a:solidFill>
            <a:ln w="12700">
              <a:solidFill>
                <a:srgbClr val="2E5C8A"/>
              </a:solidFill>
              <a:prstDash val="solid"/>
            </a:ln>
            <a:effectLst>
              <a:outerShdw blurRad="50800" dist="12700" dir="8100000" algn="bl" rotWithShape="0">
                <a:srgbClr val="000000">
                  <a:alpha val="8000"/>
                </a:srgbClr>
              </a:outerShdw>
            </a:effectLst>
          </p:spPr>
          <p:txBody>
            <a:bodyPr/>
            <a:lstStyle/>
            <a:p>
              <a:pPr algn="ctr" defTabSz="554019"/>
              <a:endParaRPr lang="en-US" sz="819">
                <a:solidFill>
                  <a:srgbClr val="000000"/>
                </a:solidFill>
                <a:latin typeface="Aptos" panose="020B0004020202020204" pitchFamily="34" charset="0"/>
              </a:endParaRPr>
            </a:p>
          </p:txBody>
        </p:sp>
        <p:sp>
          <p:nvSpPr>
            <p:cNvPr id="122" name="Text 120">
              <a:extLst>
                <a:ext uri="{FF2B5EF4-FFF2-40B4-BE49-F238E27FC236}">
                  <a16:creationId xmlns:a16="http://schemas.microsoft.com/office/drawing/2014/main" id="{E776959A-7CE0-B13C-CE53-6F8AF46C2D09}"/>
                </a:ext>
              </a:extLst>
            </p:cNvPr>
            <p:cNvSpPr/>
            <p:nvPr/>
          </p:nvSpPr>
          <p:spPr>
            <a:xfrm>
              <a:off x="8750808" y="2213811"/>
              <a:ext cx="1609344" cy="201168"/>
            </a:xfrm>
            <a:prstGeom prst="rect">
              <a:avLst/>
            </a:prstGeom>
            <a:noFill/>
            <a:ln/>
          </p:spPr>
          <p:txBody>
            <a:bodyPr wrap="square" lIns="0" tIns="0" rIns="0" bIns="0" rtlCol="0" anchor="t"/>
            <a:lstStyle/>
            <a:p>
              <a:pPr algn="ctr" defTabSz="554019"/>
              <a:r>
                <a:rPr lang="en-US" sz="1000" b="1" dirty="0">
                  <a:solidFill>
                    <a:srgbClr val="0B2447"/>
                  </a:solidFill>
                  <a:latin typeface="Aptos" panose="020B0004020202020204" pitchFamily="34" charset="0"/>
                  <a:ea typeface="Calibri" pitchFamily="34" charset="-122"/>
                  <a:cs typeface="Calibri" pitchFamily="34" charset="-120"/>
                </a:rPr>
                <a:t>Scheduler / SLA</a:t>
              </a:r>
              <a:endParaRPr lang="en-US" sz="1000" dirty="0">
                <a:solidFill>
                  <a:srgbClr val="000000"/>
                </a:solidFill>
                <a:latin typeface="Aptos" panose="020B0004020202020204" pitchFamily="34" charset="0"/>
              </a:endParaRPr>
            </a:p>
          </p:txBody>
        </p:sp>
        <p:sp>
          <p:nvSpPr>
            <p:cNvPr id="123" name="Text 121">
              <a:extLst>
                <a:ext uri="{FF2B5EF4-FFF2-40B4-BE49-F238E27FC236}">
                  <a16:creationId xmlns:a16="http://schemas.microsoft.com/office/drawing/2014/main" id="{F8AF806B-F6AA-4058-287A-B469FD02A043}"/>
                </a:ext>
              </a:extLst>
            </p:cNvPr>
            <p:cNvSpPr/>
            <p:nvPr/>
          </p:nvSpPr>
          <p:spPr>
            <a:xfrm>
              <a:off x="8750808" y="2366854"/>
              <a:ext cx="1609344" cy="237744"/>
            </a:xfrm>
            <a:prstGeom prst="rect">
              <a:avLst/>
            </a:prstGeom>
            <a:noFill/>
            <a:ln/>
          </p:spPr>
          <p:txBody>
            <a:bodyPr wrap="square" lIns="0" tIns="0" rIns="0" bIns="0" rtlCol="0" anchor="t"/>
            <a:lstStyle/>
            <a:p>
              <a:pPr algn="ctr" defTabSz="554019"/>
              <a:r>
                <a:rPr lang="en-US" sz="780" dirty="0">
                  <a:solidFill>
                    <a:srgbClr val="5A6B8A"/>
                  </a:solidFill>
                  <a:latin typeface="Aptos" panose="020B0004020202020204" pitchFamily="34" charset="0"/>
                  <a:ea typeface="Calibri" pitchFamily="34" charset="-122"/>
                  <a:cs typeface="Calibri" pitchFamily="34" charset="-120"/>
                </a:rPr>
                <a:t>Airflow ·</a:t>
              </a:r>
            </a:p>
          </p:txBody>
        </p:sp>
        <p:sp>
          <p:nvSpPr>
            <p:cNvPr id="124" name="Shape 122">
              <a:extLst>
                <a:ext uri="{FF2B5EF4-FFF2-40B4-BE49-F238E27FC236}">
                  <a16:creationId xmlns:a16="http://schemas.microsoft.com/office/drawing/2014/main" id="{F82BB0ED-488F-E37F-6F81-18E7226720EA}"/>
                </a:ext>
              </a:extLst>
            </p:cNvPr>
            <p:cNvSpPr/>
            <p:nvPr/>
          </p:nvSpPr>
          <p:spPr>
            <a:xfrm>
              <a:off x="1645920" y="2644542"/>
              <a:ext cx="8869680" cy="1062146"/>
            </a:xfrm>
            <a:prstGeom prst="rect">
              <a:avLst/>
            </a:prstGeom>
            <a:solidFill>
              <a:srgbClr val="F4F6FA"/>
            </a:solidFill>
            <a:ln w="6350">
              <a:solidFill>
                <a:srgbClr val="94A3B8"/>
              </a:solidFill>
              <a:prstDash val="solid"/>
            </a:ln>
          </p:spPr>
          <p:txBody>
            <a:bodyPr/>
            <a:lstStyle/>
            <a:p>
              <a:pPr defTabSz="554019"/>
              <a:endParaRPr lang="en-US" sz="819">
                <a:solidFill>
                  <a:srgbClr val="000000"/>
                </a:solidFill>
                <a:latin typeface="Aptos" panose="020B0004020202020204" pitchFamily="34" charset="0"/>
              </a:endParaRPr>
            </a:p>
          </p:txBody>
        </p:sp>
        <p:sp>
          <p:nvSpPr>
            <p:cNvPr id="125" name="Shape 123">
              <a:extLst>
                <a:ext uri="{FF2B5EF4-FFF2-40B4-BE49-F238E27FC236}">
                  <a16:creationId xmlns:a16="http://schemas.microsoft.com/office/drawing/2014/main" id="{6B6FC82A-60D5-9958-CF70-A5A6593BEA5A}"/>
                </a:ext>
              </a:extLst>
            </p:cNvPr>
            <p:cNvSpPr/>
            <p:nvPr/>
          </p:nvSpPr>
          <p:spPr>
            <a:xfrm>
              <a:off x="1645920" y="2644542"/>
              <a:ext cx="1417320" cy="1062146"/>
            </a:xfrm>
            <a:prstGeom prst="rect">
              <a:avLst/>
            </a:prstGeom>
            <a:solidFill>
              <a:srgbClr val="3C7EBB"/>
            </a:solidFill>
            <a:ln w="12700">
              <a:solidFill>
                <a:srgbClr val="3C7EBB"/>
              </a:solidFill>
              <a:prstDash val="solid"/>
            </a:ln>
          </p:spPr>
          <p:txBody>
            <a:bodyPr/>
            <a:lstStyle/>
            <a:p>
              <a:pPr defTabSz="554019"/>
              <a:endParaRPr lang="en-US" sz="819">
                <a:solidFill>
                  <a:srgbClr val="000000"/>
                </a:solidFill>
                <a:latin typeface="Aptos" panose="020B0004020202020204" pitchFamily="34" charset="0"/>
              </a:endParaRPr>
            </a:p>
          </p:txBody>
        </p:sp>
        <p:sp>
          <p:nvSpPr>
            <p:cNvPr id="126" name="Text 124">
              <a:extLst>
                <a:ext uri="{FF2B5EF4-FFF2-40B4-BE49-F238E27FC236}">
                  <a16:creationId xmlns:a16="http://schemas.microsoft.com/office/drawing/2014/main" id="{937CB74F-9DD9-95CF-4983-8ACF212B74F4}"/>
                </a:ext>
              </a:extLst>
            </p:cNvPr>
            <p:cNvSpPr/>
            <p:nvPr/>
          </p:nvSpPr>
          <p:spPr>
            <a:xfrm>
              <a:off x="1719072" y="2717694"/>
              <a:ext cx="1289304" cy="403250"/>
            </a:xfrm>
            <a:prstGeom prst="rect">
              <a:avLst/>
            </a:prstGeom>
            <a:noFill/>
            <a:ln/>
          </p:spPr>
          <p:txBody>
            <a:bodyPr wrap="square" lIns="0" tIns="0" rIns="0" bIns="0" rtlCol="0" anchor="t"/>
            <a:lstStyle/>
            <a:p>
              <a:pPr defTabSz="554019"/>
              <a:r>
                <a:rPr lang="en-US" sz="1000" b="1" dirty="0">
                  <a:solidFill>
                    <a:srgbClr val="FFFFFF"/>
                  </a:solidFill>
                  <a:latin typeface="Aptos" panose="020B0004020202020204" pitchFamily="34" charset="0"/>
                  <a:ea typeface="Georgia" pitchFamily="34" charset="-122"/>
                  <a:cs typeface="Georgia" pitchFamily="34" charset="-120"/>
                </a:rPr>
                <a:t>CALCULATION ENGINES</a:t>
              </a:r>
              <a:endParaRPr lang="en-US" sz="1000" dirty="0">
                <a:solidFill>
                  <a:srgbClr val="000000"/>
                </a:solidFill>
                <a:latin typeface="Aptos" panose="020B0004020202020204" pitchFamily="34" charset="0"/>
              </a:endParaRPr>
            </a:p>
          </p:txBody>
        </p:sp>
        <p:grpSp>
          <p:nvGrpSpPr>
            <p:cNvPr id="89" name="Group 88">
              <a:extLst>
                <a:ext uri="{FF2B5EF4-FFF2-40B4-BE49-F238E27FC236}">
                  <a16:creationId xmlns:a16="http://schemas.microsoft.com/office/drawing/2014/main" id="{2CA85A32-37BC-6EA8-4871-B08C417EFA6C}"/>
                </a:ext>
              </a:extLst>
            </p:cNvPr>
            <p:cNvGrpSpPr/>
            <p:nvPr/>
          </p:nvGrpSpPr>
          <p:grpSpPr>
            <a:xfrm>
              <a:off x="3200400" y="2699406"/>
              <a:ext cx="1600200" cy="601401"/>
              <a:chOff x="3200400" y="2699406"/>
              <a:chExt cx="1737360" cy="601401"/>
            </a:xfrm>
          </p:grpSpPr>
          <p:sp>
            <p:nvSpPr>
              <p:cNvPr id="128" name="Shape 126">
                <a:extLst>
                  <a:ext uri="{FF2B5EF4-FFF2-40B4-BE49-F238E27FC236}">
                    <a16:creationId xmlns:a16="http://schemas.microsoft.com/office/drawing/2014/main" id="{B2D2766C-303B-1DB1-F961-570D72B813CB}"/>
                  </a:ext>
                </a:extLst>
              </p:cNvPr>
              <p:cNvSpPr/>
              <p:nvPr/>
            </p:nvSpPr>
            <p:spPr>
              <a:xfrm>
                <a:off x="3200400" y="2699406"/>
                <a:ext cx="1737360" cy="601401"/>
              </a:xfrm>
              <a:prstGeom prst="rect">
                <a:avLst/>
              </a:prstGeom>
              <a:solidFill>
                <a:srgbClr val="FFFFFF"/>
              </a:solidFill>
              <a:ln w="12700">
                <a:solidFill>
                  <a:srgbClr val="3C7EBB"/>
                </a:solidFill>
                <a:prstDash val="solid"/>
              </a:ln>
              <a:effectLst>
                <a:outerShdw blurRad="50800" dist="12700" dir="8100000" algn="bl" rotWithShape="0">
                  <a:srgbClr val="000000">
                    <a:alpha val="8000"/>
                  </a:srgbClr>
                </a:outerShdw>
              </a:effectLst>
            </p:spPr>
            <p:txBody>
              <a:bodyPr/>
              <a:lstStyle/>
              <a:p>
                <a:pPr algn="ctr" defTabSz="554019"/>
                <a:endParaRPr lang="en-US" sz="819">
                  <a:solidFill>
                    <a:srgbClr val="000000"/>
                  </a:solidFill>
                  <a:latin typeface="Aptos" panose="020B0004020202020204" pitchFamily="34" charset="0"/>
                </a:endParaRPr>
              </a:p>
            </p:txBody>
          </p:sp>
          <p:sp>
            <p:nvSpPr>
              <p:cNvPr id="130" name="Text 128">
                <a:extLst>
                  <a:ext uri="{FF2B5EF4-FFF2-40B4-BE49-F238E27FC236}">
                    <a16:creationId xmlns:a16="http://schemas.microsoft.com/office/drawing/2014/main" id="{60DD6003-58D9-6599-9217-E19A58CEA76D}"/>
                  </a:ext>
                </a:extLst>
              </p:cNvPr>
              <p:cNvSpPr/>
              <p:nvPr/>
            </p:nvSpPr>
            <p:spPr>
              <a:xfrm>
                <a:off x="3264408" y="2781702"/>
                <a:ext cx="1609344" cy="201168"/>
              </a:xfrm>
              <a:prstGeom prst="rect">
                <a:avLst/>
              </a:prstGeom>
              <a:noFill/>
              <a:ln/>
            </p:spPr>
            <p:txBody>
              <a:bodyPr wrap="square" lIns="0" tIns="0" rIns="0" bIns="0" rtlCol="0" anchor="t"/>
              <a:lstStyle/>
              <a:p>
                <a:pPr algn="ctr" defTabSz="554019"/>
                <a:r>
                  <a:rPr lang="en-US" sz="1000" b="1" dirty="0">
                    <a:solidFill>
                      <a:srgbClr val="0B2447"/>
                    </a:solidFill>
                    <a:latin typeface="Aptos" panose="020B0004020202020204" pitchFamily="34" charset="0"/>
                    <a:ea typeface="Calibri" pitchFamily="34" charset="-122"/>
                    <a:cs typeface="Calibri" pitchFamily="34" charset="-120"/>
                  </a:rPr>
                  <a:t>Market Risk Engine</a:t>
                </a:r>
                <a:endParaRPr lang="en-US" sz="1000" dirty="0">
                  <a:solidFill>
                    <a:srgbClr val="000000"/>
                  </a:solidFill>
                  <a:latin typeface="Aptos" panose="020B0004020202020204" pitchFamily="34" charset="0"/>
                </a:endParaRPr>
              </a:p>
            </p:txBody>
          </p:sp>
          <p:sp>
            <p:nvSpPr>
              <p:cNvPr id="131" name="Text 129">
                <a:extLst>
                  <a:ext uri="{FF2B5EF4-FFF2-40B4-BE49-F238E27FC236}">
                    <a16:creationId xmlns:a16="http://schemas.microsoft.com/office/drawing/2014/main" id="{E4FE31EA-05C7-1BA8-23F3-1166B8583F7D}"/>
                  </a:ext>
                </a:extLst>
              </p:cNvPr>
              <p:cNvSpPr/>
              <p:nvPr/>
            </p:nvSpPr>
            <p:spPr>
              <a:xfrm>
                <a:off x="3264408" y="2982870"/>
                <a:ext cx="1609344" cy="271430"/>
              </a:xfrm>
              <a:prstGeom prst="rect">
                <a:avLst/>
              </a:prstGeom>
              <a:noFill/>
              <a:ln/>
            </p:spPr>
            <p:txBody>
              <a:bodyPr wrap="square" lIns="0" tIns="0" rIns="0" bIns="0" rtlCol="0" anchor="t"/>
              <a:lstStyle/>
              <a:p>
                <a:pPr algn="ctr" defTabSz="554019"/>
                <a:r>
                  <a:rPr lang="en-US" sz="800" dirty="0">
                    <a:solidFill>
                      <a:srgbClr val="5A6B8A"/>
                    </a:solidFill>
                    <a:latin typeface="Aptos" panose="020B0004020202020204" pitchFamily="34" charset="0"/>
                    <a:ea typeface="Calibri" pitchFamily="34" charset="-122"/>
                    <a:cs typeface="Calibri" pitchFamily="34" charset="-120"/>
                  </a:rPr>
                  <a:t>Intraday VaR · sensitivities</a:t>
                </a:r>
                <a:endParaRPr lang="en-US" sz="800" dirty="0">
                  <a:solidFill>
                    <a:srgbClr val="000000"/>
                  </a:solidFill>
                  <a:latin typeface="Aptos" panose="020B0004020202020204" pitchFamily="34" charset="0"/>
                </a:endParaRPr>
              </a:p>
              <a:p>
                <a:pPr algn="ctr" defTabSz="554019"/>
                <a:r>
                  <a:rPr lang="en-US" sz="800" dirty="0">
                    <a:solidFill>
                      <a:srgbClr val="5A6B8A"/>
                    </a:solidFill>
                    <a:latin typeface="Aptos" panose="020B0004020202020204" pitchFamily="34" charset="0"/>
                    <a:ea typeface="Calibri" pitchFamily="34" charset="-122"/>
                    <a:cs typeface="Calibri" pitchFamily="34" charset="-120"/>
                  </a:rPr>
                  <a:t>Scenario / stress · QuantLib</a:t>
                </a:r>
                <a:endParaRPr lang="en-US" sz="800" dirty="0">
                  <a:solidFill>
                    <a:srgbClr val="000000"/>
                  </a:solidFill>
                  <a:latin typeface="Aptos" panose="020B0004020202020204" pitchFamily="34" charset="0"/>
                </a:endParaRPr>
              </a:p>
            </p:txBody>
          </p:sp>
        </p:grpSp>
        <p:grpSp>
          <p:nvGrpSpPr>
            <p:cNvPr id="81" name="Group 80">
              <a:extLst>
                <a:ext uri="{FF2B5EF4-FFF2-40B4-BE49-F238E27FC236}">
                  <a16:creationId xmlns:a16="http://schemas.microsoft.com/office/drawing/2014/main" id="{8CE092B3-EE20-4CB1-BE4D-DBA591EEF0D5}"/>
                </a:ext>
              </a:extLst>
            </p:cNvPr>
            <p:cNvGrpSpPr/>
            <p:nvPr/>
          </p:nvGrpSpPr>
          <p:grpSpPr>
            <a:xfrm>
              <a:off x="4902628" y="2688819"/>
              <a:ext cx="1795111" cy="758952"/>
              <a:chOff x="5029200" y="2699406"/>
              <a:chExt cx="1737360" cy="758952"/>
            </a:xfrm>
          </p:grpSpPr>
          <p:sp>
            <p:nvSpPr>
              <p:cNvPr id="132" name="Shape 130">
                <a:extLst>
                  <a:ext uri="{FF2B5EF4-FFF2-40B4-BE49-F238E27FC236}">
                    <a16:creationId xmlns:a16="http://schemas.microsoft.com/office/drawing/2014/main" id="{AAA12CAA-2817-EF26-F71C-5FD4FD18FDC2}"/>
                  </a:ext>
                </a:extLst>
              </p:cNvPr>
              <p:cNvSpPr/>
              <p:nvPr/>
            </p:nvSpPr>
            <p:spPr>
              <a:xfrm>
                <a:off x="5029200" y="2699406"/>
                <a:ext cx="1737360" cy="601401"/>
              </a:xfrm>
              <a:prstGeom prst="rect">
                <a:avLst/>
              </a:prstGeom>
              <a:solidFill>
                <a:srgbClr val="FFFFFF"/>
              </a:solidFill>
              <a:ln w="12700">
                <a:solidFill>
                  <a:srgbClr val="3C7EBB"/>
                </a:solidFill>
                <a:prstDash val="solid"/>
              </a:ln>
              <a:effectLst>
                <a:outerShdw blurRad="50800" dist="12700" dir="8100000" algn="bl" rotWithShape="0">
                  <a:srgbClr val="000000">
                    <a:alpha val="8000"/>
                  </a:srgbClr>
                </a:outerShdw>
              </a:effectLst>
            </p:spPr>
            <p:txBody>
              <a:bodyPr/>
              <a:lstStyle/>
              <a:p>
                <a:pPr algn="ctr" defTabSz="554019"/>
                <a:endParaRPr lang="en-US" sz="819">
                  <a:solidFill>
                    <a:srgbClr val="000000"/>
                  </a:solidFill>
                  <a:latin typeface="Aptos" panose="020B0004020202020204" pitchFamily="34" charset="0"/>
                </a:endParaRPr>
              </a:p>
            </p:txBody>
          </p:sp>
          <p:sp>
            <p:nvSpPr>
              <p:cNvPr id="134" name="Text 132">
                <a:extLst>
                  <a:ext uri="{FF2B5EF4-FFF2-40B4-BE49-F238E27FC236}">
                    <a16:creationId xmlns:a16="http://schemas.microsoft.com/office/drawing/2014/main" id="{B74928EA-819D-6731-FA28-0516FB5BE6D9}"/>
                  </a:ext>
                </a:extLst>
              </p:cNvPr>
              <p:cNvSpPr/>
              <p:nvPr/>
            </p:nvSpPr>
            <p:spPr>
              <a:xfrm>
                <a:off x="5093208" y="2781702"/>
                <a:ext cx="1609344" cy="201168"/>
              </a:xfrm>
              <a:prstGeom prst="rect">
                <a:avLst/>
              </a:prstGeom>
              <a:noFill/>
              <a:ln/>
            </p:spPr>
            <p:txBody>
              <a:bodyPr wrap="square" lIns="0" tIns="0" rIns="0" bIns="0" rtlCol="0" anchor="t"/>
              <a:lstStyle/>
              <a:p>
                <a:pPr algn="ctr" defTabSz="554019"/>
                <a:r>
                  <a:rPr lang="en-US" sz="1000" b="1" dirty="0">
                    <a:solidFill>
                      <a:srgbClr val="0B2447"/>
                    </a:solidFill>
                    <a:latin typeface="Aptos" panose="020B0004020202020204" pitchFamily="34" charset="0"/>
                    <a:ea typeface="Calibri" pitchFamily="34" charset="-122"/>
                    <a:cs typeface="Calibri" pitchFamily="34" charset="-120"/>
                  </a:rPr>
                  <a:t>Credit Risk Engine</a:t>
                </a:r>
                <a:endParaRPr lang="en-US" sz="1000" dirty="0">
                  <a:solidFill>
                    <a:srgbClr val="000000"/>
                  </a:solidFill>
                  <a:latin typeface="Aptos" panose="020B0004020202020204" pitchFamily="34" charset="0"/>
                </a:endParaRPr>
              </a:p>
            </p:txBody>
          </p:sp>
          <p:sp>
            <p:nvSpPr>
              <p:cNvPr id="135" name="Text 133">
                <a:extLst>
                  <a:ext uri="{FF2B5EF4-FFF2-40B4-BE49-F238E27FC236}">
                    <a16:creationId xmlns:a16="http://schemas.microsoft.com/office/drawing/2014/main" id="{A4C5FC61-2676-9ADF-E47A-C20E9DC2F120}"/>
                  </a:ext>
                </a:extLst>
              </p:cNvPr>
              <p:cNvSpPr/>
              <p:nvPr/>
            </p:nvSpPr>
            <p:spPr>
              <a:xfrm>
                <a:off x="5093208" y="2982870"/>
                <a:ext cx="1609344" cy="475488"/>
              </a:xfrm>
              <a:prstGeom prst="rect">
                <a:avLst/>
              </a:prstGeom>
              <a:noFill/>
              <a:ln/>
            </p:spPr>
            <p:txBody>
              <a:bodyPr wrap="square" lIns="0" tIns="0" rIns="0" bIns="0" rtlCol="0" anchor="t"/>
              <a:lstStyle/>
              <a:p>
                <a:pPr algn="ctr" defTabSz="554019"/>
                <a:r>
                  <a:rPr lang="en-US" sz="800" dirty="0">
                    <a:solidFill>
                      <a:srgbClr val="5A6B8A"/>
                    </a:solidFill>
                    <a:latin typeface="Aptos" panose="020B0004020202020204" pitchFamily="34" charset="0"/>
                    <a:ea typeface="Calibri" pitchFamily="34" charset="-122"/>
                    <a:cs typeface="Calibri" pitchFamily="34" charset="-120"/>
                  </a:rPr>
                  <a:t>EAD · PFE · CVA</a:t>
                </a:r>
                <a:endParaRPr lang="en-US" sz="800" dirty="0">
                  <a:solidFill>
                    <a:srgbClr val="000000"/>
                  </a:solidFill>
                  <a:latin typeface="Aptos" panose="020B0004020202020204" pitchFamily="34" charset="0"/>
                </a:endParaRPr>
              </a:p>
              <a:p>
                <a:pPr algn="ctr" defTabSz="554019"/>
                <a:r>
                  <a:rPr lang="en-US" sz="800" dirty="0">
                    <a:solidFill>
                      <a:srgbClr val="5A6B8A"/>
                    </a:solidFill>
                    <a:latin typeface="Aptos" panose="020B0004020202020204" pitchFamily="34" charset="0"/>
                    <a:ea typeface="Calibri" pitchFamily="34" charset="-122"/>
                    <a:cs typeface="Calibri" pitchFamily="34" charset="-120"/>
                  </a:rPr>
                  <a:t>Limits check · portfolio view</a:t>
                </a:r>
                <a:endParaRPr lang="en-US" sz="800" dirty="0">
                  <a:solidFill>
                    <a:srgbClr val="000000"/>
                  </a:solidFill>
                  <a:latin typeface="Aptos" panose="020B0004020202020204" pitchFamily="34" charset="0"/>
                </a:endParaRPr>
              </a:p>
            </p:txBody>
          </p:sp>
        </p:grpSp>
        <p:grpSp>
          <p:nvGrpSpPr>
            <p:cNvPr id="77" name="Group 76">
              <a:extLst>
                <a:ext uri="{FF2B5EF4-FFF2-40B4-BE49-F238E27FC236}">
                  <a16:creationId xmlns:a16="http://schemas.microsoft.com/office/drawing/2014/main" id="{77E8857D-EB27-6DA3-CD9F-7F2CA3CD73C3}"/>
                </a:ext>
              </a:extLst>
            </p:cNvPr>
            <p:cNvGrpSpPr/>
            <p:nvPr/>
          </p:nvGrpSpPr>
          <p:grpSpPr>
            <a:xfrm>
              <a:off x="6789181" y="2688605"/>
              <a:ext cx="1961628" cy="758952"/>
              <a:chOff x="6858000" y="2699406"/>
              <a:chExt cx="1737360" cy="758952"/>
            </a:xfrm>
          </p:grpSpPr>
          <p:sp>
            <p:nvSpPr>
              <p:cNvPr id="136" name="Shape 134">
                <a:extLst>
                  <a:ext uri="{FF2B5EF4-FFF2-40B4-BE49-F238E27FC236}">
                    <a16:creationId xmlns:a16="http://schemas.microsoft.com/office/drawing/2014/main" id="{F916C261-B24A-D273-C74F-4DC362AD8226}"/>
                  </a:ext>
                </a:extLst>
              </p:cNvPr>
              <p:cNvSpPr/>
              <p:nvPr/>
            </p:nvSpPr>
            <p:spPr>
              <a:xfrm>
                <a:off x="6858000" y="2699406"/>
                <a:ext cx="1737360" cy="601401"/>
              </a:xfrm>
              <a:prstGeom prst="rect">
                <a:avLst/>
              </a:prstGeom>
              <a:solidFill>
                <a:srgbClr val="FFFFFF"/>
              </a:solidFill>
              <a:ln w="12700">
                <a:solidFill>
                  <a:srgbClr val="3C7EBB"/>
                </a:solidFill>
                <a:prstDash val="solid"/>
              </a:ln>
              <a:effectLst>
                <a:outerShdw blurRad="50800" dist="12700" dir="8100000" algn="bl" rotWithShape="0">
                  <a:srgbClr val="000000">
                    <a:alpha val="8000"/>
                  </a:srgbClr>
                </a:outerShdw>
              </a:effectLst>
            </p:spPr>
            <p:txBody>
              <a:bodyPr/>
              <a:lstStyle/>
              <a:p>
                <a:pPr algn="ctr" defTabSz="554019"/>
                <a:endParaRPr lang="en-US" sz="819">
                  <a:solidFill>
                    <a:srgbClr val="000000"/>
                  </a:solidFill>
                  <a:latin typeface="Aptos" panose="020B0004020202020204" pitchFamily="34" charset="0"/>
                </a:endParaRPr>
              </a:p>
            </p:txBody>
          </p:sp>
          <p:sp>
            <p:nvSpPr>
              <p:cNvPr id="138" name="Text 136">
                <a:extLst>
                  <a:ext uri="{FF2B5EF4-FFF2-40B4-BE49-F238E27FC236}">
                    <a16:creationId xmlns:a16="http://schemas.microsoft.com/office/drawing/2014/main" id="{F8170D65-D2B8-90E8-360E-5BDB125A5439}"/>
                  </a:ext>
                </a:extLst>
              </p:cNvPr>
              <p:cNvSpPr/>
              <p:nvPr/>
            </p:nvSpPr>
            <p:spPr>
              <a:xfrm>
                <a:off x="6922008" y="2781702"/>
                <a:ext cx="1609344" cy="201168"/>
              </a:xfrm>
              <a:prstGeom prst="rect">
                <a:avLst/>
              </a:prstGeom>
              <a:noFill/>
              <a:ln/>
            </p:spPr>
            <p:txBody>
              <a:bodyPr wrap="square" lIns="0" tIns="0" rIns="0" bIns="0" rtlCol="0" anchor="t"/>
              <a:lstStyle/>
              <a:p>
                <a:pPr algn="ctr" defTabSz="554019"/>
                <a:r>
                  <a:rPr lang="en-US" sz="1000" b="1" dirty="0">
                    <a:solidFill>
                      <a:srgbClr val="0B2447"/>
                    </a:solidFill>
                    <a:latin typeface="Aptos" panose="020B0004020202020204" pitchFamily="34" charset="0"/>
                    <a:ea typeface="Calibri" pitchFamily="34" charset="-122"/>
                    <a:cs typeface="Calibri" pitchFamily="34" charset="-120"/>
                  </a:rPr>
                  <a:t>Liquidity Risk Engine</a:t>
                </a:r>
                <a:endParaRPr lang="en-US" sz="1000" dirty="0">
                  <a:solidFill>
                    <a:srgbClr val="000000"/>
                  </a:solidFill>
                  <a:latin typeface="Aptos" panose="020B0004020202020204" pitchFamily="34" charset="0"/>
                </a:endParaRPr>
              </a:p>
            </p:txBody>
          </p:sp>
          <p:sp>
            <p:nvSpPr>
              <p:cNvPr id="139" name="Text 137">
                <a:extLst>
                  <a:ext uri="{FF2B5EF4-FFF2-40B4-BE49-F238E27FC236}">
                    <a16:creationId xmlns:a16="http://schemas.microsoft.com/office/drawing/2014/main" id="{BF560193-8ECC-8E9C-1E7E-BF15A59F4368}"/>
                  </a:ext>
                </a:extLst>
              </p:cNvPr>
              <p:cNvSpPr/>
              <p:nvPr/>
            </p:nvSpPr>
            <p:spPr>
              <a:xfrm>
                <a:off x="6922008" y="2982870"/>
                <a:ext cx="1609344" cy="475488"/>
              </a:xfrm>
              <a:prstGeom prst="rect">
                <a:avLst/>
              </a:prstGeom>
              <a:noFill/>
              <a:ln/>
            </p:spPr>
            <p:txBody>
              <a:bodyPr wrap="square" lIns="0" tIns="0" rIns="0" bIns="0" rtlCol="0" anchor="t"/>
              <a:lstStyle/>
              <a:p>
                <a:pPr algn="ctr" defTabSz="554019"/>
                <a:r>
                  <a:rPr lang="en-US" sz="800" dirty="0">
                    <a:solidFill>
                      <a:srgbClr val="5A6B8A"/>
                    </a:solidFill>
                    <a:latin typeface="Aptos" panose="020B0004020202020204" pitchFamily="34" charset="0"/>
                    <a:ea typeface="Calibri" pitchFamily="34" charset="-122"/>
                    <a:cs typeface="Calibri" pitchFamily="34" charset="-120"/>
                  </a:rPr>
                  <a:t>Margin calcs · IM / VM</a:t>
                </a:r>
                <a:endParaRPr lang="en-US" sz="800" dirty="0">
                  <a:solidFill>
                    <a:srgbClr val="000000"/>
                  </a:solidFill>
                  <a:latin typeface="Aptos" panose="020B0004020202020204" pitchFamily="34" charset="0"/>
                </a:endParaRPr>
              </a:p>
              <a:p>
                <a:pPr algn="ctr" defTabSz="554019"/>
                <a:r>
                  <a:rPr lang="en-US" sz="800" dirty="0">
                    <a:solidFill>
                      <a:srgbClr val="5A6B8A"/>
                    </a:solidFill>
                    <a:latin typeface="Aptos" panose="020B0004020202020204" pitchFamily="34" charset="0"/>
                    <a:ea typeface="Calibri" pitchFamily="34" charset="-122"/>
                    <a:cs typeface="Calibri" pitchFamily="34" charset="-120"/>
                  </a:rPr>
                  <a:t>5–8 CCH projections</a:t>
                </a:r>
                <a:endParaRPr lang="en-US" sz="800" dirty="0">
                  <a:solidFill>
                    <a:srgbClr val="000000"/>
                  </a:solidFill>
                  <a:latin typeface="Aptos" panose="020B0004020202020204" pitchFamily="34" charset="0"/>
                </a:endParaRPr>
              </a:p>
            </p:txBody>
          </p:sp>
        </p:grpSp>
        <p:sp>
          <p:nvSpPr>
            <p:cNvPr id="140" name="Shape 138">
              <a:extLst>
                <a:ext uri="{FF2B5EF4-FFF2-40B4-BE49-F238E27FC236}">
                  <a16:creationId xmlns:a16="http://schemas.microsoft.com/office/drawing/2014/main" id="{C5D0F08D-0FE9-8A7A-A841-2AB3A125444C}"/>
                </a:ext>
              </a:extLst>
            </p:cNvPr>
            <p:cNvSpPr/>
            <p:nvPr/>
          </p:nvSpPr>
          <p:spPr>
            <a:xfrm>
              <a:off x="3200399" y="3372478"/>
              <a:ext cx="7324033" cy="306189"/>
            </a:xfrm>
            <a:prstGeom prst="rect">
              <a:avLst/>
            </a:prstGeom>
            <a:solidFill>
              <a:srgbClr val="FFFFFF"/>
            </a:solidFill>
            <a:ln w="12700">
              <a:solidFill>
                <a:srgbClr val="3C7EBB"/>
              </a:solidFill>
              <a:prstDash val="solid"/>
            </a:ln>
            <a:effectLst>
              <a:outerShdw blurRad="50800" dist="12700" dir="8100000" algn="bl" rotWithShape="0">
                <a:srgbClr val="000000">
                  <a:alpha val="8000"/>
                </a:srgbClr>
              </a:outerShdw>
            </a:effectLst>
          </p:spPr>
          <p:txBody>
            <a:bodyPr/>
            <a:lstStyle/>
            <a:p>
              <a:pPr defTabSz="554019"/>
              <a:endParaRPr lang="en-US" sz="819">
                <a:solidFill>
                  <a:srgbClr val="000000"/>
                </a:solidFill>
                <a:latin typeface="Aptos" panose="020B0004020202020204" pitchFamily="34" charset="0"/>
              </a:endParaRPr>
            </a:p>
          </p:txBody>
        </p:sp>
        <p:sp>
          <p:nvSpPr>
            <p:cNvPr id="142" name="Text 140">
              <a:extLst>
                <a:ext uri="{FF2B5EF4-FFF2-40B4-BE49-F238E27FC236}">
                  <a16:creationId xmlns:a16="http://schemas.microsoft.com/office/drawing/2014/main" id="{D5652E47-B24A-2120-7203-E45C0227D8D0}"/>
                </a:ext>
              </a:extLst>
            </p:cNvPr>
            <p:cNvSpPr/>
            <p:nvPr/>
          </p:nvSpPr>
          <p:spPr>
            <a:xfrm>
              <a:off x="3264407" y="3454774"/>
              <a:ext cx="6784367" cy="102420"/>
            </a:xfrm>
            <a:prstGeom prst="rect">
              <a:avLst/>
            </a:prstGeom>
            <a:noFill/>
            <a:ln/>
          </p:spPr>
          <p:txBody>
            <a:bodyPr wrap="square" lIns="0" tIns="0" rIns="0" bIns="0" rtlCol="0" anchor="t"/>
            <a:lstStyle/>
            <a:p>
              <a:pPr defTabSz="554019"/>
              <a:r>
                <a:rPr lang="en-US" sz="1000" b="1" dirty="0">
                  <a:solidFill>
                    <a:srgbClr val="0B2447"/>
                  </a:solidFill>
                  <a:latin typeface="Aptos" panose="020B0004020202020204" pitchFamily="34" charset="0"/>
                  <a:ea typeface="Calibri" pitchFamily="34" charset="-122"/>
                  <a:cs typeface="Calibri" pitchFamily="34" charset="-120"/>
                </a:rPr>
                <a:t>Distributed Compute Grid</a:t>
              </a:r>
              <a:endParaRPr lang="en-US" sz="1000" dirty="0">
                <a:solidFill>
                  <a:srgbClr val="000000"/>
                </a:solidFill>
                <a:latin typeface="Aptos" panose="020B0004020202020204" pitchFamily="34" charset="0"/>
              </a:endParaRPr>
            </a:p>
          </p:txBody>
        </p:sp>
        <p:sp>
          <p:nvSpPr>
            <p:cNvPr id="143" name="Text 141">
              <a:extLst>
                <a:ext uri="{FF2B5EF4-FFF2-40B4-BE49-F238E27FC236}">
                  <a16:creationId xmlns:a16="http://schemas.microsoft.com/office/drawing/2014/main" id="{216676E6-E960-5653-F797-6C88483D03E7}"/>
                </a:ext>
              </a:extLst>
            </p:cNvPr>
            <p:cNvSpPr/>
            <p:nvPr/>
          </p:nvSpPr>
          <p:spPr>
            <a:xfrm>
              <a:off x="5404586" y="3454774"/>
              <a:ext cx="1609344" cy="147108"/>
            </a:xfrm>
            <a:prstGeom prst="rect">
              <a:avLst/>
            </a:prstGeom>
            <a:noFill/>
            <a:ln/>
          </p:spPr>
          <p:txBody>
            <a:bodyPr wrap="square" lIns="0" tIns="0" rIns="0" bIns="0" rtlCol="0" anchor="t"/>
            <a:lstStyle/>
            <a:p>
              <a:pPr defTabSz="554019"/>
              <a:r>
                <a:rPr lang="en-US" sz="800" dirty="0">
                  <a:solidFill>
                    <a:srgbClr val="5A6B8A"/>
                  </a:solidFill>
                  <a:latin typeface="Aptos" panose="020B0004020202020204" pitchFamily="34" charset="0"/>
                  <a:ea typeface="Calibri" pitchFamily="34" charset="-122"/>
                  <a:cs typeface="Calibri" pitchFamily="34" charset="-120"/>
                </a:rPr>
                <a:t>Ray / Dask on EKS</a:t>
              </a:r>
              <a:endParaRPr lang="en-US" sz="800" dirty="0">
                <a:solidFill>
                  <a:srgbClr val="000000"/>
                </a:solidFill>
                <a:latin typeface="Aptos" panose="020B0004020202020204" pitchFamily="34" charset="0"/>
              </a:endParaRPr>
            </a:p>
          </p:txBody>
        </p:sp>
        <p:sp>
          <p:nvSpPr>
            <p:cNvPr id="73" name="Text 141">
              <a:extLst>
                <a:ext uri="{FF2B5EF4-FFF2-40B4-BE49-F238E27FC236}">
                  <a16:creationId xmlns:a16="http://schemas.microsoft.com/office/drawing/2014/main" id="{D1B8405D-3BCC-D3BF-24C0-C6444DD816D1}"/>
                </a:ext>
              </a:extLst>
            </p:cNvPr>
            <p:cNvSpPr/>
            <p:nvPr/>
          </p:nvSpPr>
          <p:spPr>
            <a:xfrm>
              <a:off x="6844043" y="3460549"/>
              <a:ext cx="1609344" cy="147108"/>
            </a:xfrm>
            <a:prstGeom prst="rect">
              <a:avLst/>
            </a:prstGeom>
            <a:noFill/>
            <a:ln/>
          </p:spPr>
          <p:txBody>
            <a:bodyPr wrap="square" lIns="0" tIns="0" rIns="0" bIns="0" rtlCol="0" anchor="t"/>
            <a:lstStyle/>
            <a:p>
              <a:pPr defTabSz="554019"/>
              <a:r>
                <a:rPr lang="en-US" sz="800" dirty="0">
                  <a:solidFill>
                    <a:srgbClr val="5A6B8A"/>
                  </a:solidFill>
                  <a:latin typeface="Aptos" panose="020B0004020202020204" pitchFamily="34" charset="0"/>
                  <a:ea typeface="Calibri" pitchFamily="34" charset="-122"/>
                  <a:cs typeface="Calibri" pitchFamily="34" charset="-120"/>
                </a:rPr>
                <a:t>Ignite / </a:t>
              </a:r>
              <a:r>
                <a:rPr lang="en-US" sz="800" dirty="0" err="1">
                  <a:solidFill>
                    <a:srgbClr val="5A6B8A"/>
                  </a:solidFill>
                  <a:latin typeface="Aptos" panose="020B0004020202020204" pitchFamily="34" charset="0"/>
                  <a:ea typeface="Calibri" pitchFamily="34" charset="-122"/>
                  <a:cs typeface="Calibri" pitchFamily="34" charset="-120"/>
                </a:rPr>
                <a:t>Hazelcast</a:t>
              </a:r>
              <a:r>
                <a:rPr lang="en-US" sz="800" dirty="0">
                  <a:solidFill>
                    <a:srgbClr val="5A6B8A"/>
                  </a:solidFill>
                  <a:latin typeface="Aptos" panose="020B0004020202020204" pitchFamily="34" charset="0"/>
                  <a:ea typeface="Calibri" pitchFamily="34" charset="-122"/>
                  <a:cs typeface="Calibri" pitchFamily="34" charset="-120"/>
                </a:rPr>
                <a:t> in-mem</a:t>
              </a:r>
              <a:endParaRPr lang="en-US" sz="800" dirty="0">
                <a:solidFill>
                  <a:srgbClr val="000000"/>
                </a:solidFill>
                <a:latin typeface="Aptos" panose="020B0004020202020204" pitchFamily="34" charset="0"/>
              </a:endParaRPr>
            </a:p>
          </p:txBody>
        </p:sp>
        <p:pic>
          <p:nvPicPr>
            <p:cNvPr id="10" name="Graphic 9">
              <a:extLst>
                <a:ext uri="{FF2B5EF4-FFF2-40B4-BE49-F238E27FC236}">
                  <a16:creationId xmlns:a16="http://schemas.microsoft.com/office/drawing/2014/main" id="{C7399720-6CE0-E4B9-C1B2-5A91C488482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822540" y="2868441"/>
              <a:ext cx="903788" cy="265546"/>
            </a:xfrm>
            <a:prstGeom prst="rect">
              <a:avLst/>
            </a:prstGeom>
          </p:spPr>
        </p:pic>
        <p:pic>
          <p:nvPicPr>
            <p:cNvPr id="11" name="Picture 10">
              <a:extLst>
                <a:ext uri="{FF2B5EF4-FFF2-40B4-BE49-F238E27FC236}">
                  <a16:creationId xmlns:a16="http://schemas.microsoft.com/office/drawing/2014/main" id="{973E326E-209E-46ED-BCFB-51DCFAC3617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862491" y="2690913"/>
              <a:ext cx="430032" cy="430032"/>
            </a:xfrm>
            <a:prstGeom prst="rect">
              <a:avLst/>
            </a:prstGeom>
          </p:spPr>
        </p:pic>
        <p:sp>
          <p:nvSpPr>
            <p:cNvPr id="12" name="TextBox 11">
              <a:extLst>
                <a:ext uri="{FF2B5EF4-FFF2-40B4-BE49-F238E27FC236}">
                  <a16:creationId xmlns:a16="http://schemas.microsoft.com/office/drawing/2014/main" id="{F4F743C9-1663-AC72-FA15-60527D74F67E}"/>
                </a:ext>
              </a:extLst>
            </p:cNvPr>
            <p:cNvSpPr txBox="1"/>
            <p:nvPr/>
          </p:nvSpPr>
          <p:spPr>
            <a:xfrm>
              <a:off x="9385549" y="3124679"/>
              <a:ext cx="1326447" cy="138499"/>
            </a:xfrm>
            <a:prstGeom prst="rect">
              <a:avLst/>
            </a:prstGeom>
            <a:noFill/>
          </p:spPr>
          <p:txBody>
            <a:bodyPr wrap="square" lIns="0" tIns="0" rIns="0" bIns="0" rtlCol="0">
              <a:spAutoFit/>
            </a:bodyPr>
            <a:lstStyle/>
            <a:p>
              <a:pPr algn="ctr" defTabSz="554019"/>
              <a:r>
                <a:rPr lang="en-GB" sz="900" dirty="0">
                  <a:solidFill>
                    <a:srgbClr val="000000"/>
                  </a:solidFill>
                  <a:latin typeface="Aptos" panose="020B0004020202020204" pitchFamily="34" charset="0"/>
                </a:rPr>
                <a:t>Microservices</a:t>
              </a:r>
            </a:p>
          </p:txBody>
        </p:sp>
      </p:grpSp>
      <p:sp>
        <p:nvSpPr>
          <p:cNvPr id="19" name="Shape 50">
            <a:extLst>
              <a:ext uri="{FF2B5EF4-FFF2-40B4-BE49-F238E27FC236}">
                <a16:creationId xmlns:a16="http://schemas.microsoft.com/office/drawing/2014/main" id="{4072AA38-83C1-974D-5ADA-E9D763B8C74E}"/>
              </a:ext>
            </a:extLst>
          </p:cNvPr>
          <p:cNvSpPr/>
          <p:nvPr/>
        </p:nvSpPr>
        <p:spPr>
          <a:xfrm>
            <a:off x="2126220" y="2064261"/>
            <a:ext cx="877824" cy="400049"/>
          </a:xfrm>
          <a:prstGeom prst="rect">
            <a:avLst/>
          </a:prstGeom>
          <a:solidFill>
            <a:schemeClr val="tx1"/>
          </a:solidFill>
          <a:ln w="12700">
            <a:noFill/>
            <a:prstDash val="solid"/>
          </a:ln>
        </p:spPr>
        <p:txBody>
          <a:bodyPr/>
          <a:lstStyle/>
          <a:p>
            <a:pPr defTabSz="554019"/>
            <a:endParaRPr lang="en-US" sz="819">
              <a:solidFill>
                <a:srgbClr val="000000"/>
              </a:solidFill>
              <a:latin typeface="Calibri" panose="020F0502020204030204"/>
            </a:endParaRPr>
          </a:p>
        </p:txBody>
      </p:sp>
      <p:sp>
        <p:nvSpPr>
          <p:cNvPr id="20" name="Text 51">
            <a:extLst>
              <a:ext uri="{FF2B5EF4-FFF2-40B4-BE49-F238E27FC236}">
                <a16:creationId xmlns:a16="http://schemas.microsoft.com/office/drawing/2014/main" id="{7253E76D-0950-9506-5920-3AD8E6B08C22}"/>
              </a:ext>
            </a:extLst>
          </p:cNvPr>
          <p:cNvSpPr/>
          <p:nvPr/>
        </p:nvSpPr>
        <p:spPr>
          <a:xfrm>
            <a:off x="2089644" y="2139600"/>
            <a:ext cx="841248" cy="219456"/>
          </a:xfrm>
          <a:prstGeom prst="rect">
            <a:avLst/>
          </a:prstGeom>
          <a:noFill/>
          <a:ln/>
        </p:spPr>
        <p:txBody>
          <a:bodyPr wrap="square" lIns="0" tIns="0" rIns="0" bIns="0" rtlCol="0" anchor="ctr"/>
          <a:lstStyle/>
          <a:p>
            <a:pPr algn="ctr" defTabSz="554019"/>
            <a:r>
              <a:rPr lang="en-US" sz="800" b="1" kern="0" spc="100" dirty="0">
                <a:solidFill>
                  <a:srgbClr val="FFFFFF"/>
                </a:solidFill>
                <a:latin typeface="Calibri" pitchFamily="34" charset="0"/>
                <a:ea typeface="Calibri" pitchFamily="34" charset="-122"/>
                <a:cs typeface="Calibri" pitchFamily="34" charset="-120"/>
              </a:rPr>
              <a:t>EVENT BACKBONE</a:t>
            </a:r>
            <a:endParaRPr lang="en-US" sz="800" dirty="0">
              <a:solidFill>
                <a:srgbClr val="000000"/>
              </a:solidFill>
              <a:latin typeface="Calibri" panose="020F0502020204030204"/>
            </a:endParaRPr>
          </a:p>
        </p:txBody>
      </p:sp>
      <p:sp>
        <p:nvSpPr>
          <p:cNvPr id="61" name="Shape 102">
            <a:extLst>
              <a:ext uri="{FF2B5EF4-FFF2-40B4-BE49-F238E27FC236}">
                <a16:creationId xmlns:a16="http://schemas.microsoft.com/office/drawing/2014/main" id="{F03FC4FF-5608-BF8E-D20D-E6A3ECFA0A54}"/>
              </a:ext>
            </a:extLst>
          </p:cNvPr>
          <p:cNvSpPr/>
          <p:nvPr/>
        </p:nvSpPr>
        <p:spPr>
          <a:xfrm>
            <a:off x="2126220" y="2532888"/>
            <a:ext cx="841248" cy="2838003"/>
          </a:xfrm>
          <a:prstGeom prst="rect">
            <a:avLst/>
          </a:prstGeom>
          <a:solidFill>
            <a:srgbClr val="FFFFFF"/>
          </a:solidFill>
          <a:ln w="15240">
            <a:solidFill>
              <a:schemeClr val="tx1"/>
            </a:solidFill>
            <a:prstDash val="solid"/>
          </a:ln>
          <a:effectLst>
            <a:outerShdw blurRad="38100" dist="12700" dir="8100000" algn="bl" rotWithShape="0">
              <a:srgbClr val="000000">
                <a:alpha val="8000"/>
              </a:srgbClr>
            </a:outerShdw>
          </a:effectLst>
        </p:spPr>
        <p:txBody>
          <a:bodyPr/>
          <a:lstStyle/>
          <a:p>
            <a:pPr algn="ctr" defTabSz="554019"/>
            <a:endParaRPr lang="en-US" sz="819">
              <a:solidFill>
                <a:srgbClr val="000000"/>
              </a:solidFill>
              <a:latin typeface="Calibri" panose="020F0502020204030204"/>
            </a:endParaRPr>
          </a:p>
        </p:txBody>
      </p:sp>
      <p:sp>
        <p:nvSpPr>
          <p:cNvPr id="63" name="Text 104">
            <a:extLst>
              <a:ext uri="{FF2B5EF4-FFF2-40B4-BE49-F238E27FC236}">
                <a16:creationId xmlns:a16="http://schemas.microsoft.com/office/drawing/2014/main" id="{893083A6-20DF-4496-F16B-5A4CE27EE331}"/>
              </a:ext>
            </a:extLst>
          </p:cNvPr>
          <p:cNvSpPr/>
          <p:nvPr/>
        </p:nvSpPr>
        <p:spPr>
          <a:xfrm>
            <a:off x="2171940" y="2596896"/>
            <a:ext cx="749808" cy="182880"/>
          </a:xfrm>
          <a:prstGeom prst="rect">
            <a:avLst/>
          </a:prstGeom>
          <a:noFill/>
          <a:ln/>
        </p:spPr>
        <p:txBody>
          <a:bodyPr wrap="square" lIns="0" tIns="0" rIns="0" bIns="0" rtlCol="0" anchor="ctr"/>
          <a:lstStyle/>
          <a:p>
            <a:pPr algn="ctr" defTabSz="554019"/>
            <a:r>
              <a:rPr lang="en-US" sz="900" b="1" dirty="0">
                <a:solidFill>
                  <a:srgbClr val="0B2447"/>
                </a:solidFill>
                <a:latin typeface="Calibri" pitchFamily="34" charset="0"/>
                <a:ea typeface="Calibri" pitchFamily="34" charset="-122"/>
                <a:cs typeface="Calibri" pitchFamily="34" charset="-120"/>
              </a:rPr>
              <a:t>Solace PubSub+</a:t>
            </a:r>
            <a:endParaRPr lang="en-US" sz="900" dirty="0">
              <a:solidFill>
                <a:srgbClr val="000000"/>
              </a:solidFill>
              <a:latin typeface="Calibri" panose="020F0502020204030204"/>
            </a:endParaRPr>
          </a:p>
        </p:txBody>
      </p:sp>
      <p:sp>
        <p:nvSpPr>
          <p:cNvPr id="93" name="Text 105">
            <a:extLst>
              <a:ext uri="{FF2B5EF4-FFF2-40B4-BE49-F238E27FC236}">
                <a16:creationId xmlns:a16="http://schemas.microsoft.com/office/drawing/2014/main" id="{911A1EF6-34D2-AA04-6667-E9FC6698F7E3}"/>
              </a:ext>
            </a:extLst>
          </p:cNvPr>
          <p:cNvSpPr/>
          <p:nvPr/>
        </p:nvSpPr>
        <p:spPr>
          <a:xfrm>
            <a:off x="2171940" y="2905867"/>
            <a:ext cx="749808" cy="1650492"/>
          </a:xfrm>
          <a:prstGeom prst="rect">
            <a:avLst/>
          </a:prstGeom>
          <a:noFill/>
          <a:ln/>
        </p:spPr>
        <p:txBody>
          <a:bodyPr wrap="square" lIns="0" tIns="0" rIns="0" bIns="0" rtlCol="0" anchor="t"/>
          <a:lstStyle/>
          <a:p>
            <a:pPr algn="ctr" defTabSz="554019"/>
            <a:r>
              <a:rPr lang="en-US" sz="700" dirty="0">
                <a:solidFill>
                  <a:srgbClr val="1F2A44"/>
                </a:solidFill>
                <a:latin typeface="Consolas" pitchFamily="34" charset="0"/>
                <a:ea typeface="Consolas" pitchFamily="34" charset="-122"/>
                <a:cs typeface="Consolas" pitchFamily="34" charset="-120"/>
              </a:rPr>
              <a:t>trades.new</a:t>
            </a:r>
            <a:endParaRPr lang="en-US" sz="700" dirty="0">
              <a:solidFill>
                <a:srgbClr val="000000"/>
              </a:solidFill>
              <a:latin typeface="Calibri" panose="020F0502020204030204"/>
            </a:endParaRPr>
          </a:p>
          <a:p>
            <a:pPr algn="ctr" defTabSz="554019"/>
            <a:r>
              <a:rPr lang="en-US" sz="700" dirty="0">
                <a:solidFill>
                  <a:srgbClr val="1F2A44"/>
                </a:solidFill>
                <a:latin typeface="Consolas" pitchFamily="34" charset="0"/>
                <a:ea typeface="Consolas" pitchFamily="34" charset="-122"/>
                <a:cs typeface="Consolas" pitchFamily="34" charset="-120"/>
              </a:rPr>
              <a:t>Settlements .status</a:t>
            </a:r>
            <a:endParaRPr lang="en-US" sz="700" dirty="0">
              <a:solidFill>
                <a:srgbClr val="000000"/>
              </a:solidFill>
              <a:latin typeface="Calibri" panose="020F0502020204030204"/>
            </a:endParaRPr>
          </a:p>
          <a:p>
            <a:pPr algn="ctr" defTabSz="554019"/>
            <a:r>
              <a:rPr lang="en-US" sz="700" dirty="0">
                <a:solidFill>
                  <a:srgbClr val="1F2A44"/>
                </a:solidFill>
                <a:latin typeface="Consolas" pitchFamily="34" charset="0"/>
                <a:ea typeface="Consolas" pitchFamily="34" charset="-122"/>
                <a:cs typeface="Consolas" pitchFamily="34" charset="-120"/>
              </a:rPr>
              <a:t>mkt-data.ticks</a:t>
            </a:r>
            <a:endParaRPr lang="en-US" sz="700" dirty="0">
              <a:solidFill>
                <a:srgbClr val="000000"/>
              </a:solidFill>
              <a:latin typeface="Calibri" panose="020F0502020204030204"/>
            </a:endParaRPr>
          </a:p>
          <a:p>
            <a:pPr algn="ctr" defTabSz="554019"/>
            <a:r>
              <a:rPr lang="en-US" sz="700" dirty="0">
                <a:solidFill>
                  <a:srgbClr val="1F2A44"/>
                </a:solidFill>
                <a:latin typeface="Consolas" pitchFamily="34" charset="0"/>
                <a:ea typeface="Consolas" pitchFamily="34" charset="-122"/>
                <a:cs typeface="Consolas" pitchFamily="34" charset="-120"/>
              </a:rPr>
              <a:t>margin.feeds</a:t>
            </a:r>
            <a:endParaRPr lang="en-US" sz="700" dirty="0">
              <a:solidFill>
                <a:srgbClr val="000000"/>
              </a:solidFill>
              <a:latin typeface="Calibri" panose="020F0502020204030204"/>
            </a:endParaRPr>
          </a:p>
        </p:txBody>
      </p:sp>
      <p:sp>
        <p:nvSpPr>
          <p:cNvPr id="97" name="Shape 106">
            <a:extLst>
              <a:ext uri="{FF2B5EF4-FFF2-40B4-BE49-F238E27FC236}">
                <a16:creationId xmlns:a16="http://schemas.microsoft.com/office/drawing/2014/main" id="{8A348FF4-29A0-EBD3-74E2-8995F5DB58F0}"/>
              </a:ext>
            </a:extLst>
          </p:cNvPr>
          <p:cNvSpPr/>
          <p:nvPr/>
        </p:nvSpPr>
        <p:spPr>
          <a:xfrm>
            <a:off x="2171940" y="4430268"/>
            <a:ext cx="749808" cy="0"/>
          </a:xfrm>
          <a:prstGeom prst="line">
            <a:avLst/>
          </a:prstGeom>
          <a:noFill/>
          <a:ln w="6350">
            <a:solidFill>
              <a:srgbClr val="94A3B8"/>
            </a:solidFill>
            <a:prstDash val="dash"/>
          </a:ln>
        </p:spPr>
        <p:txBody>
          <a:bodyPr/>
          <a:lstStyle/>
          <a:p>
            <a:pPr algn="ctr" defTabSz="554019"/>
            <a:endParaRPr lang="en-US" sz="819">
              <a:solidFill>
                <a:srgbClr val="000000"/>
              </a:solidFill>
              <a:latin typeface="Calibri" panose="020F0502020204030204"/>
            </a:endParaRPr>
          </a:p>
        </p:txBody>
      </p:sp>
      <p:sp>
        <p:nvSpPr>
          <p:cNvPr id="101" name="Text 107">
            <a:extLst>
              <a:ext uri="{FF2B5EF4-FFF2-40B4-BE49-F238E27FC236}">
                <a16:creationId xmlns:a16="http://schemas.microsoft.com/office/drawing/2014/main" id="{015DC945-6A87-318D-0D0D-E71E4D2E92D5}"/>
              </a:ext>
            </a:extLst>
          </p:cNvPr>
          <p:cNvSpPr/>
          <p:nvPr/>
        </p:nvSpPr>
        <p:spPr>
          <a:xfrm>
            <a:off x="2171940" y="4466844"/>
            <a:ext cx="749808" cy="182880"/>
          </a:xfrm>
          <a:prstGeom prst="rect">
            <a:avLst/>
          </a:prstGeom>
          <a:noFill/>
          <a:ln/>
        </p:spPr>
        <p:txBody>
          <a:bodyPr wrap="square" lIns="0" tIns="0" rIns="0" bIns="0" rtlCol="0" anchor="ctr"/>
          <a:lstStyle/>
          <a:p>
            <a:pPr algn="ctr" defTabSz="554019"/>
            <a:r>
              <a:rPr lang="en-US" sz="900" b="1" dirty="0">
                <a:solidFill>
                  <a:srgbClr val="0B2447"/>
                </a:solidFill>
                <a:latin typeface="Calibri" pitchFamily="34" charset="0"/>
                <a:ea typeface="Calibri" pitchFamily="34" charset="-122"/>
                <a:cs typeface="Calibri" pitchFamily="34" charset="-120"/>
              </a:rPr>
              <a:t>Kafka (MSK)</a:t>
            </a:r>
            <a:endParaRPr lang="en-US" sz="900" dirty="0">
              <a:solidFill>
                <a:srgbClr val="000000"/>
              </a:solidFill>
              <a:latin typeface="Calibri" panose="020F0502020204030204"/>
            </a:endParaRPr>
          </a:p>
        </p:txBody>
      </p:sp>
      <p:sp>
        <p:nvSpPr>
          <p:cNvPr id="109" name="Text 108">
            <a:extLst>
              <a:ext uri="{FF2B5EF4-FFF2-40B4-BE49-F238E27FC236}">
                <a16:creationId xmlns:a16="http://schemas.microsoft.com/office/drawing/2014/main" id="{14D3F80C-6B9C-B0BD-201C-21ED4942FEB8}"/>
              </a:ext>
            </a:extLst>
          </p:cNvPr>
          <p:cNvSpPr/>
          <p:nvPr/>
        </p:nvSpPr>
        <p:spPr>
          <a:xfrm>
            <a:off x="2171940" y="4649724"/>
            <a:ext cx="749808" cy="678627"/>
          </a:xfrm>
          <a:prstGeom prst="rect">
            <a:avLst/>
          </a:prstGeom>
          <a:noFill/>
          <a:ln/>
        </p:spPr>
        <p:txBody>
          <a:bodyPr wrap="square" lIns="0" tIns="0" rIns="0" bIns="0" rtlCol="0" anchor="t"/>
          <a:lstStyle/>
          <a:p>
            <a:pPr algn="ctr" defTabSz="554019"/>
            <a:r>
              <a:rPr lang="en-US" sz="700" dirty="0">
                <a:solidFill>
                  <a:srgbClr val="1F2A44"/>
                </a:solidFill>
                <a:latin typeface="Consolas" pitchFamily="34" charset="0"/>
                <a:ea typeface="Consolas" pitchFamily="34" charset="-122"/>
                <a:cs typeface="Consolas" pitchFamily="34" charset="-120"/>
              </a:rPr>
              <a:t>positions.updated</a:t>
            </a:r>
            <a:endParaRPr lang="en-US" sz="700" dirty="0">
              <a:solidFill>
                <a:srgbClr val="000000"/>
              </a:solidFill>
              <a:latin typeface="Calibri" panose="020F0502020204030204"/>
            </a:endParaRPr>
          </a:p>
          <a:p>
            <a:pPr algn="ctr" defTabSz="554019"/>
            <a:r>
              <a:rPr lang="en-US" sz="700" dirty="0">
                <a:solidFill>
                  <a:srgbClr val="1F2A44"/>
                </a:solidFill>
                <a:latin typeface="Consolas" pitchFamily="34" charset="0"/>
                <a:ea typeface="Consolas" pitchFamily="34" charset="-122"/>
                <a:cs typeface="Consolas" pitchFamily="34" charset="-120"/>
              </a:rPr>
              <a:t>risk.results</a:t>
            </a:r>
            <a:endParaRPr lang="en-US" sz="700" dirty="0">
              <a:solidFill>
                <a:srgbClr val="000000"/>
              </a:solidFill>
              <a:latin typeface="Calibri" panose="020F0502020204030204"/>
            </a:endParaRPr>
          </a:p>
          <a:p>
            <a:pPr algn="ctr" defTabSz="554019"/>
            <a:r>
              <a:rPr lang="en-US" sz="700" dirty="0">
                <a:solidFill>
                  <a:srgbClr val="1F2A44"/>
                </a:solidFill>
                <a:latin typeface="Consolas" pitchFamily="34" charset="0"/>
                <a:ea typeface="Consolas" pitchFamily="34" charset="-122"/>
                <a:cs typeface="Consolas" pitchFamily="34" charset="-120"/>
              </a:rPr>
              <a:t>limit.breaches</a:t>
            </a:r>
            <a:endParaRPr lang="en-US" sz="700" dirty="0">
              <a:solidFill>
                <a:srgbClr val="000000"/>
              </a:solidFill>
              <a:latin typeface="Calibri" panose="020F0502020204030204"/>
            </a:endParaRPr>
          </a:p>
          <a:p>
            <a:pPr algn="ctr" defTabSz="554019"/>
            <a:r>
              <a:rPr lang="en-US" sz="700" dirty="0">
                <a:solidFill>
                  <a:srgbClr val="1F2A44"/>
                </a:solidFill>
                <a:latin typeface="Consolas" pitchFamily="34" charset="0"/>
                <a:ea typeface="Consolas" pitchFamily="34" charset="-122"/>
                <a:cs typeface="Consolas" pitchFamily="34" charset="-120"/>
              </a:rPr>
              <a:t>workflow.cmds</a:t>
            </a:r>
            <a:endParaRPr lang="en-US" sz="700" dirty="0">
              <a:solidFill>
                <a:srgbClr val="000000"/>
              </a:solidFill>
              <a:latin typeface="Calibri" panose="020F0502020204030204"/>
            </a:endParaRPr>
          </a:p>
        </p:txBody>
      </p:sp>
      <p:sp>
        <p:nvSpPr>
          <p:cNvPr id="153" name="Shape 229">
            <a:extLst>
              <a:ext uri="{FF2B5EF4-FFF2-40B4-BE49-F238E27FC236}">
                <a16:creationId xmlns:a16="http://schemas.microsoft.com/office/drawing/2014/main" id="{FE383528-C0EE-25F5-F737-9BF24B26B279}"/>
              </a:ext>
            </a:extLst>
          </p:cNvPr>
          <p:cNvSpPr/>
          <p:nvPr/>
        </p:nvSpPr>
        <p:spPr>
          <a:xfrm>
            <a:off x="2967468" y="2983231"/>
            <a:ext cx="146304" cy="0"/>
          </a:xfrm>
          <a:prstGeom prst="line">
            <a:avLst/>
          </a:prstGeom>
          <a:noFill/>
          <a:ln w="15875">
            <a:solidFill>
              <a:srgbClr val="C8841A"/>
            </a:solidFill>
            <a:prstDash val="dash"/>
            <a:tailEnd type="triangle"/>
          </a:ln>
        </p:spPr>
        <p:txBody>
          <a:bodyPr/>
          <a:lstStyle/>
          <a:p>
            <a:pPr algn="ctr" defTabSz="554019"/>
            <a:endParaRPr lang="en-US" sz="819">
              <a:solidFill>
                <a:srgbClr val="000000"/>
              </a:solidFill>
              <a:latin typeface="Calibri" panose="020F0502020204030204"/>
            </a:endParaRPr>
          </a:p>
        </p:txBody>
      </p:sp>
      <p:sp>
        <p:nvSpPr>
          <p:cNvPr id="157" name="Shape 230">
            <a:extLst>
              <a:ext uri="{FF2B5EF4-FFF2-40B4-BE49-F238E27FC236}">
                <a16:creationId xmlns:a16="http://schemas.microsoft.com/office/drawing/2014/main" id="{26B2E457-EA9A-BB40-D2DF-4EE9C6A95481}"/>
              </a:ext>
            </a:extLst>
          </p:cNvPr>
          <p:cNvSpPr/>
          <p:nvPr/>
        </p:nvSpPr>
        <p:spPr>
          <a:xfrm>
            <a:off x="2967468" y="3947923"/>
            <a:ext cx="146304" cy="0"/>
          </a:xfrm>
          <a:prstGeom prst="line">
            <a:avLst/>
          </a:prstGeom>
          <a:noFill/>
          <a:ln w="15875">
            <a:solidFill>
              <a:srgbClr val="C8841A"/>
            </a:solidFill>
            <a:prstDash val="dash"/>
            <a:tailEnd type="triangle"/>
          </a:ln>
        </p:spPr>
        <p:txBody>
          <a:bodyPr/>
          <a:lstStyle/>
          <a:p>
            <a:pPr algn="ctr" defTabSz="554019"/>
            <a:endParaRPr lang="en-US" sz="819">
              <a:solidFill>
                <a:srgbClr val="000000"/>
              </a:solidFill>
              <a:latin typeface="Calibri" panose="020F0502020204030204"/>
            </a:endParaRPr>
          </a:p>
        </p:txBody>
      </p:sp>
      <p:sp>
        <p:nvSpPr>
          <p:cNvPr id="161" name="Shape 231">
            <a:extLst>
              <a:ext uri="{FF2B5EF4-FFF2-40B4-BE49-F238E27FC236}">
                <a16:creationId xmlns:a16="http://schemas.microsoft.com/office/drawing/2014/main" id="{EBC2C5E3-6997-3560-D0B1-C41252F72995}"/>
              </a:ext>
            </a:extLst>
          </p:cNvPr>
          <p:cNvSpPr/>
          <p:nvPr/>
        </p:nvSpPr>
        <p:spPr>
          <a:xfrm>
            <a:off x="2967468" y="4912615"/>
            <a:ext cx="146304" cy="0"/>
          </a:xfrm>
          <a:prstGeom prst="line">
            <a:avLst/>
          </a:prstGeom>
          <a:noFill/>
          <a:ln w="15875">
            <a:solidFill>
              <a:srgbClr val="C8841A"/>
            </a:solidFill>
            <a:prstDash val="dash"/>
            <a:tailEnd type="triangle"/>
          </a:ln>
        </p:spPr>
        <p:txBody>
          <a:bodyPr/>
          <a:lstStyle/>
          <a:p>
            <a:pPr algn="ctr" defTabSz="554019"/>
            <a:endParaRPr lang="en-US" sz="819">
              <a:solidFill>
                <a:srgbClr val="000000"/>
              </a:solidFill>
              <a:latin typeface="Calibri" panose="020F0502020204030204"/>
            </a:endParaRPr>
          </a:p>
        </p:txBody>
      </p:sp>
      <p:grpSp>
        <p:nvGrpSpPr>
          <p:cNvPr id="193" name="Group 192">
            <a:extLst>
              <a:ext uri="{FF2B5EF4-FFF2-40B4-BE49-F238E27FC236}">
                <a16:creationId xmlns:a16="http://schemas.microsoft.com/office/drawing/2014/main" id="{7635E39B-2284-4E3F-4FBC-903072F55400}"/>
              </a:ext>
            </a:extLst>
          </p:cNvPr>
          <p:cNvGrpSpPr/>
          <p:nvPr/>
        </p:nvGrpSpPr>
        <p:grpSpPr>
          <a:xfrm>
            <a:off x="48126" y="2047173"/>
            <a:ext cx="996317" cy="4075819"/>
            <a:chOff x="182880" y="1225296"/>
            <a:chExt cx="1271016" cy="4274820"/>
          </a:xfrm>
        </p:grpSpPr>
        <p:sp>
          <p:nvSpPr>
            <p:cNvPr id="15" name="Shape 46">
              <a:extLst>
                <a:ext uri="{FF2B5EF4-FFF2-40B4-BE49-F238E27FC236}">
                  <a16:creationId xmlns:a16="http://schemas.microsoft.com/office/drawing/2014/main" id="{609E6AA4-803F-AEBD-0C08-204CE3AF2F03}"/>
                </a:ext>
              </a:extLst>
            </p:cNvPr>
            <p:cNvSpPr/>
            <p:nvPr/>
          </p:nvSpPr>
          <p:spPr>
            <a:xfrm>
              <a:off x="182880" y="1225296"/>
              <a:ext cx="1143000" cy="411480"/>
            </a:xfrm>
            <a:prstGeom prst="rect">
              <a:avLst/>
            </a:prstGeom>
            <a:solidFill>
              <a:srgbClr val="A5C8E4"/>
            </a:solidFill>
            <a:ln w="12700">
              <a:solidFill>
                <a:srgbClr val="A5C8E4"/>
              </a:solidFill>
              <a:prstDash val="solid"/>
            </a:ln>
          </p:spPr>
          <p:txBody>
            <a:bodyPr/>
            <a:lstStyle/>
            <a:p>
              <a:pPr algn="ctr" defTabSz="554019"/>
              <a:endParaRPr lang="en-US" sz="819">
                <a:solidFill>
                  <a:srgbClr val="000000"/>
                </a:solidFill>
                <a:latin typeface="Aptos" panose="020B0004020202020204" pitchFamily="34" charset="0"/>
              </a:endParaRPr>
            </a:p>
          </p:txBody>
        </p:sp>
        <p:sp>
          <p:nvSpPr>
            <p:cNvPr id="16" name="Text 47">
              <a:extLst>
                <a:ext uri="{FF2B5EF4-FFF2-40B4-BE49-F238E27FC236}">
                  <a16:creationId xmlns:a16="http://schemas.microsoft.com/office/drawing/2014/main" id="{3917178D-7347-D54E-FA18-3D919A43A1B8}"/>
                </a:ext>
              </a:extLst>
            </p:cNvPr>
            <p:cNvSpPr/>
            <p:nvPr/>
          </p:nvSpPr>
          <p:spPr>
            <a:xfrm>
              <a:off x="197418" y="1309998"/>
              <a:ext cx="1069848" cy="219456"/>
            </a:xfrm>
            <a:prstGeom prst="rect">
              <a:avLst/>
            </a:prstGeom>
            <a:noFill/>
            <a:ln/>
          </p:spPr>
          <p:txBody>
            <a:bodyPr wrap="square" lIns="0" tIns="0" rIns="0" bIns="0" rtlCol="0" anchor="ctr"/>
            <a:lstStyle/>
            <a:p>
              <a:pPr algn="ctr" defTabSz="554019"/>
              <a:r>
                <a:rPr lang="en-US" sz="800" b="1" kern="0" spc="100" dirty="0">
                  <a:solidFill>
                    <a:srgbClr val="FFFFFF"/>
                  </a:solidFill>
                  <a:latin typeface="Aptos" panose="020B0004020202020204" pitchFamily="34" charset="0"/>
                  <a:ea typeface="Calibri" pitchFamily="34" charset="-122"/>
                  <a:cs typeface="Calibri" pitchFamily="34" charset="-120"/>
                </a:rPr>
                <a:t>EXTERNAL SOURCES</a:t>
              </a:r>
              <a:endParaRPr lang="en-US" sz="800" dirty="0">
                <a:solidFill>
                  <a:srgbClr val="000000"/>
                </a:solidFill>
                <a:latin typeface="Aptos" panose="020B0004020202020204" pitchFamily="34" charset="0"/>
              </a:endParaRPr>
            </a:p>
          </p:txBody>
        </p:sp>
        <p:sp>
          <p:nvSpPr>
            <p:cNvPr id="21" name="Shape 62">
              <a:extLst>
                <a:ext uri="{FF2B5EF4-FFF2-40B4-BE49-F238E27FC236}">
                  <a16:creationId xmlns:a16="http://schemas.microsoft.com/office/drawing/2014/main" id="{84AA5EA8-9D0E-0B1F-7BCB-FB3A4FE8A9F6}"/>
                </a:ext>
              </a:extLst>
            </p:cNvPr>
            <p:cNvSpPr/>
            <p:nvPr/>
          </p:nvSpPr>
          <p:spPr>
            <a:xfrm>
              <a:off x="219456" y="1705356"/>
              <a:ext cx="1069848" cy="707746"/>
            </a:xfrm>
            <a:prstGeom prst="rect">
              <a:avLst/>
            </a:prstGeom>
            <a:solidFill>
              <a:srgbClr val="FFFFFF"/>
            </a:solidFill>
            <a:ln w="12700">
              <a:solidFill>
                <a:srgbClr val="A5C8E4"/>
              </a:solidFill>
              <a:prstDash val="solid"/>
            </a:ln>
            <a:effectLst>
              <a:outerShdw blurRad="38100" dist="12700" dir="8100000" algn="bl" rotWithShape="0">
                <a:srgbClr val="000000">
                  <a:alpha val="8000"/>
                </a:srgbClr>
              </a:outerShdw>
            </a:effectLst>
          </p:spPr>
          <p:txBody>
            <a:bodyPr/>
            <a:lstStyle/>
            <a:p>
              <a:pPr algn="ctr" defTabSz="554019"/>
              <a:endParaRPr lang="en-US" sz="819">
                <a:solidFill>
                  <a:srgbClr val="000000"/>
                </a:solidFill>
                <a:latin typeface="Aptos" panose="020B0004020202020204" pitchFamily="34" charset="0"/>
              </a:endParaRPr>
            </a:p>
          </p:txBody>
        </p:sp>
        <p:sp>
          <p:nvSpPr>
            <p:cNvPr id="23" name="Text 64">
              <a:extLst>
                <a:ext uri="{FF2B5EF4-FFF2-40B4-BE49-F238E27FC236}">
                  <a16:creationId xmlns:a16="http://schemas.microsoft.com/office/drawing/2014/main" id="{579C78D6-7249-DF19-3646-C4E3A11DF76F}"/>
                </a:ext>
              </a:extLst>
            </p:cNvPr>
            <p:cNvSpPr/>
            <p:nvPr/>
          </p:nvSpPr>
          <p:spPr>
            <a:xfrm>
              <a:off x="274320" y="1769364"/>
              <a:ext cx="960120" cy="201168"/>
            </a:xfrm>
            <a:prstGeom prst="rect">
              <a:avLst/>
            </a:prstGeom>
            <a:noFill/>
            <a:ln/>
          </p:spPr>
          <p:txBody>
            <a:bodyPr wrap="square" lIns="0" tIns="0" rIns="0" bIns="0" rtlCol="0" anchor="t"/>
            <a:lstStyle/>
            <a:p>
              <a:pPr algn="ctr" defTabSz="554019"/>
              <a:r>
                <a:rPr lang="en-US" sz="900" b="1" dirty="0">
                  <a:solidFill>
                    <a:srgbClr val="0B2447"/>
                  </a:solidFill>
                  <a:latin typeface="Aptos" panose="020B0004020202020204" pitchFamily="34" charset="0"/>
                  <a:ea typeface="Calibri" pitchFamily="34" charset="-122"/>
                  <a:cs typeface="Calibri" pitchFamily="34" charset="-120"/>
                </a:rPr>
                <a:t>Exchanges</a:t>
              </a:r>
              <a:endParaRPr lang="en-US" sz="900" dirty="0">
                <a:solidFill>
                  <a:srgbClr val="000000"/>
                </a:solidFill>
                <a:latin typeface="Aptos" panose="020B0004020202020204" pitchFamily="34" charset="0"/>
              </a:endParaRPr>
            </a:p>
          </p:txBody>
        </p:sp>
        <p:sp>
          <p:nvSpPr>
            <p:cNvPr id="24" name="Text 65">
              <a:extLst>
                <a:ext uri="{FF2B5EF4-FFF2-40B4-BE49-F238E27FC236}">
                  <a16:creationId xmlns:a16="http://schemas.microsoft.com/office/drawing/2014/main" id="{49A3103F-5D70-F68D-90D6-ED134ABFAA78}"/>
                </a:ext>
              </a:extLst>
            </p:cNvPr>
            <p:cNvSpPr/>
            <p:nvPr/>
          </p:nvSpPr>
          <p:spPr>
            <a:xfrm>
              <a:off x="274320" y="1961388"/>
              <a:ext cx="960120" cy="433426"/>
            </a:xfrm>
            <a:prstGeom prst="rect">
              <a:avLst/>
            </a:prstGeom>
            <a:noFill/>
            <a:ln/>
          </p:spPr>
          <p:txBody>
            <a:bodyPr wrap="square" lIns="0" tIns="0" rIns="0" bIns="0" rtlCol="0" anchor="t"/>
            <a:lstStyle/>
            <a:p>
              <a:pPr algn="ctr" defTabSz="554019"/>
              <a:r>
                <a:rPr lang="en-US" sz="720" dirty="0">
                  <a:solidFill>
                    <a:srgbClr val="5A6B8A"/>
                  </a:solidFill>
                  <a:latin typeface="Aptos" panose="020B0004020202020204" pitchFamily="34" charset="0"/>
                  <a:ea typeface="Calibri" pitchFamily="34" charset="-122"/>
                  <a:cs typeface="Calibri" pitchFamily="34" charset="-120"/>
                </a:rPr>
                <a:t>FIX 4.4 / 5.0</a:t>
              </a:r>
              <a:endParaRPr lang="en-US" sz="720" dirty="0">
                <a:solidFill>
                  <a:srgbClr val="000000"/>
                </a:solidFill>
                <a:latin typeface="Aptos" panose="020B0004020202020204" pitchFamily="34" charset="0"/>
              </a:endParaRPr>
            </a:p>
          </p:txBody>
        </p:sp>
        <p:sp>
          <p:nvSpPr>
            <p:cNvPr id="25" name="Shape 66">
              <a:extLst>
                <a:ext uri="{FF2B5EF4-FFF2-40B4-BE49-F238E27FC236}">
                  <a16:creationId xmlns:a16="http://schemas.microsoft.com/office/drawing/2014/main" id="{1DCEE417-118B-D64B-4FD2-8BF63132F770}"/>
                </a:ext>
              </a:extLst>
            </p:cNvPr>
            <p:cNvSpPr/>
            <p:nvPr/>
          </p:nvSpPr>
          <p:spPr>
            <a:xfrm>
              <a:off x="219456" y="2477110"/>
              <a:ext cx="1069848" cy="707746"/>
            </a:xfrm>
            <a:prstGeom prst="rect">
              <a:avLst/>
            </a:prstGeom>
            <a:solidFill>
              <a:srgbClr val="FFFFFF"/>
            </a:solidFill>
            <a:ln w="12700">
              <a:solidFill>
                <a:srgbClr val="A5C8E4"/>
              </a:solidFill>
              <a:prstDash val="solid"/>
            </a:ln>
            <a:effectLst>
              <a:outerShdw blurRad="38100" dist="12700" dir="8100000" algn="bl" rotWithShape="0">
                <a:srgbClr val="000000">
                  <a:alpha val="8000"/>
                </a:srgbClr>
              </a:outerShdw>
            </a:effectLst>
          </p:spPr>
          <p:txBody>
            <a:bodyPr/>
            <a:lstStyle/>
            <a:p>
              <a:pPr algn="ctr" defTabSz="554019"/>
              <a:endParaRPr lang="en-US" sz="819">
                <a:solidFill>
                  <a:srgbClr val="000000"/>
                </a:solidFill>
                <a:latin typeface="Aptos" panose="020B0004020202020204" pitchFamily="34" charset="0"/>
              </a:endParaRPr>
            </a:p>
          </p:txBody>
        </p:sp>
        <p:sp>
          <p:nvSpPr>
            <p:cNvPr id="27" name="Text 68">
              <a:extLst>
                <a:ext uri="{FF2B5EF4-FFF2-40B4-BE49-F238E27FC236}">
                  <a16:creationId xmlns:a16="http://schemas.microsoft.com/office/drawing/2014/main" id="{EA7DF567-C183-84D1-18BE-FDB535459900}"/>
                </a:ext>
              </a:extLst>
            </p:cNvPr>
            <p:cNvSpPr/>
            <p:nvPr/>
          </p:nvSpPr>
          <p:spPr>
            <a:xfrm>
              <a:off x="274320" y="2541118"/>
              <a:ext cx="960120" cy="201168"/>
            </a:xfrm>
            <a:prstGeom prst="rect">
              <a:avLst/>
            </a:prstGeom>
            <a:noFill/>
            <a:ln/>
          </p:spPr>
          <p:txBody>
            <a:bodyPr wrap="square" lIns="0" tIns="0" rIns="0" bIns="0" rtlCol="0" anchor="t"/>
            <a:lstStyle/>
            <a:p>
              <a:pPr algn="ctr" defTabSz="554019"/>
              <a:r>
                <a:rPr lang="en-US" sz="900" b="1" dirty="0">
                  <a:solidFill>
                    <a:srgbClr val="0B2447"/>
                  </a:solidFill>
                  <a:latin typeface="Aptos" panose="020B0004020202020204" pitchFamily="34" charset="0"/>
                  <a:ea typeface="Calibri" pitchFamily="34" charset="-122"/>
                  <a:cs typeface="Calibri" pitchFamily="34" charset="-120"/>
                </a:rPr>
                <a:t>CCPs (5-8)</a:t>
              </a:r>
              <a:endParaRPr lang="en-US" sz="900" dirty="0">
                <a:solidFill>
                  <a:srgbClr val="000000"/>
                </a:solidFill>
                <a:latin typeface="Aptos" panose="020B0004020202020204" pitchFamily="34" charset="0"/>
              </a:endParaRPr>
            </a:p>
          </p:txBody>
        </p:sp>
        <p:sp>
          <p:nvSpPr>
            <p:cNvPr id="28" name="Text 69">
              <a:extLst>
                <a:ext uri="{FF2B5EF4-FFF2-40B4-BE49-F238E27FC236}">
                  <a16:creationId xmlns:a16="http://schemas.microsoft.com/office/drawing/2014/main" id="{8D858408-6168-67F5-8104-8E9648B1C79B}"/>
                </a:ext>
              </a:extLst>
            </p:cNvPr>
            <p:cNvSpPr/>
            <p:nvPr/>
          </p:nvSpPr>
          <p:spPr>
            <a:xfrm>
              <a:off x="274320" y="2733142"/>
              <a:ext cx="960120" cy="433426"/>
            </a:xfrm>
            <a:prstGeom prst="rect">
              <a:avLst/>
            </a:prstGeom>
            <a:noFill/>
            <a:ln/>
          </p:spPr>
          <p:txBody>
            <a:bodyPr wrap="square" lIns="0" tIns="0" rIns="0" bIns="0" rtlCol="0" anchor="t"/>
            <a:lstStyle/>
            <a:p>
              <a:pPr algn="ctr" defTabSz="554019"/>
              <a:r>
                <a:rPr lang="en-US" sz="720" dirty="0">
                  <a:solidFill>
                    <a:srgbClr val="5A6B8A"/>
                  </a:solidFill>
                  <a:latin typeface="Aptos" panose="020B0004020202020204" pitchFamily="34" charset="0"/>
                  <a:ea typeface="Calibri" pitchFamily="34" charset="-122"/>
                  <a:cs typeface="Calibri" pitchFamily="34" charset="-120"/>
                </a:rPr>
                <a:t>FIX · REST · SFTP</a:t>
              </a:r>
              <a:endParaRPr lang="en-US" sz="720" dirty="0">
                <a:solidFill>
                  <a:srgbClr val="000000"/>
                </a:solidFill>
                <a:latin typeface="Aptos" panose="020B0004020202020204" pitchFamily="34" charset="0"/>
              </a:endParaRPr>
            </a:p>
          </p:txBody>
        </p:sp>
        <p:sp>
          <p:nvSpPr>
            <p:cNvPr id="29" name="Shape 70">
              <a:extLst>
                <a:ext uri="{FF2B5EF4-FFF2-40B4-BE49-F238E27FC236}">
                  <a16:creationId xmlns:a16="http://schemas.microsoft.com/office/drawing/2014/main" id="{491B12E3-934A-A5BC-FA2C-C4FE1F6A2CD4}"/>
                </a:ext>
              </a:extLst>
            </p:cNvPr>
            <p:cNvSpPr/>
            <p:nvPr/>
          </p:nvSpPr>
          <p:spPr>
            <a:xfrm>
              <a:off x="219456" y="3248863"/>
              <a:ext cx="1069848" cy="707746"/>
            </a:xfrm>
            <a:prstGeom prst="rect">
              <a:avLst/>
            </a:prstGeom>
            <a:solidFill>
              <a:srgbClr val="FFFFFF"/>
            </a:solidFill>
            <a:ln w="12700">
              <a:solidFill>
                <a:srgbClr val="A5C8E4"/>
              </a:solidFill>
              <a:prstDash val="solid"/>
            </a:ln>
            <a:effectLst>
              <a:outerShdw blurRad="38100" dist="12700" dir="8100000" algn="bl" rotWithShape="0">
                <a:srgbClr val="000000">
                  <a:alpha val="8000"/>
                </a:srgbClr>
              </a:outerShdw>
            </a:effectLst>
          </p:spPr>
          <p:txBody>
            <a:bodyPr/>
            <a:lstStyle/>
            <a:p>
              <a:pPr algn="ctr" defTabSz="554019"/>
              <a:endParaRPr lang="en-US" sz="819">
                <a:solidFill>
                  <a:srgbClr val="000000"/>
                </a:solidFill>
                <a:latin typeface="Aptos" panose="020B0004020202020204" pitchFamily="34" charset="0"/>
              </a:endParaRPr>
            </a:p>
          </p:txBody>
        </p:sp>
        <p:sp>
          <p:nvSpPr>
            <p:cNvPr id="31" name="Text 72">
              <a:extLst>
                <a:ext uri="{FF2B5EF4-FFF2-40B4-BE49-F238E27FC236}">
                  <a16:creationId xmlns:a16="http://schemas.microsoft.com/office/drawing/2014/main" id="{A51E2D7C-CC41-1FBF-2AB8-B6CF69734524}"/>
                </a:ext>
              </a:extLst>
            </p:cNvPr>
            <p:cNvSpPr/>
            <p:nvPr/>
          </p:nvSpPr>
          <p:spPr>
            <a:xfrm>
              <a:off x="274320" y="3312871"/>
              <a:ext cx="960120" cy="201168"/>
            </a:xfrm>
            <a:prstGeom prst="rect">
              <a:avLst/>
            </a:prstGeom>
            <a:noFill/>
            <a:ln/>
          </p:spPr>
          <p:txBody>
            <a:bodyPr wrap="square" lIns="0" tIns="0" rIns="0" bIns="0" rtlCol="0" anchor="t"/>
            <a:lstStyle/>
            <a:p>
              <a:pPr algn="ctr" defTabSz="554019"/>
              <a:r>
                <a:rPr lang="en-US" sz="900" b="1" dirty="0">
                  <a:solidFill>
                    <a:srgbClr val="0B2447"/>
                  </a:solidFill>
                  <a:latin typeface="Aptos" panose="020B0004020202020204" pitchFamily="34" charset="0"/>
                  <a:ea typeface="Calibri" pitchFamily="34" charset="-122"/>
                  <a:cs typeface="Calibri" pitchFamily="34" charset="-120"/>
                </a:rPr>
                <a:t>Custodian</a:t>
              </a:r>
              <a:endParaRPr lang="en-US" sz="900" dirty="0">
                <a:solidFill>
                  <a:srgbClr val="000000"/>
                </a:solidFill>
                <a:latin typeface="Aptos" panose="020B0004020202020204" pitchFamily="34" charset="0"/>
              </a:endParaRPr>
            </a:p>
          </p:txBody>
        </p:sp>
        <p:sp>
          <p:nvSpPr>
            <p:cNvPr id="32" name="Text 73">
              <a:extLst>
                <a:ext uri="{FF2B5EF4-FFF2-40B4-BE49-F238E27FC236}">
                  <a16:creationId xmlns:a16="http://schemas.microsoft.com/office/drawing/2014/main" id="{AB4C5DEB-4D7D-2FAA-7903-F196585C77EE}"/>
                </a:ext>
              </a:extLst>
            </p:cNvPr>
            <p:cNvSpPr/>
            <p:nvPr/>
          </p:nvSpPr>
          <p:spPr>
            <a:xfrm>
              <a:off x="274320" y="3504895"/>
              <a:ext cx="960120" cy="433426"/>
            </a:xfrm>
            <a:prstGeom prst="rect">
              <a:avLst/>
            </a:prstGeom>
            <a:noFill/>
            <a:ln/>
          </p:spPr>
          <p:txBody>
            <a:bodyPr wrap="square" lIns="0" tIns="0" rIns="0" bIns="0" rtlCol="0" anchor="t"/>
            <a:lstStyle/>
            <a:p>
              <a:pPr algn="ctr" defTabSz="554019"/>
              <a:r>
                <a:rPr lang="en-US" sz="720" dirty="0">
                  <a:solidFill>
                    <a:srgbClr val="5A6B8A"/>
                  </a:solidFill>
                  <a:latin typeface="Aptos" panose="020B0004020202020204" pitchFamily="34" charset="0"/>
                  <a:ea typeface="Calibri" pitchFamily="34" charset="-122"/>
                  <a:cs typeface="Calibri" pitchFamily="34" charset="-120"/>
                </a:rPr>
                <a:t>SWIFT MT / MX</a:t>
              </a:r>
              <a:endParaRPr lang="en-US" sz="720" dirty="0">
                <a:solidFill>
                  <a:srgbClr val="000000"/>
                </a:solidFill>
                <a:latin typeface="Aptos" panose="020B0004020202020204" pitchFamily="34" charset="0"/>
              </a:endParaRPr>
            </a:p>
          </p:txBody>
        </p:sp>
        <p:sp>
          <p:nvSpPr>
            <p:cNvPr id="33" name="Shape 74">
              <a:extLst>
                <a:ext uri="{FF2B5EF4-FFF2-40B4-BE49-F238E27FC236}">
                  <a16:creationId xmlns:a16="http://schemas.microsoft.com/office/drawing/2014/main" id="{CF2CB1EA-466E-424F-6863-C034E524806B}"/>
                </a:ext>
              </a:extLst>
            </p:cNvPr>
            <p:cNvSpPr/>
            <p:nvPr/>
          </p:nvSpPr>
          <p:spPr>
            <a:xfrm>
              <a:off x="219456" y="4020617"/>
              <a:ext cx="1069848" cy="707746"/>
            </a:xfrm>
            <a:prstGeom prst="rect">
              <a:avLst/>
            </a:prstGeom>
            <a:solidFill>
              <a:srgbClr val="FFFFFF"/>
            </a:solidFill>
            <a:ln w="12700">
              <a:solidFill>
                <a:srgbClr val="A5C8E4"/>
              </a:solidFill>
              <a:prstDash val="solid"/>
            </a:ln>
            <a:effectLst>
              <a:outerShdw blurRad="38100" dist="12700" dir="8100000" algn="bl" rotWithShape="0">
                <a:srgbClr val="000000">
                  <a:alpha val="8000"/>
                </a:srgbClr>
              </a:outerShdw>
            </a:effectLst>
          </p:spPr>
          <p:txBody>
            <a:bodyPr/>
            <a:lstStyle/>
            <a:p>
              <a:pPr algn="ctr" defTabSz="554019"/>
              <a:endParaRPr lang="en-US" sz="819">
                <a:solidFill>
                  <a:srgbClr val="000000"/>
                </a:solidFill>
                <a:latin typeface="Aptos" panose="020B0004020202020204" pitchFamily="34" charset="0"/>
              </a:endParaRPr>
            </a:p>
          </p:txBody>
        </p:sp>
        <p:sp>
          <p:nvSpPr>
            <p:cNvPr id="35" name="Text 76">
              <a:extLst>
                <a:ext uri="{FF2B5EF4-FFF2-40B4-BE49-F238E27FC236}">
                  <a16:creationId xmlns:a16="http://schemas.microsoft.com/office/drawing/2014/main" id="{CF359832-BF21-3B37-C4B8-BCB1B77B76C3}"/>
                </a:ext>
              </a:extLst>
            </p:cNvPr>
            <p:cNvSpPr/>
            <p:nvPr/>
          </p:nvSpPr>
          <p:spPr>
            <a:xfrm>
              <a:off x="274320" y="4084625"/>
              <a:ext cx="960120" cy="201168"/>
            </a:xfrm>
            <a:prstGeom prst="rect">
              <a:avLst/>
            </a:prstGeom>
            <a:noFill/>
            <a:ln/>
          </p:spPr>
          <p:txBody>
            <a:bodyPr wrap="square" lIns="0" tIns="0" rIns="0" bIns="0" rtlCol="0" anchor="t"/>
            <a:lstStyle/>
            <a:p>
              <a:pPr algn="ctr" defTabSz="554019"/>
              <a:r>
                <a:rPr lang="en-US" sz="900" b="1" dirty="0">
                  <a:solidFill>
                    <a:srgbClr val="0B2447"/>
                  </a:solidFill>
                  <a:latin typeface="Aptos" panose="020B0004020202020204" pitchFamily="34" charset="0"/>
                  <a:ea typeface="Calibri" pitchFamily="34" charset="-122"/>
                  <a:cs typeface="Calibri" pitchFamily="34" charset="-120"/>
                </a:rPr>
                <a:t>Market Data</a:t>
              </a:r>
              <a:endParaRPr lang="en-US" sz="900" dirty="0">
                <a:solidFill>
                  <a:srgbClr val="000000"/>
                </a:solidFill>
                <a:latin typeface="Aptos" panose="020B0004020202020204" pitchFamily="34" charset="0"/>
              </a:endParaRPr>
            </a:p>
          </p:txBody>
        </p:sp>
        <p:sp>
          <p:nvSpPr>
            <p:cNvPr id="36" name="Text 77">
              <a:extLst>
                <a:ext uri="{FF2B5EF4-FFF2-40B4-BE49-F238E27FC236}">
                  <a16:creationId xmlns:a16="http://schemas.microsoft.com/office/drawing/2014/main" id="{1E92984C-55F5-D7D2-C40C-F3E173322F5E}"/>
                </a:ext>
              </a:extLst>
            </p:cNvPr>
            <p:cNvSpPr/>
            <p:nvPr/>
          </p:nvSpPr>
          <p:spPr>
            <a:xfrm>
              <a:off x="274320" y="4276649"/>
              <a:ext cx="960120" cy="433426"/>
            </a:xfrm>
            <a:prstGeom prst="rect">
              <a:avLst/>
            </a:prstGeom>
            <a:noFill/>
            <a:ln/>
          </p:spPr>
          <p:txBody>
            <a:bodyPr wrap="square" lIns="0" tIns="0" rIns="0" bIns="0" rtlCol="0" anchor="t"/>
            <a:lstStyle/>
            <a:p>
              <a:pPr algn="ctr" defTabSz="554019"/>
              <a:r>
                <a:rPr lang="en-US" sz="720" dirty="0">
                  <a:solidFill>
                    <a:srgbClr val="5A6B8A"/>
                  </a:solidFill>
                  <a:latin typeface="Aptos" panose="020B0004020202020204" pitchFamily="34" charset="0"/>
                  <a:ea typeface="Calibri" pitchFamily="34" charset="-122"/>
                  <a:cs typeface="Calibri" pitchFamily="34" charset="-120"/>
                </a:rPr>
                <a:t>Bloomberg · Reuters</a:t>
              </a:r>
              <a:endParaRPr lang="en-US" sz="720" dirty="0">
                <a:solidFill>
                  <a:srgbClr val="000000"/>
                </a:solidFill>
                <a:latin typeface="Aptos" panose="020B0004020202020204" pitchFamily="34" charset="0"/>
              </a:endParaRPr>
            </a:p>
          </p:txBody>
        </p:sp>
        <p:sp>
          <p:nvSpPr>
            <p:cNvPr id="37" name="Shape 78">
              <a:extLst>
                <a:ext uri="{FF2B5EF4-FFF2-40B4-BE49-F238E27FC236}">
                  <a16:creationId xmlns:a16="http://schemas.microsoft.com/office/drawing/2014/main" id="{861D88E8-CC60-425C-4C5A-E63E484EA661}"/>
                </a:ext>
              </a:extLst>
            </p:cNvPr>
            <p:cNvSpPr/>
            <p:nvPr/>
          </p:nvSpPr>
          <p:spPr>
            <a:xfrm>
              <a:off x="219456" y="4792370"/>
              <a:ext cx="1069848" cy="707746"/>
            </a:xfrm>
            <a:prstGeom prst="rect">
              <a:avLst/>
            </a:prstGeom>
            <a:solidFill>
              <a:srgbClr val="FFFFFF"/>
            </a:solidFill>
            <a:ln w="12700">
              <a:solidFill>
                <a:srgbClr val="A5C8E4"/>
              </a:solidFill>
              <a:prstDash val="solid"/>
            </a:ln>
            <a:effectLst>
              <a:outerShdw blurRad="38100" dist="12700" dir="8100000" algn="bl" rotWithShape="0">
                <a:srgbClr val="000000">
                  <a:alpha val="8000"/>
                </a:srgbClr>
              </a:outerShdw>
            </a:effectLst>
          </p:spPr>
          <p:txBody>
            <a:bodyPr/>
            <a:lstStyle/>
            <a:p>
              <a:pPr algn="ctr" defTabSz="554019"/>
              <a:endParaRPr lang="en-US" sz="819">
                <a:solidFill>
                  <a:srgbClr val="000000"/>
                </a:solidFill>
                <a:latin typeface="Aptos" panose="020B0004020202020204" pitchFamily="34" charset="0"/>
              </a:endParaRPr>
            </a:p>
          </p:txBody>
        </p:sp>
        <p:sp>
          <p:nvSpPr>
            <p:cNvPr id="39" name="Text 80">
              <a:extLst>
                <a:ext uri="{FF2B5EF4-FFF2-40B4-BE49-F238E27FC236}">
                  <a16:creationId xmlns:a16="http://schemas.microsoft.com/office/drawing/2014/main" id="{A4B8636C-77E5-DC61-DF77-673A51731C05}"/>
                </a:ext>
              </a:extLst>
            </p:cNvPr>
            <p:cNvSpPr/>
            <p:nvPr/>
          </p:nvSpPr>
          <p:spPr>
            <a:xfrm>
              <a:off x="274320" y="4856378"/>
              <a:ext cx="960120" cy="201168"/>
            </a:xfrm>
            <a:prstGeom prst="rect">
              <a:avLst/>
            </a:prstGeom>
            <a:noFill/>
            <a:ln/>
          </p:spPr>
          <p:txBody>
            <a:bodyPr wrap="square" lIns="0" tIns="0" rIns="0" bIns="0" rtlCol="0" anchor="t"/>
            <a:lstStyle/>
            <a:p>
              <a:pPr algn="ctr" defTabSz="554019"/>
              <a:r>
                <a:rPr lang="en-US" sz="900" b="1" dirty="0">
                  <a:solidFill>
                    <a:srgbClr val="0B2447"/>
                  </a:solidFill>
                  <a:latin typeface="Aptos" panose="020B0004020202020204" pitchFamily="34" charset="0"/>
                  <a:ea typeface="Calibri" pitchFamily="34" charset="-122"/>
                  <a:cs typeface="Calibri" pitchFamily="34" charset="-120"/>
                </a:rPr>
                <a:t>Treasury/GL</a:t>
              </a:r>
              <a:endParaRPr lang="en-US" sz="900" dirty="0">
                <a:solidFill>
                  <a:srgbClr val="000000"/>
                </a:solidFill>
                <a:latin typeface="Aptos" panose="020B0004020202020204" pitchFamily="34" charset="0"/>
              </a:endParaRPr>
            </a:p>
          </p:txBody>
        </p:sp>
        <p:sp>
          <p:nvSpPr>
            <p:cNvPr id="40" name="Text 81">
              <a:extLst>
                <a:ext uri="{FF2B5EF4-FFF2-40B4-BE49-F238E27FC236}">
                  <a16:creationId xmlns:a16="http://schemas.microsoft.com/office/drawing/2014/main" id="{109C16C0-0DE9-F14D-B84A-76870933CAF6}"/>
                </a:ext>
              </a:extLst>
            </p:cNvPr>
            <p:cNvSpPr/>
            <p:nvPr/>
          </p:nvSpPr>
          <p:spPr>
            <a:xfrm>
              <a:off x="274320" y="5048402"/>
              <a:ext cx="960120" cy="433426"/>
            </a:xfrm>
            <a:prstGeom prst="rect">
              <a:avLst/>
            </a:prstGeom>
            <a:noFill/>
            <a:ln/>
          </p:spPr>
          <p:txBody>
            <a:bodyPr wrap="square" lIns="0" tIns="0" rIns="0" bIns="0" rtlCol="0" anchor="t"/>
            <a:lstStyle/>
            <a:p>
              <a:pPr algn="ctr" defTabSz="554019"/>
              <a:r>
                <a:rPr lang="en-US" sz="720" dirty="0">
                  <a:solidFill>
                    <a:srgbClr val="5A6B8A"/>
                  </a:solidFill>
                  <a:latin typeface="Aptos" panose="020B0004020202020204" pitchFamily="34" charset="0"/>
                  <a:ea typeface="Calibri" pitchFamily="34" charset="-122"/>
                  <a:cs typeface="Calibri" pitchFamily="34" charset="-120"/>
                </a:rPr>
                <a:t>JDBC · file</a:t>
              </a:r>
              <a:endParaRPr lang="en-US" sz="720" dirty="0">
                <a:solidFill>
                  <a:srgbClr val="000000"/>
                </a:solidFill>
                <a:latin typeface="Aptos" panose="020B0004020202020204" pitchFamily="34" charset="0"/>
              </a:endParaRPr>
            </a:p>
          </p:txBody>
        </p:sp>
        <p:sp>
          <p:nvSpPr>
            <p:cNvPr id="113" name="Shape 219">
              <a:extLst>
                <a:ext uri="{FF2B5EF4-FFF2-40B4-BE49-F238E27FC236}">
                  <a16:creationId xmlns:a16="http://schemas.microsoft.com/office/drawing/2014/main" id="{82959B70-E678-89FF-7D9C-7B691D749D58}"/>
                </a:ext>
              </a:extLst>
            </p:cNvPr>
            <p:cNvSpPr/>
            <p:nvPr/>
          </p:nvSpPr>
          <p:spPr>
            <a:xfrm>
              <a:off x="1289304" y="2059229"/>
              <a:ext cx="164592" cy="0"/>
            </a:xfrm>
            <a:prstGeom prst="line">
              <a:avLst/>
            </a:prstGeom>
            <a:noFill/>
            <a:ln w="15875">
              <a:solidFill>
                <a:srgbClr val="19376D"/>
              </a:solidFill>
              <a:prstDash val="solid"/>
              <a:tailEnd type="triangle"/>
            </a:ln>
          </p:spPr>
          <p:txBody>
            <a:bodyPr/>
            <a:lstStyle/>
            <a:p>
              <a:pPr algn="ctr" defTabSz="554019"/>
              <a:endParaRPr lang="en-US" sz="819">
                <a:solidFill>
                  <a:srgbClr val="000000"/>
                </a:solidFill>
                <a:latin typeface="Aptos" panose="020B0004020202020204" pitchFamily="34" charset="0"/>
              </a:endParaRPr>
            </a:p>
          </p:txBody>
        </p:sp>
        <p:sp>
          <p:nvSpPr>
            <p:cNvPr id="117" name="Shape 220">
              <a:extLst>
                <a:ext uri="{FF2B5EF4-FFF2-40B4-BE49-F238E27FC236}">
                  <a16:creationId xmlns:a16="http://schemas.microsoft.com/office/drawing/2014/main" id="{E2BC2D62-12EC-7237-3FC6-6CD29D893195}"/>
                </a:ext>
              </a:extLst>
            </p:cNvPr>
            <p:cNvSpPr/>
            <p:nvPr/>
          </p:nvSpPr>
          <p:spPr>
            <a:xfrm>
              <a:off x="1289304" y="2830982"/>
              <a:ext cx="164592" cy="0"/>
            </a:xfrm>
            <a:prstGeom prst="line">
              <a:avLst/>
            </a:prstGeom>
            <a:noFill/>
            <a:ln w="15875">
              <a:solidFill>
                <a:srgbClr val="19376D"/>
              </a:solidFill>
              <a:prstDash val="solid"/>
              <a:tailEnd type="triangle"/>
            </a:ln>
          </p:spPr>
          <p:txBody>
            <a:bodyPr/>
            <a:lstStyle/>
            <a:p>
              <a:pPr algn="ctr" defTabSz="554019"/>
              <a:endParaRPr lang="en-US" sz="819">
                <a:solidFill>
                  <a:srgbClr val="000000"/>
                </a:solidFill>
                <a:latin typeface="Aptos" panose="020B0004020202020204" pitchFamily="34" charset="0"/>
              </a:endParaRPr>
            </a:p>
          </p:txBody>
        </p:sp>
        <p:sp>
          <p:nvSpPr>
            <p:cNvPr id="121" name="Shape 221">
              <a:extLst>
                <a:ext uri="{FF2B5EF4-FFF2-40B4-BE49-F238E27FC236}">
                  <a16:creationId xmlns:a16="http://schemas.microsoft.com/office/drawing/2014/main" id="{F3ED80DB-73B3-6CB2-1716-2DBE03306C76}"/>
                </a:ext>
              </a:extLst>
            </p:cNvPr>
            <p:cNvSpPr/>
            <p:nvPr/>
          </p:nvSpPr>
          <p:spPr>
            <a:xfrm>
              <a:off x="1289304" y="3602736"/>
              <a:ext cx="164592" cy="0"/>
            </a:xfrm>
            <a:prstGeom prst="line">
              <a:avLst/>
            </a:prstGeom>
            <a:noFill/>
            <a:ln w="15875">
              <a:solidFill>
                <a:srgbClr val="19376D"/>
              </a:solidFill>
              <a:prstDash val="solid"/>
              <a:tailEnd type="triangle"/>
            </a:ln>
          </p:spPr>
          <p:txBody>
            <a:bodyPr/>
            <a:lstStyle/>
            <a:p>
              <a:pPr algn="ctr" defTabSz="554019"/>
              <a:endParaRPr lang="en-US" sz="819">
                <a:solidFill>
                  <a:srgbClr val="000000"/>
                </a:solidFill>
                <a:latin typeface="Aptos" panose="020B0004020202020204" pitchFamily="34" charset="0"/>
              </a:endParaRPr>
            </a:p>
          </p:txBody>
        </p:sp>
        <p:sp>
          <p:nvSpPr>
            <p:cNvPr id="127" name="Shape 222">
              <a:extLst>
                <a:ext uri="{FF2B5EF4-FFF2-40B4-BE49-F238E27FC236}">
                  <a16:creationId xmlns:a16="http://schemas.microsoft.com/office/drawing/2014/main" id="{6D5966C7-AA0E-9FAB-CA28-8F9596084883}"/>
                </a:ext>
              </a:extLst>
            </p:cNvPr>
            <p:cNvSpPr/>
            <p:nvPr/>
          </p:nvSpPr>
          <p:spPr>
            <a:xfrm>
              <a:off x="1289304" y="4374490"/>
              <a:ext cx="164592" cy="0"/>
            </a:xfrm>
            <a:prstGeom prst="line">
              <a:avLst/>
            </a:prstGeom>
            <a:noFill/>
            <a:ln w="15875">
              <a:solidFill>
                <a:srgbClr val="19376D"/>
              </a:solidFill>
              <a:prstDash val="solid"/>
              <a:tailEnd type="triangle"/>
            </a:ln>
          </p:spPr>
          <p:txBody>
            <a:bodyPr/>
            <a:lstStyle/>
            <a:p>
              <a:pPr algn="ctr" defTabSz="554019"/>
              <a:endParaRPr lang="en-US" sz="819">
                <a:solidFill>
                  <a:srgbClr val="000000"/>
                </a:solidFill>
                <a:latin typeface="Aptos" panose="020B0004020202020204" pitchFamily="34" charset="0"/>
              </a:endParaRPr>
            </a:p>
          </p:txBody>
        </p:sp>
        <p:sp>
          <p:nvSpPr>
            <p:cNvPr id="129" name="Shape 223">
              <a:extLst>
                <a:ext uri="{FF2B5EF4-FFF2-40B4-BE49-F238E27FC236}">
                  <a16:creationId xmlns:a16="http://schemas.microsoft.com/office/drawing/2014/main" id="{96B0BF25-9D8B-E00F-D02F-A0FAEAE31528}"/>
                </a:ext>
              </a:extLst>
            </p:cNvPr>
            <p:cNvSpPr/>
            <p:nvPr/>
          </p:nvSpPr>
          <p:spPr>
            <a:xfrm>
              <a:off x="1289304" y="5146243"/>
              <a:ext cx="164592" cy="0"/>
            </a:xfrm>
            <a:prstGeom prst="line">
              <a:avLst/>
            </a:prstGeom>
            <a:noFill/>
            <a:ln w="15875">
              <a:solidFill>
                <a:srgbClr val="19376D"/>
              </a:solidFill>
              <a:prstDash val="solid"/>
              <a:tailEnd type="triangle"/>
            </a:ln>
          </p:spPr>
          <p:txBody>
            <a:bodyPr/>
            <a:lstStyle/>
            <a:p>
              <a:pPr algn="ctr" defTabSz="554019"/>
              <a:endParaRPr lang="en-US" sz="819">
                <a:solidFill>
                  <a:srgbClr val="000000"/>
                </a:solidFill>
                <a:latin typeface="Aptos" panose="020B0004020202020204" pitchFamily="34" charset="0"/>
              </a:endParaRPr>
            </a:p>
          </p:txBody>
        </p:sp>
      </p:grpSp>
      <p:grpSp>
        <p:nvGrpSpPr>
          <p:cNvPr id="197" name="Group 196">
            <a:extLst>
              <a:ext uri="{FF2B5EF4-FFF2-40B4-BE49-F238E27FC236}">
                <a16:creationId xmlns:a16="http://schemas.microsoft.com/office/drawing/2014/main" id="{B471FC9C-5039-8124-0EAD-FB1D66B86EA3}"/>
              </a:ext>
            </a:extLst>
          </p:cNvPr>
          <p:cNvGrpSpPr/>
          <p:nvPr/>
        </p:nvGrpSpPr>
        <p:grpSpPr>
          <a:xfrm>
            <a:off x="1023410" y="2050182"/>
            <a:ext cx="1091135" cy="4071487"/>
            <a:chOff x="1417320" y="1140301"/>
            <a:chExt cx="1344168" cy="4380526"/>
          </a:xfrm>
        </p:grpSpPr>
        <p:sp>
          <p:nvSpPr>
            <p:cNvPr id="17" name="Shape 48">
              <a:extLst>
                <a:ext uri="{FF2B5EF4-FFF2-40B4-BE49-F238E27FC236}">
                  <a16:creationId xmlns:a16="http://schemas.microsoft.com/office/drawing/2014/main" id="{0FF824FE-47C5-E514-4282-2D6C28409431}"/>
                </a:ext>
              </a:extLst>
            </p:cNvPr>
            <p:cNvSpPr/>
            <p:nvPr/>
          </p:nvSpPr>
          <p:spPr>
            <a:xfrm>
              <a:off x="1417320" y="1150658"/>
              <a:ext cx="1234440" cy="424590"/>
            </a:xfrm>
            <a:prstGeom prst="rect">
              <a:avLst/>
            </a:prstGeom>
            <a:solidFill>
              <a:srgbClr val="6BA3D6"/>
            </a:solidFill>
            <a:ln w="12700">
              <a:solidFill>
                <a:srgbClr val="6BA3D6"/>
              </a:solidFill>
              <a:prstDash val="solid"/>
            </a:ln>
          </p:spPr>
          <p:txBody>
            <a:bodyPr/>
            <a:lstStyle/>
            <a:p>
              <a:pPr algn="ctr" defTabSz="554019"/>
              <a:endParaRPr lang="en-US" sz="819">
                <a:solidFill>
                  <a:srgbClr val="000000"/>
                </a:solidFill>
                <a:latin typeface="Aptos" panose="020B0004020202020204" pitchFamily="34" charset="0"/>
              </a:endParaRPr>
            </a:p>
          </p:txBody>
        </p:sp>
        <p:sp>
          <p:nvSpPr>
            <p:cNvPr id="18" name="Text 49">
              <a:extLst>
                <a:ext uri="{FF2B5EF4-FFF2-40B4-BE49-F238E27FC236}">
                  <a16:creationId xmlns:a16="http://schemas.microsoft.com/office/drawing/2014/main" id="{5C58511D-AF70-E1B9-C56B-8BD4BA40A9E8}"/>
                </a:ext>
              </a:extLst>
            </p:cNvPr>
            <p:cNvSpPr/>
            <p:nvPr/>
          </p:nvSpPr>
          <p:spPr>
            <a:xfrm>
              <a:off x="1453896" y="1140301"/>
              <a:ext cx="1161288" cy="496476"/>
            </a:xfrm>
            <a:prstGeom prst="rect">
              <a:avLst/>
            </a:prstGeom>
            <a:noFill/>
            <a:ln/>
          </p:spPr>
          <p:txBody>
            <a:bodyPr wrap="square" lIns="0" tIns="0" rIns="0" bIns="0" rtlCol="0" anchor="ctr"/>
            <a:lstStyle/>
            <a:p>
              <a:pPr algn="ctr" defTabSz="554019"/>
              <a:r>
                <a:rPr lang="en-US" sz="800" b="1" kern="0" spc="100" dirty="0">
                  <a:solidFill>
                    <a:srgbClr val="FFFFFF"/>
                  </a:solidFill>
                  <a:latin typeface="Aptos" panose="020B0004020202020204" pitchFamily="34" charset="0"/>
                  <a:ea typeface="Calibri" pitchFamily="34" charset="-122"/>
                  <a:cs typeface="Calibri" pitchFamily="34" charset="-120"/>
                </a:rPr>
                <a:t>ADAPTERS / GATEWAYS</a:t>
              </a:r>
              <a:endParaRPr lang="en-US" sz="800" dirty="0">
                <a:solidFill>
                  <a:srgbClr val="000000"/>
                </a:solidFill>
                <a:latin typeface="Aptos" panose="020B0004020202020204" pitchFamily="34" charset="0"/>
              </a:endParaRPr>
            </a:p>
          </p:txBody>
        </p:sp>
        <p:sp>
          <p:nvSpPr>
            <p:cNvPr id="41" name="Shape 82">
              <a:extLst>
                <a:ext uri="{FF2B5EF4-FFF2-40B4-BE49-F238E27FC236}">
                  <a16:creationId xmlns:a16="http://schemas.microsoft.com/office/drawing/2014/main" id="{374ACC47-4068-13C6-6561-15A5AE1A3AC6}"/>
                </a:ext>
              </a:extLst>
            </p:cNvPr>
            <p:cNvSpPr/>
            <p:nvPr/>
          </p:nvSpPr>
          <p:spPr>
            <a:xfrm>
              <a:off x="1453896" y="1705356"/>
              <a:ext cx="1161288" cy="707746"/>
            </a:xfrm>
            <a:prstGeom prst="rect">
              <a:avLst/>
            </a:prstGeom>
            <a:solidFill>
              <a:srgbClr val="FFFFFF"/>
            </a:solidFill>
            <a:ln w="12700">
              <a:solidFill>
                <a:srgbClr val="6BA3D6"/>
              </a:solidFill>
              <a:prstDash val="solid"/>
            </a:ln>
            <a:effectLst>
              <a:outerShdw blurRad="38100" dist="12700" dir="8100000" algn="bl" rotWithShape="0">
                <a:srgbClr val="000000">
                  <a:alpha val="8000"/>
                </a:srgbClr>
              </a:outerShdw>
            </a:effectLst>
          </p:spPr>
          <p:txBody>
            <a:bodyPr/>
            <a:lstStyle/>
            <a:p>
              <a:pPr algn="ctr" defTabSz="554019"/>
              <a:endParaRPr lang="en-US" sz="819">
                <a:solidFill>
                  <a:srgbClr val="000000"/>
                </a:solidFill>
                <a:latin typeface="Aptos" panose="020B0004020202020204" pitchFamily="34" charset="0"/>
              </a:endParaRPr>
            </a:p>
          </p:txBody>
        </p:sp>
        <p:sp>
          <p:nvSpPr>
            <p:cNvPr id="43" name="Text 84">
              <a:extLst>
                <a:ext uri="{FF2B5EF4-FFF2-40B4-BE49-F238E27FC236}">
                  <a16:creationId xmlns:a16="http://schemas.microsoft.com/office/drawing/2014/main" id="{99C40993-F548-6F01-1F41-C231C4022CE9}"/>
                </a:ext>
              </a:extLst>
            </p:cNvPr>
            <p:cNvSpPr/>
            <p:nvPr/>
          </p:nvSpPr>
          <p:spPr>
            <a:xfrm>
              <a:off x="1508760" y="1769364"/>
              <a:ext cx="1051560" cy="201168"/>
            </a:xfrm>
            <a:prstGeom prst="rect">
              <a:avLst/>
            </a:prstGeom>
            <a:noFill/>
            <a:ln/>
          </p:spPr>
          <p:txBody>
            <a:bodyPr wrap="square" lIns="0" tIns="0" rIns="0" bIns="0" rtlCol="0" anchor="t"/>
            <a:lstStyle/>
            <a:p>
              <a:pPr algn="ctr" defTabSz="554019"/>
              <a:r>
                <a:rPr lang="en-US" sz="900" b="1" dirty="0">
                  <a:solidFill>
                    <a:srgbClr val="0B2447"/>
                  </a:solidFill>
                  <a:latin typeface="Aptos" panose="020B0004020202020204" pitchFamily="34" charset="0"/>
                  <a:ea typeface="Calibri" pitchFamily="34" charset="-122"/>
                  <a:cs typeface="Calibri" pitchFamily="34" charset="-120"/>
                </a:rPr>
                <a:t>FIX Gateway</a:t>
              </a:r>
              <a:endParaRPr lang="en-US" sz="900" dirty="0">
                <a:solidFill>
                  <a:srgbClr val="000000"/>
                </a:solidFill>
                <a:latin typeface="Aptos" panose="020B0004020202020204" pitchFamily="34" charset="0"/>
              </a:endParaRPr>
            </a:p>
          </p:txBody>
        </p:sp>
        <p:sp>
          <p:nvSpPr>
            <p:cNvPr id="44" name="Text 85">
              <a:extLst>
                <a:ext uri="{FF2B5EF4-FFF2-40B4-BE49-F238E27FC236}">
                  <a16:creationId xmlns:a16="http://schemas.microsoft.com/office/drawing/2014/main" id="{1DDA3322-D82B-7B34-FBDF-65C8DA3DCD71}"/>
                </a:ext>
              </a:extLst>
            </p:cNvPr>
            <p:cNvSpPr/>
            <p:nvPr/>
          </p:nvSpPr>
          <p:spPr>
            <a:xfrm>
              <a:off x="1508760" y="1961388"/>
              <a:ext cx="1051560" cy="433426"/>
            </a:xfrm>
            <a:prstGeom prst="rect">
              <a:avLst/>
            </a:prstGeom>
            <a:noFill/>
            <a:ln/>
          </p:spPr>
          <p:txBody>
            <a:bodyPr wrap="square" lIns="0" tIns="0" rIns="0" bIns="0" rtlCol="0" anchor="t"/>
            <a:lstStyle/>
            <a:p>
              <a:pPr algn="ctr" defTabSz="554019"/>
              <a:r>
                <a:rPr lang="en-US" sz="720" dirty="0">
                  <a:solidFill>
                    <a:srgbClr val="5A6B8A"/>
                  </a:solidFill>
                  <a:latin typeface="Aptos" panose="020B0004020202020204" pitchFamily="34" charset="0"/>
                  <a:ea typeface="Calibri" pitchFamily="34" charset="-122"/>
                  <a:cs typeface="Calibri" pitchFamily="34" charset="-120"/>
                </a:rPr>
                <a:t>QuickFIX/J · mTLS</a:t>
              </a:r>
              <a:endParaRPr lang="en-US" sz="720" dirty="0">
                <a:solidFill>
                  <a:srgbClr val="000000"/>
                </a:solidFill>
                <a:latin typeface="Aptos" panose="020B0004020202020204" pitchFamily="34" charset="0"/>
              </a:endParaRPr>
            </a:p>
          </p:txBody>
        </p:sp>
        <p:sp>
          <p:nvSpPr>
            <p:cNvPr id="45" name="Shape 86">
              <a:extLst>
                <a:ext uri="{FF2B5EF4-FFF2-40B4-BE49-F238E27FC236}">
                  <a16:creationId xmlns:a16="http://schemas.microsoft.com/office/drawing/2014/main" id="{678D3970-80F3-0FC2-0EFE-CB70E330C5B6}"/>
                </a:ext>
              </a:extLst>
            </p:cNvPr>
            <p:cNvSpPr/>
            <p:nvPr/>
          </p:nvSpPr>
          <p:spPr>
            <a:xfrm>
              <a:off x="1453896" y="2477110"/>
              <a:ext cx="1161288" cy="707746"/>
            </a:xfrm>
            <a:prstGeom prst="rect">
              <a:avLst/>
            </a:prstGeom>
            <a:solidFill>
              <a:srgbClr val="FFFFFF"/>
            </a:solidFill>
            <a:ln w="12700">
              <a:solidFill>
                <a:srgbClr val="6BA3D6"/>
              </a:solidFill>
              <a:prstDash val="solid"/>
            </a:ln>
            <a:effectLst>
              <a:outerShdw blurRad="38100" dist="12700" dir="8100000" algn="bl" rotWithShape="0">
                <a:srgbClr val="000000">
                  <a:alpha val="8000"/>
                </a:srgbClr>
              </a:outerShdw>
            </a:effectLst>
          </p:spPr>
          <p:txBody>
            <a:bodyPr/>
            <a:lstStyle/>
            <a:p>
              <a:pPr algn="ctr" defTabSz="554019"/>
              <a:endParaRPr lang="en-US" sz="819">
                <a:solidFill>
                  <a:srgbClr val="000000"/>
                </a:solidFill>
                <a:latin typeface="Aptos" panose="020B0004020202020204" pitchFamily="34" charset="0"/>
              </a:endParaRPr>
            </a:p>
          </p:txBody>
        </p:sp>
        <p:sp>
          <p:nvSpPr>
            <p:cNvPr id="47" name="Text 88">
              <a:extLst>
                <a:ext uri="{FF2B5EF4-FFF2-40B4-BE49-F238E27FC236}">
                  <a16:creationId xmlns:a16="http://schemas.microsoft.com/office/drawing/2014/main" id="{7C2C1A28-CE3E-010E-9F1D-4BEE4DDA6AC2}"/>
                </a:ext>
              </a:extLst>
            </p:cNvPr>
            <p:cNvSpPr/>
            <p:nvPr/>
          </p:nvSpPr>
          <p:spPr>
            <a:xfrm>
              <a:off x="1508760" y="2541118"/>
              <a:ext cx="1051560" cy="201168"/>
            </a:xfrm>
            <a:prstGeom prst="rect">
              <a:avLst/>
            </a:prstGeom>
            <a:noFill/>
            <a:ln/>
          </p:spPr>
          <p:txBody>
            <a:bodyPr wrap="square" lIns="0" tIns="0" rIns="0" bIns="0" rtlCol="0" anchor="t"/>
            <a:lstStyle/>
            <a:p>
              <a:pPr algn="ctr" defTabSz="554019"/>
              <a:r>
                <a:rPr lang="en-US" sz="900" b="1" dirty="0">
                  <a:solidFill>
                    <a:srgbClr val="0B2447"/>
                  </a:solidFill>
                  <a:latin typeface="Aptos" panose="020B0004020202020204" pitchFamily="34" charset="0"/>
                  <a:ea typeface="Calibri" pitchFamily="34" charset="-122"/>
                  <a:cs typeface="Calibri" pitchFamily="34" charset="-120"/>
                </a:rPr>
                <a:t>CCP Connectors</a:t>
              </a:r>
              <a:endParaRPr lang="en-US" sz="900" dirty="0">
                <a:solidFill>
                  <a:srgbClr val="000000"/>
                </a:solidFill>
                <a:latin typeface="Aptos" panose="020B0004020202020204" pitchFamily="34" charset="0"/>
              </a:endParaRPr>
            </a:p>
          </p:txBody>
        </p:sp>
        <p:sp>
          <p:nvSpPr>
            <p:cNvPr id="48" name="Text 89">
              <a:extLst>
                <a:ext uri="{FF2B5EF4-FFF2-40B4-BE49-F238E27FC236}">
                  <a16:creationId xmlns:a16="http://schemas.microsoft.com/office/drawing/2014/main" id="{5B333240-FD1F-CDDD-896A-26DFCF5AC642}"/>
                </a:ext>
              </a:extLst>
            </p:cNvPr>
            <p:cNvSpPr/>
            <p:nvPr/>
          </p:nvSpPr>
          <p:spPr>
            <a:xfrm>
              <a:off x="1544079" y="2913044"/>
              <a:ext cx="1051561" cy="433425"/>
            </a:xfrm>
            <a:prstGeom prst="rect">
              <a:avLst/>
            </a:prstGeom>
            <a:noFill/>
            <a:ln/>
          </p:spPr>
          <p:txBody>
            <a:bodyPr wrap="square" lIns="0" tIns="0" rIns="0" bIns="0" rtlCol="0" anchor="t"/>
            <a:lstStyle/>
            <a:p>
              <a:pPr algn="ctr" defTabSz="554019"/>
              <a:r>
                <a:rPr lang="en-US" sz="720" dirty="0">
                  <a:solidFill>
                    <a:srgbClr val="5A6B8A"/>
                  </a:solidFill>
                  <a:latin typeface="Aptos" panose="020B0004020202020204" pitchFamily="34" charset="0"/>
                  <a:ea typeface="Calibri" pitchFamily="34" charset="-122"/>
                  <a:cs typeface="Calibri" pitchFamily="34" charset="-120"/>
                </a:rPr>
                <a:t>Per-CCP module</a:t>
              </a:r>
              <a:endParaRPr lang="en-US" sz="720" dirty="0">
                <a:solidFill>
                  <a:srgbClr val="000000"/>
                </a:solidFill>
                <a:latin typeface="Aptos" panose="020B0004020202020204" pitchFamily="34" charset="0"/>
              </a:endParaRPr>
            </a:p>
          </p:txBody>
        </p:sp>
        <p:sp>
          <p:nvSpPr>
            <p:cNvPr id="49" name="Shape 90">
              <a:extLst>
                <a:ext uri="{FF2B5EF4-FFF2-40B4-BE49-F238E27FC236}">
                  <a16:creationId xmlns:a16="http://schemas.microsoft.com/office/drawing/2014/main" id="{9EF253D2-99F9-CB44-4FFA-4A20D8DD3626}"/>
                </a:ext>
              </a:extLst>
            </p:cNvPr>
            <p:cNvSpPr/>
            <p:nvPr/>
          </p:nvSpPr>
          <p:spPr>
            <a:xfrm>
              <a:off x="1453896" y="3248863"/>
              <a:ext cx="1161288" cy="707746"/>
            </a:xfrm>
            <a:prstGeom prst="rect">
              <a:avLst/>
            </a:prstGeom>
            <a:solidFill>
              <a:srgbClr val="FFFFFF"/>
            </a:solidFill>
            <a:ln w="12700">
              <a:solidFill>
                <a:srgbClr val="6BA3D6"/>
              </a:solidFill>
              <a:prstDash val="solid"/>
            </a:ln>
            <a:effectLst>
              <a:outerShdw blurRad="38100" dist="12700" dir="8100000" algn="bl" rotWithShape="0">
                <a:srgbClr val="000000">
                  <a:alpha val="8000"/>
                </a:srgbClr>
              </a:outerShdw>
            </a:effectLst>
          </p:spPr>
          <p:txBody>
            <a:bodyPr/>
            <a:lstStyle/>
            <a:p>
              <a:pPr algn="ctr" defTabSz="554019"/>
              <a:endParaRPr lang="en-US" sz="819">
                <a:solidFill>
                  <a:srgbClr val="000000"/>
                </a:solidFill>
                <a:latin typeface="Aptos" panose="020B0004020202020204" pitchFamily="34" charset="0"/>
              </a:endParaRPr>
            </a:p>
          </p:txBody>
        </p:sp>
        <p:sp>
          <p:nvSpPr>
            <p:cNvPr id="51" name="Text 92">
              <a:extLst>
                <a:ext uri="{FF2B5EF4-FFF2-40B4-BE49-F238E27FC236}">
                  <a16:creationId xmlns:a16="http://schemas.microsoft.com/office/drawing/2014/main" id="{1FAB2247-1503-5D37-9EF0-D22883DA0F48}"/>
                </a:ext>
              </a:extLst>
            </p:cNvPr>
            <p:cNvSpPr/>
            <p:nvPr/>
          </p:nvSpPr>
          <p:spPr>
            <a:xfrm>
              <a:off x="1508760" y="3312871"/>
              <a:ext cx="1051560" cy="201168"/>
            </a:xfrm>
            <a:prstGeom prst="rect">
              <a:avLst/>
            </a:prstGeom>
            <a:noFill/>
            <a:ln/>
          </p:spPr>
          <p:txBody>
            <a:bodyPr wrap="square" lIns="0" tIns="0" rIns="0" bIns="0" rtlCol="0" anchor="t"/>
            <a:lstStyle/>
            <a:p>
              <a:pPr algn="ctr" defTabSz="554019"/>
              <a:r>
                <a:rPr lang="en-US" sz="900" b="1" dirty="0">
                  <a:solidFill>
                    <a:srgbClr val="0B2447"/>
                  </a:solidFill>
                  <a:latin typeface="Aptos" panose="020B0004020202020204" pitchFamily="34" charset="0"/>
                  <a:ea typeface="Calibri" pitchFamily="34" charset="-122"/>
                  <a:cs typeface="Calibri" pitchFamily="34" charset="-120"/>
                </a:rPr>
                <a:t>SWIFT Adapter</a:t>
              </a:r>
              <a:endParaRPr lang="en-US" sz="900" dirty="0">
                <a:solidFill>
                  <a:srgbClr val="000000"/>
                </a:solidFill>
                <a:latin typeface="Aptos" panose="020B0004020202020204" pitchFamily="34" charset="0"/>
              </a:endParaRPr>
            </a:p>
          </p:txBody>
        </p:sp>
        <p:sp>
          <p:nvSpPr>
            <p:cNvPr id="52" name="Text 93">
              <a:extLst>
                <a:ext uri="{FF2B5EF4-FFF2-40B4-BE49-F238E27FC236}">
                  <a16:creationId xmlns:a16="http://schemas.microsoft.com/office/drawing/2014/main" id="{398A33EE-7DB2-B93E-0C38-04E4D6B7DE28}"/>
                </a:ext>
              </a:extLst>
            </p:cNvPr>
            <p:cNvSpPr/>
            <p:nvPr/>
          </p:nvSpPr>
          <p:spPr>
            <a:xfrm>
              <a:off x="1508760" y="3504895"/>
              <a:ext cx="1051560" cy="433426"/>
            </a:xfrm>
            <a:prstGeom prst="rect">
              <a:avLst/>
            </a:prstGeom>
            <a:noFill/>
            <a:ln/>
          </p:spPr>
          <p:txBody>
            <a:bodyPr wrap="square" lIns="0" tIns="0" rIns="0" bIns="0" rtlCol="0" anchor="t"/>
            <a:lstStyle/>
            <a:p>
              <a:pPr algn="ctr" defTabSz="554019"/>
              <a:r>
                <a:rPr lang="en-US" sz="720" dirty="0">
                  <a:solidFill>
                    <a:srgbClr val="5A6B8A"/>
                  </a:solidFill>
                  <a:latin typeface="Aptos" panose="020B0004020202020204" pitchFamily="34" charset="0"/>
                  <a:ea typeface="Calibri" pitchFamily="34" charset="-122"/>
                  <a:cs typeface="Calibri" pitchFamily="34" charset="-120"/>
                </a:rPr>
                <a:t>MT/MX parser</a:t>
              </a:r>
              <a:endParaRPr lang="en-US" sz="720" dirty="0">
                <a:solidFill>
                  <a:srgbClr val="000000"/>
                </a:solidFill>
                <a:latin typeface="Aptos" panose="020B0004020202020204" pitchFamily="34" charset="0"/>
              </a:endParaRPr>
            </a:p>
          </p:txBody>
        </p:sp>
        <p:sp>
          <p:nvSpPr>
            <p:cNvPr id="53" name="Shape 94">
              <a:extLst>
                <a:ext uri="{FF2B5EF4-FFF2-40B4-BE49-F238E27FC236}">
                  <a16:creationId xmlns:a16="http://schemas.microsoft.com/office/drawing/2014/main" id="{9AE69F4C-C6B1-190F-60CF-29C4B38A66E3}"/>
                </a:ext>
              </a:extLst>
            </p:cNvPr>
            <p:cNvSpPr/>
            <p:nvPr/>
          </p:nvSpPr>
          <p:spPr>
            <a:xfrm>
              <a:off x="1453896" y="4020617"/>
              <a:ext cx="1161288" cy="707746"/>
            </a:xfrm>
            <a:prstGeom prst="rect">
              <a:avLst/>
            </a:prstGeom>
            <a:solidFill>
              <a:srgbClr val="FFFFFF"/>
            </a:solidFill>
            <a:ln w="12700">
              <a:solidFill>
                <a:srgbClr val="6BA3D6"/>
              </a:solidFill>
              <a:prstDash val="solid"/>
            </a:ln>
            <a:effectLst>
              <a:outerShdw blurRad="38100" dist="12700" dir="8100000" algn="bl" rotWithShape="0">
                <a:srgbClr val="000000">
                  <a:alpha val="8000"/>
                </a:srgbClr>
              </a:outerShdw>
            </a:effectLst>
          </p:spPr>
          <p:txBody>
            <a:bodyPr/>
            <a:lstStyle/>
            <a:p>
              <a:pPr algn="ctr" defTabSz="554019"/>
              <a:endParaRPr lang="en-US" sz="819">
                <a:solidFill>
                  <a:srgbClr val="000000"/>
                </a:solidFill>
                <a:latin typeface="Aptos" panose="020B0004020202020204" pitchFamily="34" charset="0"/>
              </a:endParaRPr>
            </a:p>
          </p:txBody>
        </p:sp>
        <p:sp>
          <p:nvSpPr>
            <p:cNvPr id="55" name="Text 96">
              <a:extLst>
                <a:ext uri="{FF2B5EF4-FFF2-40B4-BE49-F238E27FC236}">
                  <a16:creationId xmlns:a16="http://schemas.microsoft.com/office/drawing/2014/main" id="{2A1B5C43-A55A-3025-B59D-05A2FA73C02B}"/>
                </a:ext>
              </a:extLst>
            </p:cNvPr>
            <p:cNvSpPr/>
            <p:nvPr/>
          </p:nvSpPr>
          <p:spPr>
            <a:xfrm>
              <a:off x="1508760" y="4084625"/>
              <a:ext cx="1051560" cy="201168"/>
            </a:xfrm>
            <a:prstGeom prst="rect">
              <a:avLst/>
            </a:prstGeom>
            <a:noFill/>
            <a:ln/>
          </p:spPr>
          <p:txBody>
            <a:bodyPr wrap="square" lIns="0" tIns="0" rIns="0" bIns="0" rtlCol="0" anchor="t"/>
            <a:lstStyle/>
            <a:p>
              <a:pPr algn="ctr" defTabSz="554019"/>
              <a:r>
                <a:rPr lang="en-US" sz="900" b="1" dirty="0">
                  <a:solidFill>
                    <a:srgbClr val="0B2447"/>
                  </a:solidFill>
                  <a:latin typeface="Aptos" panose="020B0004020202020204" pitchFamily="34" charset="0"/>
                  <a:ea typeface="Calibri" pitchFamily="34" charset="-122"/>
                  <a:cs typeface="Calibri" pitchFamily="34" charset="-120"/>
                </a:rPr>
                <a:t>MD Service</a:t>
              </a:r>
              <a:endParaRPr lang="en-US" sz="900" dirty="0">
                <a:solidFill>
                  <a:srgbClr val="000000"/>
                </a:solidFill>
                <a:latin typeface="Aptos" panose="020B0004020202020204" pitchFamily="34" charset="0"/>
              </a:endParaRPr>
            </a:p>
          </p:txBody>
        </p:sp>
        <p:sp>
          <p:nvSpPr>
            <p:cNvPr id="56" name="Text 97">
              <a:extLst>
                <a:ext uri="{FF2B5EF4-FFF2-40B4-BE49-F238E27FC236}">
                  <a16:creationId xmlns:a16="http://schemas.microsoft.com/office/drawing/2014/main" id="{BB4A76E8-17D0-C559-7964-CBE08C74C247}"/>
                </a:ext>
              </a:extLst>
            </p:cNvPr>
            <p:cNvSpPr/>
            <p:nvPr/>
          </p:nvSpPr>
          <p:spPr>
            <a:xfrm>
              <a:off x="1508760" y="4276649"/>
              <a:ext cx="1051560" cy="433426"/>
            </a:xfrm>
            <a:prstGeom prst="rect">
              <a:avLst/>
            </a:prstGeom>
            <a:noFill/>
            <a:ln/>
          </p:spPr>
          <p:txBody>
            <a:bodyPr wrap="square" lIns="0" tIns="0" rIns="0" bIns="0" rtlCol="0" anchor="t"/>
            <a:lstStyle/>
            <a:p>
              <a:pPr algn="ctr" defTabSz="554019"/>
              <a:r>
                <a:rPr lang="en-US" sz="720" dirty="0">
                  <a:solidFill>
                    <a:srgbClr val="5A6B8A"/>
                  </a:solidFill>
                  <a:latin typeface="Aptos" panose="020B0004020202020204" pitchFamily="34" charset="0"/>
                  <a:ea typeface="Calibri" pitchFamily="34" charset="-122"/>
                  <a:cs typeface="Calibri" pitchFamily="34" charset="-120"/>
                </a:rPr>
                <a:t>Python worker</a:t>
              </a:r>
              <a:endParaRPr lang="en-US" sz="720" dirty="0">
                <a:solidFill>
                  <a:srgbClr val="000000"/>
                </a:solidFill>
                <a:latin typeface="Aptos" panose="020B0004020202020204" pitchFamily="34" charset="0"/>
              </a:endParaRPr>
            </a:p>
          </p:txBody>
        </p:sp>
        <p:sp>
          <p:nvSpPr>
            <p:cNvPr id="57" name="Shape 98">
              <a:extLst>
                <a:ext uri="{FF2B5EF4-FFF2-40B4-BE49-F238E27FC236}">
                  <a16:creationId xmlns:a16="http://schemas.microsoft.com/office/drawing/2014/main" id="{08CFE6E3-A11F-A79B-7708-83911C35AF1E}"/>
                </a:ext>
              </a:extLst>
            </p:cNvPr>
            <p:cNvSpPr/>
            <p:nvPr/>
          </p:nvSpPr>
          <p:spPr>
            <a:xfrm>
              <a:off x="1441614" y="4852098"/>
              <a:ext cx="1161288" cy="668729"/>
            </a:xfrm>
            <a:prstGeom prst="rect">
              <a:avLst/>
            </a:prstGeom>
            <a:solidFill>
              <a:srgbClr val="FFFFFF"/>
            </a:solidFill>
            <a:ln w="12700">
              <a:solidFill>
                <a:srgbClr val="6BA3D6"/>
              </a:solidFill>
              <a:prstDash val="solid"/>
            </a:ln>
            <a:effectLst>
              <a:outerShdw blurRad="38100" dist="12700" dir="8100000" algn="bl" rotWithShape="0">
                <a:srgbClr val="000000">
                  <a:alpha val="8000"/>
                </a:srgbClr>
              </a:outerShdw>
            </a:effectLst>
          </p:spPr>
          <p:txBody>
            <a:bodyPr/>
            <a:lstStyle/>
            <a:p>
              <a:pPr algn="ctr" defTabSz="554019"/>
              <a:endParaRPr lang="en-US" sz="819">
                <a:solidFill>
                  <a:srgbClr val="000000"/>
                </a:solidFill>
                <a:latin typeface="Aptos" panose="020B0004020202020204" pitchFamily="34" charset="0"/>
              </a:endParaRPr>
            </a:p>
          </p:txBody>
        </p:sp>
        <p:sp>
          <p:nvSpPr>
            <p:cNvPr id="59" name="Text 100">
              <a:extLst>
                <a:ext uri="{FF2B5EF4-FFF2-40B4-BE49-F238E27FC236}">
                  <a16:creationId xmlns:a16="http://schemas.microsoft.com/office/drawing/2014/main" id="{A1F1CE47-EBD2-23C2-54D6-16BB2E397555}"/>
                </a:ext>
              </a:extLst>
            </p:cNvPr>
            <p:cNvSpPr/>
            <p:nvPr/>
          </p:nvSpPr>
          <p:spPr>
            <a:xfrm>
              <a:off x="1508760" y="4856378"/>
              <a:ext cx="1051560" cy="201168"/>
            </a:xfrm>
            <a:prstGeom prst="rect">
              <a:avLst/>
            </a:prstGeom>
            <a:noFill/>
            <a:ln/>
          </p:spPr>
          <p:txBody>
            <a:bodyPr wrap="square" lIns="0" tIns="0" rIns="0" bIns="0" rtlCol="0" anchor="t"/>
            <a:lstStyle/>
            <a:p>
              <a:pPr algn="ctr" defTabSz="554019"/>
              <a:r>
                <a:rPr lang="en-US" sz="900" b="1" dirty="0">
                  <a:solidFill>
                    <a:srgbClr val="0B2447"/>
                  </a:solidFill>
                  <a:latin typeface="Aptos" panose="020B0004020202020204" pitchFamily="34" charset="0"/>
                  <a:ea typeface="Calibri" pitchFamily="34" charset="-122"/>
                  <a:cs typeface="Calibri" pitchFamily="34" charset="-120"/>
                </a:rPr>
                <a:t>Ref-Data CDC</a:t>
              </a:r>
              <a:endParaRPr lang="en-US" sz="900" dirty="0">
                <a:solidFill>
                  <a:srgbClr val="000000"/>
                </a:solidFill>
                <a:latin typeface="Aptos" panose="020B0004020202020204" pitchFamily="34" charset="0"/>
              </a:endParaRPr>
            </a:p>
          </p:txBody>
        </p:sp>
        <p:sp>
          <p:nvSpPr>
            <p:cNvPr id="60" name="Text 101">
              <a:extLst>
                <a:ext uri="{FF2B5EF4-FFF2-40B4-BE49-F238E27FC236}">
                  <a16:creationId xmlns:a16="http://schemas.microsoft.com/office/drawing/2014/main" id="{EE58AD0E-621D-F320-D35E-3D4ADE570D29}"/>
                </a:ext>
              </a:extLst>
            </p:cNvPr>
            <p:cNvSpPr/>
            <p:nvPr/>
          </p:nvSpPr>
          <p:spPr>
            <a:xfrm>
              <a:off x="1508760" y="5048402"/>
              <a:ext cx="1051560" cy="433426"/>
            </a:xfrm>
            <a:prstGeom prst="rect">
              <a:avLst/>
            </a:prstGeom>
            <a:noFill/>
            <a:ln/>
          </p:spPr>
          <p:txBody>
            <a:bodyPr wrap="square" lIns="0" tIns="0" rIns="0" bIns="0" rtlCol="0" anchor="t"/>
            <a:lstStyle/>
            <a:p>
              <a:pPr algn="ctr" defTabSz="554019"/>
              <a:endParaRPr lang="en-US" sz="720" dirty="0">
                <a:solidFill>
                  <a:srgbClr val="000000"/>
                </a:solidFill>
                <a:latin typeface="Aptos" panose="020B0004020202020204" pitchFamily="34" charset="0"/>
              </a:endParaRPr>
            </a:p>
          </p:txBody>
        </p:sp>
        <p:sp>
          <p:nvSpPr>
            <p:cNvPr id="133" name="Shape 224">
              <a:extLst>
                <a:ext uri="{FF2B5EF4-FFF2-40B4-BE49-F238E27FC236}">
                  <a16:creationId xmlns:a16="http://schemas.microsoft.com/office/drawing/2014/main" id="{B6EEF1E2-5FD4-4B72-C56A-DF5D309DB79A}"/>
                </a:ext>
              </a:extLst>
            </p:cNvPr>
            <p:cNvSpPr/>
            <p:nvPr/>
          </p:nvSpPr>
          <p:spPr>
            <a:xfrm>
              <a:off x="2615184" y="2059229"/>
              <a:ext cx="146304" cy="0"/>
            </a:xfrm>
            <a:prstGeom prst="line">
              <a:avLst/>
            </a:prstGeom>
            <a:noFill/>
            <a:ln w="15875">
              <a:solidFill>
                <a:srgbClr val="C8841A"/>
              </a:solidFill>
              <a:prstDash val="dash"/>
              <a:tailEnd type="triangle"/>
            </a:ln>
          </p:spPr>
          <p:txBody>
            <a:bodyPr/>
            <a:lstStyle/>
            <a:p>
              <a:pPr algn="ctr" defTabSz="554019"/>
              <a:endParaRPr lang="en-US" sz="819">
                <a:solidFill>
                  <a:srgbClr val="000000"/>
                </a:solidFill>
                <a:latin typeface="Aptos" panose="020B0004020202020204" pitchFamily="34" charset="0"/>
              </a:endParaRPr>
            </a:p>
          </p:txBody>
        </p:sp>
        <p:sp>
          <p:nvSpPr>
            <p:cNvPr id="137" name="Shape 225">
              <a:extLst>
                <a:ext uri="{FF2B5EF4-FFF2-40B4-BE49-F238E27FC236}">
                  <a16:creationId xmlns:a16="http://schemas.microsoft.com/office/drawing/2014/main" id="{24449C88-383E-C20D-A008-00C7DF6BA4AB}"/>
                </a:ext>
              </a:extLst>
            </p:cNvPr>
            <p:cNvSpPr/>
            <p:nvPr/>
          </p:nvSpPr>
          <p:spPr>
            <a:xfrm>
              <a:off x="2615184" y="2830982"/>
              <a:ext cx="146304" cy="0"/>
            </a:xfrm>
            <a:prstGeom prst="line">
              <a:avLst/>
            </a:prstGeom>
            <a:noFill/>
            <a:ln w="15875">
              <a:solidFill>
                <a:srgbClr val="C8841A"/>
              </a:solidFill>
              <a:prstDash val="dash"/>
              <a:tailEnd type="triangle"/>
            </a:ln>
          </p:spPr>
          <p:txBody>
            <a:bodyPr/>
            <a:lstStyle/>
            <a:p>
              <a:pPr algn="ctr" defTabSz="554019"/>
              <a:endParaRPr lang="en-US" sz="819">
                <a:solidFill>
                  <a:srgbClr val="000000"/>
                </a:solidFill>
                <a:latin typeface="Aptos" panose="020B0004020202020204" pitchFamily="34" charset="0"/>
              </a:endParaRPr>
            </a:p>
          </p:txBody>
        </p:sp>
        <p:sp>
          <p:nvSpPr>
            <p:cNvPr id="141" name="Shape 226">
              <a:extLst>
                <a:ext uri="{FF2B5EF4-FFF2-40B4-BE49-F238E27FC236}">
                  <a16:creationId xmlns:a16="http://schemas.microsoft.com/office/drawing/2014/main" id="{354BD61C-E739-36A9-0412-401297DBD579}"/>
                </a:ext>
              </a:extLst>
            </p:cNvPr>
            <p:cNvSpPr/>
            <p:nvPr/>
          </p:nvSpPr>
          <p:spPr>
            <a:xfrm>
              <a:off x="2615184" y="3602736"/>
              <a:ext cx="146304" cy="0"/>
            </a:xfrm>
            <a:prstGeom prst="line">
              <a:avLst/>
            </a:prstGeom>
            <a:noFill/>
            <a:ln w="15875">
              <a:solidFill>
                <a:srgbClr val="C8841A"/>
              </a:solidFill>
              <a:prstDash val="dash"/>
              <a:tailEnd type="triangle"/>
            </a:ln>
          </p:spPr>
          <p:txBody>
            <a:bodyPr/>
            <a:lstStyle/>
            <a:p>
              <a:pPr algn="ctr" defTabSz="554019"/>
              <a:endParaRPr lang="en-US" sz="819">
                <a:solidFill>
                  <a:srgbClr val="000000"/>
                </a:solidFill>
                <a:latin typeface="Aptos" panose="020B0004020202020204" pitchFamily="34" charset="0"/>
              </a:endParaRPr>
            </a:p>
          </p:txBody>
        </p:sp>
        <p:sp>
          <p:nvSpPr>
            <p:cNvPr id="147" name="Shape 227">
              <a:extLst>
                <a:ext uri="{FF2B5EF4-FFF2-40B4-BE49-F238E27FC236}">
                  <a16:creationId xmlns:a16="http://schemas.microsoft.com/office/drawing/2014/main" id="{323C7146-BD87-CDD1-3882-5DE730C7A1E3}"/>
                </a:ext>
              </a:extLst>
            </p:cNvPr>
            <p:cNvSpPr/>
            <p:nvPr/>
          </p:nvSpPr>
          <p:spPr>
            <a:xfrm>
              <a:off x="2615184" y="4374490"/>
              <a:ext cx="146304" cy="0"/>
            </a:xfrm>
            <a:prstGeom prst="line">
              <a:avLst/>
            </a:prstGeom>
            <a:noFill/>
            <a:ln w="15875">
              <a:solidFill>
                <a:srgbClr val="C8841A"/>
              </a:solidFill>
              <a:prstDash val="dash"/>
              <a:tailEnd type="triangle"/>
            </a:ln>
          </p:spPr>
          <p:txBody>
            <a:bodyPr/>
            <a:lstStyle/>
            <a:p>
              <a:pPr algn="ctr" defTabSz="554019"/>
              <a:endParaRPr lang="en-US" sz="819">
                <a:solidFill>
                  <a:srgbClr val="000000"/>
                </a:solidFill>
                <a:latin typeface="Aptos" panose="020B0004020202020204" pitchFamily="34" charset="0"/>
              </a:endParaRPr>
            </a:p>
          </p:txBody>
        </p:sp>
      </p:grpSp>
      <p:grpSp>
        <p:nvGrpSpPr>
          <p:cNvPr id="247" name="Group 246">
            <a:extLst>
              <a:ext uri="{FF2B5EF4-FFF2-40B4-BE49-F238E27FC236}">
                <a16:creationId xmlns:a16="http://schemas.microsoft.com/office/drawing/2014/main" id="{3F4CDE1B-03AD-FCF4-AF6F-6D4AE9F77953}"/>
              </a:ext>
            </a:extLst>
          </p:cNvPr>
          <p:cNvGrpSpPr/>
          <p:nvPr/>
        </p:nvGrpSpPr>
        <p:grpSpPr>
          <a:xfrm>
            <a:off x="3264410" y="3845052"/>
            <a:ext cx="8006775" cy="621792"/>
            <a:chOff x="3264408" y="3845052"/>
            <a:chExt cx="8869680" cy="621792"/>
          </a:xfrm>
        </p:grpSpPr>
        <p:sp>
          <p:nvSpPr>
            <p:cNvPr id="201" name="Shape 166">
              <a:extLst>
                <a:ext uri="{FF2B5EF4-FFF2-40B4-BE49-F238E27FC236}">
                  <a16:creationId xmlns:a16="http://schemas.microsoft.com/office/drawing/2014/main" id="{4A97EF65-3772-2D60-9295-6870C30DFB42}"/>
                </a:ext>
              </a:extLst>
            </p:cNvPr>
            <p:cNvSpPr/>
            <p:nvPr/>
          </p:nvSpPr>
          <p:spPr>
            <a:xfrm>
              <a:off x="3264408" y="3845052"/>
              <a:ext cx="8869680" cy="621792"/>
            </a:xfrm>
            <a:prstGeom prst="rect">
              <a:avLst/>
            </a:prstGeom>
            <a:solidFill>
              <a:srgbClr val="F4F6FA"/>
            </a:solidFill>
            <a:ln w="6350">
              <a:solidFill>
                <a:srgbClr val="94A3B8"/>
              </a:solidFill>
              <a:prstDash val="solid"/>
            </a:ln>
          </p:spPr>
          <p:txBody>
            <a:bodyPr/>
            <a:lstStyle/>
            <a:p>
              <a:pPr defTabSz="554019"/>
              <a:endParaRPr lang="en-US" sz="819">
                <a:solidFill>
                  <a:srgbClr val="000000"/>
                </a:solidFill>
                <a:latin typeface="Aptos" panose="020B0004020202020204" pitchFamily="34" charset="0"/>
              </a:endParaRPr>
            </a:p>
          </p:txBody>
        </p:sp>
        <p:sp>
          <p:nvSpPr>
            <p:cNvPr id="205" name="Shape 167">
              <a:extLst>
                <a:ext uri="{FF2B5EF4-FFF2-40B4-BE49-F238E27FC236}">
                  <a16:creationId xmlns:a16="http://schemas.microsoft.com/office/drawing/2014/main" id="{819D5C44-7D14-E46D-4892-AA9CE0764826}"/>
                </a:ext>
              </a:extLst>
            </p:cNvPr>
            <p:cNvSpPr/>
            <p:nvPr/>
          </p:nvSpPr>
          <p:spPr>
            <a:xfrm>
              <a:off x="3264408" y="3845052"/>
              <a:ext cx="1417320" cy="621792"/>
            </a:xfrm>
            <a:prstGeom prst="rect">
              <a:avLst/>
            </a:prstGeom>
            <a:solidFill>
              <a:srgbClr val="4FA1A7"/>
            </a:solidFill>
            <a:ln w="12700">
              <a:solidFill>
                <a:srgbClr val="4FA1A7"/>
              </a:solidFill>
              <a:prstDash val="solid"/>
            </a:ln>
          </p:spPr>
          <p:txBody>
            <a:bodyPr/>
            <a:lstStyle/>
            <a:p>
              <a:pPr defTabSz="554019"/>
              <a:endParaRPr lang="en-US" sz="819">
                <a:solidFill>
                  <a:srgbClr val="000000"/>
                </a:solidFill>
                <a:latin typeface="Aptos" panose="020B0004020202020204" pitchFamily="34" charset="0"/>
              </a:endParaRPr>
            </a:p>
          </p:txBody>
        </p:sp>
        <p:sp>
          <p:nvSpPr>
            <p:cNvPr id="209" name="Text 168">
              <a:extLst>
                <a:ext uri="{FF2B5EF4-FFF2-40B4-BE49-F238E27FC236}">
                  <a16:creationId xmlns:a16="http://schemas.microsoft.com/office/drawing/2014/main" id="{D1F0110C-E6A3-793C-4E62-9F002B6235DD}"/>
                </a:ext>
              </a:extLst>
            </p:cNvPr>
            <p:cNvSpPr/>
            <p:nvPr/>
          </p:nvSpPr>
          <p:spPr>
            <a:xfrm>
              <a:off x="3337560" y="3918204"/>
              <a:ext cx="1289304" cy="279806"/>
            </a:xfrm>
            <a:prstGeom prst="rect">
              <a:avLst/>
            </a:prstGeom>
            <a:noFill/>
            <a:ln/>
          </p:spPr>
          <p:txBody>
            <a:bodyPr wrap="square" lIns="0" tIns="0" rIns="0" bIns="0" rtlCol="0" anchor="t"/>
            <a:lstStyle/>
            <a:p>
              <a:pPr defTabSz="554019"/>
              <a:r>
                <a:rPr lang="en-US" sz="1000" b="1" dirty="0">
                  <a:solidFill>
                    <a:srgbClr val="FFFFFF"/>
                  </a:solidFill>
                  <a:latin typeface="Aptos" panose="020B0004020202020204" pitchFamily="34" charset="0"/>
                  <a:ea typeface="Georgia" pitchFamily="34" charset="-122"/>
                  <a:cs typeface="Georgia" pitchFamily="34" charset="-120"/>
                </a:rPr>
                <a:t>PROCESSING</a:t>
              </a:r>
              <a:endParaRPr lang="en-US" sz="1000" dirty="0">
                <a:solidFill>
                  <a:srgbClr val="000000"/>
                </a:solidFill>
                <a:latin typeface="Aptos" panose="020B0004020202020204" pitchFamily="34" charset="0"/>
              </a:endParaRPr>
            </a:p>
          </p:txBody>
        </p:sp>
        <p:sp>
          <p:nvSpPr>
            <p:cNvPr id="217" name="Text 169">
              <a:extLst>
                <a:ext uri="{FF2B5EF4-FFF2-40B4-BE49-F238E27FC236}">
                  <a16:creationId xmlns:a16="http://schemas.microsoft.com/office/drawing/2014/main" id="{605434F6-E406-8A8A-AB08-552E58C91B5C}"/>
                </a:ext>
              </a:extLst>
            </p:cNvPr>
            <p:cNvSpPr/>
            <p:nvPr/>
          </p:nvSpPr>
          <p:spPr>
            <a:xfrm>
              <a:off x="3337560" y="4187038"/>
              <a:ext cx="1289304" cy="248717"/>
            </a:xfrm>
            <a:prstGeom prst="rect">
              <a:avLst/>
            </a:prstGeom>
            <a:noFill/>
            <a:ln/>
          </p:spPr>
          <p:txBody>
            <a:bodyPr wrap="square" lIns="0" tIns="0" rIns="0" bIns="0" rtlCol="0" anchor="t"/>
            <a:lstStyle/>
            <a:p>
              <a:pPr defTabSz="554019"/>
              <a:r>
                <a:rPr lang="en-US" sz="800" dirty="0">
                  <a:solidFill>
                    <a:srgbClr val="D9E7F4"/>
                  </a:solidFill>
                  <a:latin typeface="Aptos" panose="020B0004020202020204" pitchFamily="34" charset="0"/>
                  <a:ea typeface="Calibri" pitchFamily="34" charset="-122"/>
                  <a:cs typeface="Calibri" pitchFamily="34" charset="-120"/>
                </a:rPr>
                <a:t>Stream + batch ingestion</a:t>
              </a:r>
              <a:endParaRPr lang="en-US" sz="800" dirty="0">
                <a:solidFill>
                  <a:srgbClr val="000000"/>
                </a:solidFill>
                <a:latin typeface="Aptos" panose="020B0004020202020204" pitchFamily="34" charset="0"/>
              </a:endParaRPr>
            </a:p>
          </p:txBody>
        </p:sp>
        <p:sp>
          <p:nvSpPr>
            <p:cNvPr id="221" name="Shape 170">
              <a:extLst>
                <a:ext uri="{FF2B5EF4-FFF2-40B4-BE49-F238E27FC236}">
                  <a16:creationId xmlns:a16="http://schemas.microsoft.com/office/drawing/2014/main" id="{6E12EA2A-6947-189A-C455-DCC3149B99EE}"/>
                </a:ext>
              </a:extLst>
            </p:cNvPr>
            <p:cNvSpPr/>
            <p:nvPr/>
          </p:nvSpPr>
          <p:spPr>
            <a:xfrm>
              <a:off x="4818888" y="3899916"/>
              <a:ext cx="1737360" cy="512064"/>
            </a:xfrm>
            <a:prstGeom prst="rect">
              <a:avLst/>
            </a:prstGeom>
            <a:solidFill>
              <a:srgbClr val="FFFFFF"/>
            </a:solidFill>
            <a:ln w="12700">
              <a:solidFill>
                <a:srgbClr val="4FA1A7"/>
              </a:solidFill>
              <a:prstDash val="solid"/>
            </a:ln>
            <a:effectLst>
              <a:outerShdw blurRad="50800" dist="12700" dir="8100000" algn="bl" rotWithShape="0">
                <a:srgbClr val="000000">
                  <a:alpha val="8000"/>
                </a:srgbClr>
              </a:outerShdw>
            </a:effectLst>
          </p:spPr>
          <p:txBody>
            <a:bodyPr/>
            <a:lstStyle/>
            <a:p>
              <a:pPr defTabSz="554019"/>
              <a:endParaRPr lang="en-US" sz="819">
                <a:solidFill>
                  <a:srgbClr val="000000"/>
                </a:solidFill>
                <a:latin typeface="Aptos" panose="020B0004020202020204" pitchFamily="34" charset="0"/>
              </a:endParaRPr>
            </a:p>
          </p:txBody>
        </p:sp>
        <p:sp>
          <p:nvSpPr>
            <p:cNvPr id="225" name="Text 172">
              <a:extLst>
                <a:ext uri="{FF2B5EF4-FFF2-40B4-BE49-F238E27FC236}">
                  <a16:creationId xmlns:a16="http://schemas.microsoft.com/office/drawing/2014/main" id="{21730479-ABD8-4E36-D187-E27E1EAC6DF2}"/>
                </a:ext>
              </a:extLst>
            </p:cNvPr>
            <p:cNvSpPr/>
            <p:nvPr/>
          </p:nvSpPr>
          <p:spPr>
            <a:xfrm>
              <a:off x="4882896" y="3982212"/>
              <a:ext cx="1609344" cy="201168"/>
            </a:xfrm>
            <a:prstGeom prst="rect">
              <a:avLst/>
            </a:prstGeom>
            <a:noFill/>
            <a:ln/>
          </p:spPr>
          <p:txBody>
            <a:bodyPr wrap="square" lIns="0" tIns="0" rIns="0" bIns="0" rtlCol="0" anchor="t"/>
            <a:lstStyle/>
            <a:p>
              <a:pPr algn="ctr" defTabSz="554019"/>
              <a:r>
                <a:rPr lang="en-US" sz="1000" b="1" dirty="0">
                  <a:solidFill>
                    <a:srgbClr val="0B2447"/>
                  </a:solidFill>
                  <a:latin typeface="Aptos" panose="020B0004020202020204" pitchFamily="34" charset="0"/>
                  <a:ea typeface="Calibri" pitchFamily="34" charset="-122"/>
                  <a:cs typeface="Calibri" pitchFamily="34" charset="-120"/>
                </a:rPr>
                <a:t>Stream Processor</a:t>
              </a:r>
              <a:endParaRPr lang="en-US" sz="1000" dirty="0">
                <a:solidFill>
                  <a:srgbClr val="000000"/>
                </a:solidFill>
                <a:latin typeface="Aptos" panose="020B0004020202020204" pitchFamily="34" charset="0"/>
              </a:endParaRPr>
            </a:p>
          </p:txBody>
        </p:sp>
        <p:sp>
          <p:nvSpPr>
            <p:cNvPr id="233" name="Shape 174">
              <a:extLst>
                <a:ext uri="{FF2B5EF4-FFF2-40B4-BE49-F238E27FC236}">
                  <a16:creationId xmlns:a16="http://schemas.microsoft.com/office/drawing/2014/main" id="{FFA73AD2-41B7-19EA-A62E-D0D80BE2F212}"/>
                </a:ext>
              </a:extLst>
            </p:cNvPr>
            <p:cNvSpPr/>
            <p:nvPr/>
          </p:nvSpPr>
          <p:spPr>
            <a:xfrm>
              <a:off x="6647688" y="3899916"/>
              <a:ext cx="1737360" cy="512064"/>
            </a:xfrm>
            <a:prstGeom prst="rect">
              <a:avLst/>
            </a:prstGeom>
            <a:solidFill>
              <a:srgbClr val="FFFFFF"/>
            </a:solidFill>
            <a:ln w="12700">
              <a:solidFill>
                <a:srgbClr val="4FA1A7"/>
              </a:solidFill>
              <a:prstDash val="solid"/>
            </a:ln>
            <a:effectLst>
              <a:outerShdw blurRad="50800" dist="12700" dir="8100000" algn="bl" rotWithShape="0">
                <a:srgbClr val="000000">
                  <a:alpha val="8000"/>
                </a:srgbClr>
              </a:outerShdw>
            </a:effectLst>
          </p:spPr>
          <p:txBody>
            <a:bodyPr/>
            <a:lstStyle/>
            <a:p>
              <a:pPr algn="ctr" defTabSz="554019"/>
              <a:endParaRPr lang="en-US" sz="819">
                <a:solidFill>
                  <a:srgbClr val="000000"/>
                </a:solidFill>
                <a:latin typeface="Aptos" panose="020B0004020202020204" pitchFamily="34" charset="0"/>
              </a:endParaRPr>
            </a:p>
          </p:txBody>
        </p:sp>
        <p:sp>
          <p:nvSpPr>
            <p:cNvPr id="237" name="Text 176">
              <a:extLst>
                <a:ext uri="{FF2B5EF4-FFF2-40B4-BE49-F238E27FC236}">
                  <a16:creationId xmlns:a16="http://schemas.microsoft.com/office/drawing/2014/main" id="{290499F4-3041-9E17-74DF-BFA19798B22D}"/>
                </a:ext>
              </a:extLst>
            </p:cNvPr>
            <p:cNvSpPr/>
            <p:nvPr/>
          </p:nvSpPr>
          <p:spPr>
            <a:xfrm>
              <a:off x="6711696" y="3982212"/>
              <a:ext cx="1609344" cy="201168"/>
            </a:xfrm>
            <a:prstGeom prst="rect">
              <a:avLst/>
            </a:prstGeom>
            <a:noFill/>
            <a:ln/>
          </p:spPr>
          <p:txBody>
            <a:bodyPr wrap="square" lIns="0" tIns="0" rIns="0" bIns="0" rtlCol="0" anchor="t"/>
            <a:lstStyle/>
            <a:p>
              <a:pPr algn="ctr" defTabSz="554019"/>
              <a:r>
                <a:rPr lang="en-US" sz="1000" b="1" dirty="0">
                  <a:solidFill>
                    <a:srgbClr val="0B2447"/>
                  </a:solidFill>
                  <a:latin typeface="Aptos" panose="020B0004020202020204" pitchFamily="34" charset="0"/>
                  <a:ea typeface="Calibri" pitchFamily="34" charset="-122"/>
                  <a:cs typeface="Calibri" pitchFamily="34" charset="-120"/>
                </a:rPr>
                <a:t>Batch ETL</a:t>
              </a:r>
              <a:endParaRPr lang="en-US" sz="1000" dirty="0">
                <a:solidFill>
                  <a:srgbClr val="000000"/>
                </a:solidFill>
                <a:latin typeface="Aptos" panose="020B0004020202020204" pitchFamily="34" charset="0"/>
              </a:endParaRPr>
            </a:p>
          </p:txBody>
        </p:sp>
        <p:sp>
          <p:nvSpPr>
            <p:cNvPr id="241" name="Shape 178">
              <a:extLst>
                <a:ext uri="{FF2B5EF4-FFF2-40B4-BE49-F238E27FC236}">
                  <a16:creationId xmlns:a16="http://schemas.microsoft.com/office/drawing/2014/main" id="{B96EB587-260F-1103-8546-727E23C9A7C2}"/>
                </a:ext>
              </a:extLst>
            </p:cNvPr>
            <p:cNvSpPr/>
            <p:nvPr/>
          </p:nvSpPr>
          <p:spPr>
            <a:xfrm>
              <a:off x="8476488" y="3899916"/>
              <a:ext cx="1737360" cy="512064"/>
            </a:xfrm>
            <a:prstGeom prst="rect">
              <a:avLst/>
            </a:prstGeom>
            <a:solidFill>
              <a:srgbClr val="FFFFFF"/>
            </a:solidFill>
            <a:ln w="12700">
              <a:solidFill>
                <a:srgbClr val="4FA1A7"/>
              </a:solidFill>
              <a:prstDash val="solid"/>
            </a:ln>
            <a:effectLst>
              <a:outerShdw blurRad="50800" dist="12700" dir="8100000" algn="bl" rotWithShape="0">
                <a:srgbClr val="000000">
                  <a:alpha val="8000"/>
                </a:srgbClr>
              </a:outerShdw>
            </a:effectLst>
          </p:spPr>
          <p:txBody>
            <a:bodyPr/>
            <a:lstStyle/>
            <a:p>
              <a:pPr defTabSz="554019"/>
              <a:endParaRPr lang="en-US" sz="819">
                <a:solidFill>
                  <a:srgbClr val="000000"/>
                </a:solidFill>
                <a:latin typeface="Aptos" panose="020B0004020202020204" pitchFamily="34" charset="0"/>
              </a:endParaRPr>
            </a:p>
          </p:txBody>
        </p:sp>
        <p:sp>
          <p:nvSpPr>
            <p:cNvPr id="242" name="Text 180">
              <a:extLst>
                <a:ext uri="{FF2B5EF4-FFF2-40B4-BE49-F238E27FC236}">
                  <a16:creationId xmlns:a16="http://schemas.microsoft.com/office/drawing/2014/main" id="{15AD75EA-227E-D226-813B-5931265421BE}"/>
                </a:ext>
              </a:extLst>
            </p:cNvPr>
            <p:cNvSpPr/>
            <p:nvPr/>
          </p:nvSpPr>
          <p:spPr>
            <a:xfrm>
              <a:off x="8540496" y="3982212"/>
              <a:ext cx="1609344" cy="201168"/>
            </a:xfrm>
            <a:prstGeom prst="rect">
              <a:avLst/>
            </a:prstGeom>
            <a:noFill/>
            <a:ln/>
          </p:spPr>
          <p:txBody>
            <a:bodyPr wrap="square" lIns="0" tIns="0" rIns="0" bIns="0" rtlCol="0" anchor="t"/>
            <a:lstStyle/>
            <a:p>
              <a:pPr algn="ctr" defTabSz="554019"/>
              <a:r>
                <a:rPr lang="en-US" sz="1000" b="1" dirty="0">
                  <a:solidFill>
                    <a:srgbClr val="0B2447"/>
                  </a:solidFill>
                  <a:latin typeface="Aptos" panose="020B0004020202020204" pitchFamily="34" charset="0"/>
                  <a:ea typeface="Calibri" pitchFamily="34" charset="-122"/>
                  <a:cs typeface="Calibri" pitchFamily="34" charset="-120"/>
                </a:rPr>
                <a:t>CDC</a:t>
              </a:r>
              <a:endParaRPr lang="en-US" sz="1000" dirty="0">
                <a:solidFill>
                  <a:srgbClr val="000000"/>
                </a:solidFill>
                <a:latin typeface="Aptos" panose="020B0004020202020204" pitchFamily="34" charset="0"/>
              </a:endParaRPr>
            </a:p>
          </p:txBody>
        </p:sp>
        <p:sp>
          <p:nvSpPr>
            <p:cNvPr id="244" name="Shape 182">
              <a:extLst>
                <a:ext uri="{FF2B5EF4-FFF2-40B4-BE49-F238E27FC236}">
                  <a16:creationId xmlns:a16="http://schemas.microsoft.com/office/drawing/2014/main" id="{DE6AF008-5D0F-4E53-1A84-A4A223A974B0}"/>
                </a:ext>
              </a:extLst>
            </p:cNvPr>
            <p:cNvSpPr/>
            <p:nvPr/>
          </p:nvSpPr>
          <p:spPr>
            <a:xfrm>
              <a:off x="10305288" y="3899916"/>
              <a:ext cx="1737360" cy="512064"/>
            </a:xfrm>
            <a:prstGeom prst="rect">
              <a:avLst/>
            </a:prstGeom>
            <a:solidFill>
              <a:srgbClr val="FFFFFF"/>
            </a:solidFill>
            <a:ln w="12700">
              <a:solidFill>
                <a:srgbClr val="4FA1A7"/>
              </a:solidFill>
              <a:prstDash val="solid"/>
            </a:ln>
            <a:effectLst>
              <a:outerShdw blurRad="50800" dist="12700" dir="8100000" algn="bl" rotWithShape="0">
                <a:srgbClr val="000000">
                  <a:alpha val="8000"/>
                </a:srgbClr>
              </a:outerShdw>
            </a:effectLst>
          </p:spPr>
          <p:txBody>
            <a:bodyPr/>
            <a:lstStyle/>
            <a:p>
              <a:pPr defTabSz="554019"/>
              <a:endParaRPr lang="en-US" sz="819">
                <a:solidFill>
                  <a:srgbClr val="000000"/>
                </a:solidFill>
                <a:latin typeface="Aptos" panose="020B0004020202020204" pitchFamily="34" charset="0"/>
              </a:endParaRPr>
            </a:p>
          </p:txBody>
        </p:sp>
        <p:sp>
          <p:nvSpPr>
            <p:cNvPr id="245" name="Text 184">
              <a:extLst>
                <a:ext uri="{FF2B5EF4-FFF2-40B4-BE49-F238E27FC236}">
                  <a16:creationId xmlns:a16="http://schemas.microsoft.com/office/drawing/2014/main" id="{9B8D490A-DC23-B76F-9EE5-84E907CE36FF}"/>
                </a:ext>
              </a:extLst>
            </p:cNvPr>
            <p:cNvSpPr/>
            <p:nvPr/>
          </p:nvSpPr>
          <p:spPr>
            <a:xfrm>
              <a:off x="10369296" y="3982212"/>
              <a:ext cx="1609344" cy="201168"/>
            </a:xfrm>
            <a:prstGeom prst="rect">
              <a:avLst/>
            </a:prstGeom>
            <a:noFill/>
            <a:ln/>
          </p:spPr>
          <p:txBody>
            <a:bodyPr wrap="square" lIns="0" tIns="0" rIns="0" bIns="0" rtlCol="0" anchor="t"/>
            <a:lstStyle/>
            <a:p>
              <a:pPr algn="ctr" defTabSz="554019"/>
              <a:r>
                <a:rPr lang="en-US" sz="1000" b="1" dirty="0">
                  <a:solidFill>
                    <a:srgbClr val="0B2447"/>
                  </a:solidFill>
                  <a:latin typeface="Aptos" panose="020B0004020202020204" pitchFamily="34" charset="0"/>
                  <a:ea typeface="Calibri" pitchFamily="34" charset="-122"/>
                  <a:cs typeface="Calibri" pitchFamily="34" charset="-120"/>
                </a:rPr>
                <a:t>Loaders + dbt</a:t>
              </a:r>
              <a:endParaRPr lang="en-US" sz="1000" dirty="0">
                <a:solidFill>
                  <a:srgbClr val="000000"/>
                </a:solidFill>
                <a:latin typeface="Aptos" panose="020B0004020202020204" pitchFamily="34" charset="0"/>
              </a:endParaRPr>
            </a:p>
          </p:txBody>
        </p:sp>
      </p:grpSp>
      <p:sp>
        <p:nvSpPr>
          <p:cNvPr id="248" name="Shape 142">
            <a:extLst>
              <a:ext uri="{FF2B5EF4-FFF2-40B4-BE49-F238E27FC236}">
                <a16:creationId xmlns:a16="http://schemas.microsoft.com/office/drawing/2014/main" id="{F1546826-1FFC-AB66-295B-A7FE4D3FE981}"/>
              </a:ext>
            </a:extLst>
          </p:cNvPr>
          <p:cNvSpPr/>
          <p:nvPr/>
        </p:nvSpPr>
        <p:spPr>
          <a:xfrm>
            <a:off x="3264408" y="4649724"/>
            <a:ext cx="8026027" cy="1443059"/>
          </a:xfrm>
          <a:prstGeom prst="rect">
            <a:avLst/>
          </a:prstGeom>
          <a:solidFill>
            <a:srgbClr val="F4F6FA"/>
          </a:solidFill>
          <a:ln w="6350">
            <a:solidFill>
              <a:srgbClr val="94A3B8"/>
            </a:solidFill>
            <a:prstDash val="solid"/>
          </a:ln>
        </p:spPr>
        <p:txBody>
          <a:bodyPr/>
          <a:lstStyle/>
          <a:p>
            <a:pPr defTabSz="554019"/>
            <a:endParaRPr lang="en-US" sz="819">
              <a:solidFill>
                <a:srgbClr val="000000"/>
              </a:solidFill>
              <a:latin typeface="Calibri" panose="020F0502020204030204"/>
            </a:endParaRPr>
          </a:p>
        </p:txBody>
      </p:sp>
      <p:sp>
        <p:nvSpPr>
          <p:cNvPr id="249" name="Shape 143">
            <a:extLst>
              <a:ext uri="{FF2B5EF4-FFF2-40B4-BE49-F238E27FC236}">
                <a16:creationId xmlns:a16="http://schemas.microsoft.com/office/drawing/2014/main" id="{B1AE2F54-B1AA-8AD1-04A0-342CFA57C119}"/>
              </a:ext>
            </a:extLst>
          </p:cNvPr>
          <p:cNvSpPr/>
          <p:nvPr/>
        </p:nvSpPr>
        <p:spPr>
          <a:xfrm>
            <a:off x="3264408" y="4649723"/>
            <a:ext cx="1282509" cy="1443053"/>
          </a:xfrm>
          <a:prstGeom prst="rect">
            <a:avLst/>
          </a:prstGeom>
          <a:solidFill>
            <a:srgbClr val="1F7B82"/>
          </a:solidFill>
          <a:ln w="12700">
            <a:solidFill>
              <a:srgbClr val="1F7B82"/>
            </a:solidFill>
            <a:prstDash val="solid"/>
          </a:ln>
        </p:spPr>
        <p:txBody>
          <a:bodyPr/>
          <a:lstStyle/>
          <a:p>
            <a:pPr defTabSz="554019"/>
            <a:endParaRPr lang="en-US" sz="819">
              <a:solidFill>
                <a:srgbClr val="000000"/>
              </a:solidFill>
              <a:latin typeface="Calibri" panose="020F0502020204030204"/>
            </a:endParaRPr>
          </a:p>
        </p:txBody>
      </p:sp>
      <p:sp>
        <p:nvSpPr>
          <p:cNvPr id="250" name="Text 144">
            <a:extLst>
              <a:ext uri="{FF2B5EF4-FFF2-40B4-BE49-F238E27FC236}">
                <a16:creationId xmlns:a16="http://schemas.microsoft.com/office/drawing/2014/main" id="{86F94792-F02C-CA00-9FF4-BFB100FC809F}"/>
              </a:ext>
            </a:extLst>
          </p:cNvPr>
          <p:cNvSpPr/>
          <p:nvPr/>
        </p:nvSpPr>
        <p:spPr>
          <a:xfrm>
            <a:off x="3330602" y="4805729"/>
            <a:ext cx="1166671" cy="649376"/>
          </a:xfrm>
          <a:prstGeom prst="rect">
            <a:avLst/>
          </a:prstGeom>
          <a:noFill/>
          <a:ln/>
        </p:spPr>
        <p:txBody>
          <a:bodyPr wrap="square" lIns="0" tIns="0" rIns="0" bIns="0" rtlCol="0" anchor="t"/>
          <a:lstStyle/>
          <a:p>
            <a:pPr defTabSz="554019"/>
            <a:r>
              <a:rPr lang="en-US" sz="1000" b="1" dirty="0">
                <a:solidFill>
                  <a:srgbClr val="FFFFFF"/>
                </a:solidFill>
                <a:latin typeface="Aptos" panose="020B0004020202020204" pitchFamily="34" charset="0"/>
                <a:ea typeface="Georgia" pitchFamily="34" charset="-122"/>
                <a:cs typeface="Georgia" pitchFamily="34" charset="-120"/>
              </a:rPr>
              <a:t>RISK DATA REPO</a:t>
            </a:r>
            <a:endParaRPr lang="en-US" sz="1000" dirty="0">
              <a:solidFill>
                <a:srgbClr val="000000"/>
              </a:solidFill>
              <a:latin typeface="Aptos" panose="020B0004020202020204" pitchFamily="34" charset="0"/>
            </a:endParaRPr>
          </a:p>
        </p:txBody>
      </p:sp>
      <p:sp>
        <p:nvSpPr>
          <p:cNvPr id="251" name="Shape 146">
            <a:extLst>
              <a:ext uri="{FF2B5EF4-FFF2-40B4-BE49-F238E27FC236}">
                <a16:creationId xmlns:a16="http://schemas.microsoft.com/office/drawing/2014/main" id="{C8F44CC1-AD58-0374-475E-52D00F6EC5FE}"/>
              </a:ext>
            </a:extLst>
          </p:cNvPr>
          <p:cNvSpPr/>
          <p:nvPr/>
        </p:nvSpPr>
        <p:spPr>
          <a:xfrm>
            <a:off x="4672732" y="5328351"/>
            <a:ext cx="1241139" cy="707045"/>
          </a:xfrm>
          <a:prstGeom prst="rect">
            <a:avLst/>
          </a:prstGeom>
          <a:solidFill>
            <a:srgbClr val="FFFFFF"/>
          </a:solidFill>
          <a:ln w="12700">
            <a:solidFill>
              <a:srgbClr val="1F7B82"/>
            </a:solidFill>
            <a:prstDash val="solid"/>
          </a:ln>
          <a:effectLst>
            <a:outerShdw blurRad="50800" dist="12700" dir="8100000" algn="bl" rotWithShape="0">
              <a:srgbClr val="000000">
                <a:alpha val="8000"/>
              </a:srgbClr>
            </a:outerShdw>
          </a:effectLst>
        </p:spPr>
        <p:txBody>
          <a:bodyPr/>
          <a:lstStyle/>
          <a:p>
            <a:pPr algn="ctr" defTabSz="554019"/>
            <a:endParaRPr lang="en-US" sz="819">
              <a:solidFill>
                <a:srgbClr val="000000"/>
              </a:solidFill>
              <a:latin typeface="Aptos" panose="020B0004020202020204" pitchFamily="34" charset="0"/>
            </a:endParaRPr>
          </a:p>
        </p:txBody>
      </p:sp>
      <p:sp>
        <p:nvSpPr>
          <p:cNvPr id="252" name="Text 148">
            <a:extLst>
              <a:ext uri="{FF2B5EF4-FFF2-40B4-BE49-F238E27FC236}">
                <a16:creationId xmlns:a16="http://schemas.microsoft.com/office/drawing/2014/main" id="{B316014B-2741-8E37-55F3-40903395141A}"/>
              </a:ext>
            </a:extLst>
          </p:cNvPr>
          <p:cNvSpPr/>
          <p:nvPr/>
        </p:nvSpPr>
        <p:spPr>
          <a:xfrm>
            <a:off x="4730652" y="5425600"/>
            <a:ext cx="1125299" cy="299136"/>
          </a:xfrm>
          <a:prstGeom prst="rect">
            <a:avLst/>
          </a:prstGeom>
          <a:noFill/>
          <a:ln/>
        </p:spPr>
        <p:txBody>
          <a:bodyPr wrap="square" lIns="0" tIns="0" rIns="0" bIns="0" rtlCol="0" anchor="t"/>
          <a:lstStyle/>
          <a:p>
            <a:pPr algn="ctr" defTabSz="554019"/>
            <a:r>
              <a:rPr lang="en-US" sz="1000" b="1" dirty="0">
                <a:solidFill>
                  <a:srgbClr val="0B2447"/>
                </a:solidFill>
                <a:latin typeface="Aptos" panose="020B0004020202020204" pitchFamily="34" charset="0"/>
                <a:ea typeface="Calibri" pitchFamily="34" charset="-122"/>
                <a:cs typeface="Calibri" pitchFamily="34" charset="-120"/>
              </a:rPr>
              <a:t>Data Lake</a:t>
            </a:r>
            <a:endParaRPr lang="en-US" sz="1000" dirty="0">
              <a:solidFill>
                <a:srgbClr val="000000"/>
              </a:solidFill>
              <a:latin typeface="Aptos" panose="020B0004020202020204" pitchFamily="34" charset="0"/>
            </a:endParaRPr>
          </a:p>
        </p:txBody>
      </p:sp>
      <p:sp>
        <p:nvSpPr>
          <p:cNvPr id="254" name="Shape 150">
            <a:extLst>
              <a:ext uri="{FF2B5EF4-FFF2-40B4-BE49-F238E27FC236}">
                <a16:creationId xmlns:a16="http://schemas.microsoft.com/office/drawing/2014/main" id="{9FC369BE-A095-60BC-3F62-7CB44F27D280}"/>
              </a:ext>
            </a:extLst>
          </p:cNvPr>
          <p:cNvSpPr/>
          <p:nvPr/>
        </p:nvSpPr>
        <p:spPr>
          <a:xfrm>
            <a:off x="5996613" y="5328351"/>
            <a:ext cx="1241139" cy="707045"/>
          </a:xfrm>
          <a:prstGeom prst="rect">
            <a:avLst/>
          </a:prstGeom>
          <a:solidFill>
            <a:srgbClr val="FFFFFF"/>
          </a:solidFill>
          <a:ln w="12700">
            <a:solidFill>
              <a:srgbClr val="1F7B82"/>
            </a:solidFill>
            <a:prstDash val="solid"/>
          </a:ln>
          <a:effectLst>
            <a:outerShdw blurRad="50800" dist="12700" dir="8100000" algn="bl" rotWithShape="0">
              <a:srgbClr val="000000">
                <a:alpha val="8000"/>
              </a:srgbClr>
            </a:outerShdw>
          </a:effectLst>
        </p:spPr>
        <p:txBody>
          <a:bodyPr/>
          <a:lstStyle/>
          <a:p>
            <a:pPr algn="ctr" defTabSz="554019"/>
            <a:endParaRPr lang="en-US" sz="819">
              <a:solidFill>
                <a:srgbClr val="000000"/>
              </a:solidFill>
              <a:latin typeface="Aptos" panose="020B0004020202020204" pitchFamily="34" charset="0"/>
            </a:endParaRPr>
          </a:p>
        </p:txBody>
      </p:sp>
      <p:sp>
        <p:nvSpPr>
          <p:cNvPr id="255" name="Text 152">
            <a:extLst>
              <a:ext uri="{FF2B5EF4-FFF2-40B4-BE49-F238E27FC236}">
                <a16:creationId xmlns:a16="http://schemas.microsoft.com/office/drawing/2014/main" id="{EDE68A3A-EAA1-A065-494B-BDE0E19FE2DB}"/>
              </a:ext>
            </a:extLst>
          </p:cNvPr>
          <p:cNvSpPr/>
          <p:nvPr/>
        </p:nvSpPr>
        <p:spPr>
          <a:xfrm>
            <a:off x="6054532" y="5425600"/>
            <a:ext cx="1125299" cy="299136"/>
          </a:xfrm>
          <a:prstGeom prst="rect">
            <a:avLst/>
          </a:prstGeom>
          <a:noFill/>
          <a:ln/>
        </p:spPr>
        <p:txBody>
          <a:bodyPr wrap="square" lIns="0" tIns="0" rIns="0" bIns="0" rtlCol="0" anchor="t"/>
          <a:lstStyle/>
          <a:p>
            <a:pPr algn="ctr" defTabSz="554019"/>
            <a:r>
              <a:rPr lang="en-US" sz="1000" b="1" dirty="0">
                <a:solidFill>
                  <a:srgbClr val="0B2447"/>
                </a:solidFill>
                <a:latin typeface="Aptos" panose="020B0004020202020204" pitchFamily="34" charset="0"/>
                <a:ea typeface="Calibri" pitchFamily="34" charset="-122"/>
                <a:cs typeface="Calibri" pitchFamily="34" charset="-120"/>
              </a:rPr>
              <a:t>Operational DB</a:t>
            </a:r>
            <a:endParaRPr lang="en-US" sz="1000" dirty="0">
              <a:solidFill>
                <a:srgbClr val="000000"/>
              </a:solidFill>
              <a:latin typeface="Aptos" panose="020B0004020202020204" pitchFamily="34" charset="0"/>
            </a:endParaRPr>
          </a:p>
        </p:txBody>
      </p:sp>
      <p:sp>
        <p:nvSpPr>
          <p:cNvPr id="256" name="Text 153">
            <a:extLst>
              <a:ext uri="{FF2B5EF4-FFF2-40B4-BE49-F238E27FC236}">
                <a16:creationId xmlns:a16="http://schemas.microsoft.com/office/drawing/2014/main" id="{0B821A0F-53B0-ECC6-942B-FC6A48120BC2}"/>
              </a:ext>
            </a:extLst>
          </p:cNvPr>
          <p:cNvSpPr/>
          <p:nvPr/>
        </p:nvSpPr>
        <p:spPr>
          <a:xfrm>
            <a:off x="6054532" y="5791186"/>
            <a:ext cx="1125299" cy="380717"/>
          </a:xfrm>
          <a:prstGeom prst="rect">
            <a:avLst/>
          </a:prstGeom>
          <a:noFill/>
          <a:ln/>
        </p:spPr>
        <p:txBody>
          <a:bodyPr wrap="square" lIns="0" tIns="0" rIns="0" bIns="0" rtlCol="0" anchor="t"/>
          <a:lstStyle/>
          <a:p>
            <a:pPr algn="ctr" defTabSz="554019"/>
            <a:r>
              <a:rPr lang="en-US" sz="780" dirty="0">
                <a:solidFill>
                  <a:srgbClr val="5A6B8A"/>
                </a:solidFill>
                <a:latin typeface="Aptos" panose="020B0004020202020204" pitchFamily="34" charset="0"/>
                <a:ea typeface="Calibri" pitchFamily="34" charset="-122"/>
                <a:cs typeface="Calibri" pitchFamily="34" charset="-120"/>
              </a:rPr>
              <a:t>PostgreSQL (RDS)</a:t>
            </a:r>
            <a:endParaRPr lang="en-US" sz="780" dirty="0">
              <a:solidFill>
                <a:srgbClr val="000000"/>
              </a:solidFill>
              <a:latin typeface="Aptos" panose="020B0004020202020204" pitchFamily="34" charset="0"/>
            </a:endParaRPr>
          </a:p>
        </p:txBody>
      </p:sp>
      <p:sp>
        <p:nvSpPr>
          <p:cNvPr id="257" name="Shape 154">
            <a:extLst>
              <a:ext uri="{FF2B5EF4-FFF2-40B4-BE49-F238E27FC236}">
                <a16:creationId xmlns:a16="http://schemas.microsoft.com/office/drawing/2014/main" id="{C6D2978F-1029-38A3-BDF6-B1BCB12A1310}"/>
              </a:ext>
            </a:extLst>
          </p:cNvPr>
          <p:cNvSpPr/>
          <p:nvPr/>
        </p:nvSpPr>
        <p:spPr>
          <a:xfrm>
            <a:off x="7320493" y="5328351"/>
            <a:ext cx="1241139" cy="707045"/>
          </a:xfrm>
          <a:prstGeom prst="rect">
            <a:avLst/>
          </a:prstGeom>
          <a:solidFill>
            <a:srgbClr val="FFFFFF"/>
          </a:solidFill>
          <a:ln w="12700">
            <a:solidFill>
              <a:srgbClr val="1F7B82"/>
            </a:solidFill>
            <a:prstDash val="solid"/>
          </a:ln>
          <a:effectLst>
            <a:outerShdw blurRad="50800" dist="12700" dir="8100000" algn="bl" rotWithShape="0">
              <a:srgbClr val="000000">
                <a:alpha val="8000"/>
              </a:srgbClr>
            </a:outerShdw>
          </a:effectLst>
        </p:spPr>
        <p:txBody>
          <a:bodyPr/>
          <a:lstStyle/>
          <a:p>
            <a:pPr algn="ctr" defTabSz="554019"/>
            <a:endParaRPr lang="en-US" sz="819">
              <a:solidFill>
                <a:srgbClr val="000000"/>
              </a:solidFill>
              <a:latin typeface="Aptos" panose="020B0004020202020204" pitchFamily="34" charset="0"/>
            </a:endParaRPr>
          </a:p>
        </p:txBody>
      </p:sp>
      <p:sp>
        <p:nvSpPr>
          <p:cNvPr id="258" name="Text 156">
            <a:extLst>
              <a:ext uri="{FF2B5EF4-FFF2-40B4-BE49-F238E27FC236}">
                <a16:creationId xmlns:a16="http://schemas.microsoft.com/office/drawing/2014/main" id="{3ACE593B-1878-A891-66AF-C6384EB61F1C}"/>
              </a:ext>
            </a:extLst>
          </p:cNvPr>
          <p:cNvSpPr/>
          <p:nvPr/>
        </p:nvSpPr>
        <p:spPr>
          <a:xfrm>
            <a:off x="7378413" y="5425600"/>
            <a:ext cx="1125299" cy="299136"/>
          </a:xfrm>
          <a:prstGeom prst="rect">
            <a:avLst/>
          </a:prstGeom>
          <a:noFill/>
          <a:ln/>
        </p:spPr>
        <p:txBody>
          <a:bodyPr wrap="square" lIns="0" tIns="0" rIns="0" bIns="0" rtlCol="0" anchor="t"/>
          <a:lstStyle/>
          <a:p>
            <a:pPr algn="ctr" defTabSz="554019"/>
            <a:r>
              <a:rPr lang="en-US" sz="1000" b="1" dirty="0">
                <a:solidFill>
                  <a:srgbClr val="0B2447"/>
                </a:solidFill>
                <a:latin typeface="Aptos" panose="020B0004020202020204" pitchFamily="34" charset="0"/>
                <a:ea typeface="Calibri" pitchFamily="34" charset="-122"/>
                <a:cs typeface="Calibri" pitchFamily="34" charset="-120"/>
              </a:rPr>
              <a:t>Time-Series Store</a:t>
            </a:r>
            <a:endParaRPr lang="en-US" sz="1000" dirty="0">
              <a:solidFill>
                <a:srgbClr val="000000"/>
              </a:solidFill>
              <a:latin typeface="Aptos" panose="020B0004020202020204" pitchFamily="34" charset="0"/>
            </a:endParaRPr>
          </a:p>
        </p:txBody>
      </p:sp>
      <p:sp>
        <p:nvSpPr>
          <p:cNvPr id="259" name="Text 157">
            <a:extLst>
              <a:ext uri="{FF2B5EF4-FFF2-40B4-BE49-F238E27FC236}">
                <a16:creationId xmlns:a16="http://schemas.microsoft.com/office/drawing/2014/main" id="{84A742F1-8BE1-E2F3-C1FA-09D738A6ED9E}"/>
              </a:ext>
            </a:extLst>
          </p:cNvPr>
          <p:cNvSpPr/>
          <p:nvPr/>
        </p:nvSpPr>
        <p:spPr>
          <a:xfrm>
            <a:off x="7378413" y="5791186"/>
            <a:ext cx="1125299" cy="380717"/>
          </a:xfrm>
          <a:prstGeom prst="rect">
            <a:avLst/>
          </a:prstGeom>
          <a:noFill/>
          <a:ln/>
        </p:spPr>
        <p:txBody>
          <a:bodyPr wrap="square" lIns="0" tIns="0" rIns="0" bIns="0" rtlCol="0" anchor="t"/>
          <a:lstStyle/>
          <a:p>
            <a:pPr algn="ctr" defTabSz="554019"/>
            <a:endParaRPr lang="en-US" sz="780" dirty="0">
              <a:solidFill>
                <a:srgbClr val="000000"/>
              </a:solidFill>
              <a:latin typeface="Aptos" panose="020B0004020202020204" pitchFamily="34" charset="0"/>
            </a:endParaRPr>
          </a:p>
        </p:txBody>
      </p:sp>
      <p:sp>
        <p:nvSpPr>
          <p:cNvPr id="260" name="Shape 158">
            <a:extLst>
              <a:ext uri="{FF2B5EF4-FFF2-40B4-BE49-F238E27FC236}">
                <a16:creationId xmlns:a16="http://schemas.microsoft.com/office/drawing/2014/main" id="{E8E3270A-1BDE-8FC2-AA7D-20BC5C31ED5C}"/>
              </a:ext>
            </a:extLst>
          </p:cNvPr>
          <p:cNvSpPr/>
          <p:nvPr/>
        </p:nvSpPr>
        <p:spPr>
          <a:xfrm>
            <a:off x="8644375" y="5328351"/>
            <a:ext cx="1241139" cy="707045"/>
          </a:xfrm>
          <a:prstGeom prst="rect">
            <a:avLst/>
          </a:prstGeom>
          <a:solidFill>
            <a:srgbClr val="FFFFFF"/>
          </a:solidFill>
          <a:ln w="12700">
            <a:solidFill>
              <a:srgbClr val="1F7B82"/>
            </a:solidFill>
            <a:prstDash val="solid"/>
          </a:ln>
          <a:effectLst>
            <a:outerShdw blurRad="50800" dist="12700" dir="8100000" algn="bl" rotWithShape="0">
              <a:srgbClr val="000000">
                <a:alpha val="8000"/>
              </a:srgbClr>
            </a:outerShdw>
          </a:effectLst>
        </p:spPr>
        <p:txBody>
          <a:bodyPr/>
          <a:lstStyle/>
          <a:p>
            <a:pPr algn="ctr" defTabSz="554019"/>
            <a:endParaRPr lang="en-US" sz="819">
              <a:solidFill>
                <a:srgbClr val="000000"/>
              </a:solidFill>
              <a:latin typeface="Aptos" panose="020B0004020202020204" pitchFamily="34" charset="0"/>
            </a:endParaRPr>
          </a:p>
        </p:txBody>
      </p:sp>
      <p:sp>
        <p:nvSpPr>
          <p:cNvPr id="261" name="Text 160">
            <a:extLst>
              <a:ext uri="{FF2B5EF4-FFF2-40B4-BE49-F238E27FC236}">
                <a16:creationId xmlns:a16="http://schemas.microsoft.com/office/drawing/2014/main" id="{BCBB5B00-4B08-5533-394D-D90759F65ED2}"/>
              </a:ext>
            </a:extLst>
          </p:cNvPr>
          <p:cNvSpPr/>
          <p:nvPr/>
        </p:nvSpPr>
        <p:spPr>
          <a:xfrm>
            <a:off x="8702295" y="5425600"/>
            <a:ext cx="1125299" cy="299136"/>
          </a:xfrm>
          <a:prstGeom prst="rect">
            <a:avLst/>
          </a:prstGeom>
          <a:noFill/>
          <a:ln/>
        </p:spPr>
        <p:txBody>
          <a:bodyPr wrap="square" lIns="0" tIns="0" rIns="0" bIns="0" rtlCol="0" anchor="t"/>
          <a:lstStyle/>
          <a:p>
            <a:pPr algn="ctr" defTabSz="554019"/>
            <a:r>
              <a:rPr lang="en-US" sz="1000" b="1" dirty="0">
                <a:solidFill>
                  <a:srgbClr val="0B2447"/>
                </a:solidFill>
                <a:latin typeface="Aptos" panose="020B0004020202020204" pitchFamily="34" charset="0"/>
                <a:ea typeface="Calibri" pitchFamily="34" charset="-122"/>
                <a:cs typeface="Calibri" pitchFamily="34" charset="-120"/>
              </a:rPr>
              <a:t>In-Memory Cache</a:t>
            </a:r>
            <a:endParaRPr lang="en-US" sz="1000" dirty="0">
              <a:solidFill>
                <a:srgbClr val="000000"/>
              </a:solidFill>
              <a:latin typeface="Aptos" panose="020B0004020202020204" pitchFamily="34" charset="0"/>
            </a:endParaRPr>
          </a:p>
        </p:txBody>
      </p:sp>
      <p:sp>
        <p:nvSpPr>
          <p:cNvPr id="262" name="Text 161">
            <a:extLst>
              <a:ext uri="{FF2B5EF4-FFF2-40B4-BE49-F238E27FC236}">
                <a16:creationId xmlns:a16="http://schemas.microsoft.com/office/drawing/2014/main" id="{4A4F9C95-AFF8-CA76-0093-F162BCDE560F}"/>
              </a:ext>
            </a:extLst>
          </p:cNvPr>
          <p:cNvSpPr/>
          <p:nvPr/>
        </p:nvSpPr>
        <p:spPr>
          <a:xfrm>
            <a:off x="8702295" y="5791186"/>
            <a:ext cx="1125299" cy="380717"/>
          </a:xfrm>
          <a:prstGeom prst="rect">
            <a:avLst/>
          </a:prstGeom>
          <a:noFill/>
          <a:ln/>
        </p:spPr>
        <p:txBody>
          <a:bodyPr wrap="square" lIns="0" tIns="0" rIns="0" bIns="0" rtlCol="0" anchor="t"/>
          <a:lstStyle/>
          <a:p>
            <a:pPr algn="ctr" defTabSz="554019"/>
            <a:r>
              <a:rPr lang="en-US" sz="780" dirty="0">
                <a:solidFill>
                  <a:srgbClr val="5A6B8A"/>
                </a:solidFill>
                <a:latin typeface="Aptos" panose="020B0004020202020204" pitchFamily="34" charset="0"/>
                <a:ea typeface="Calibri" pitchFamily="34" charset="-122"/>
                <a:cs typeface="Calibri" pitchFamily="34" charset="-120"/>
              </a:rPr>
              <a:t>Redis · sub-ms</a:t>
            </a:r>
            <a:endParaRPr lang="en-US" sz="780" dirty="0">
              <a:solidFill>
                <a:srgbClr val="000000"/>
              </a:solidFill>
              <a:latin typeface="Aptos" panose="020B0004020202020204" pitchFamily="34" charset="0"/>
            </a:endParaRPr>
          </a:p>
        </p:txBody>
      </p:sp>
      <p:sp>
        <p:nvSpPr>
          <p:cNvPr id="263" name="Shape 162">
            <a:extLst>
              <a:ext uri="{FF2B5EF4-FFF2-40B4-BE49-F238E27FC236}">
                <a16:creationId xmlns:a16="http://schemas.microsoft.com/office/drawing/2014/main" id="{F6B4717B-F01A-74B9-C917-4FB9AE4A42D1}"/>
              </a:ext>
            </a:extLst>
          </p:cNvPr>
          <p:cNvSpPr/>
          <p:nvPr/>
        </p:nvSpPr>
        <p:spPr>
          <a:xfrm>
            <a:off x="9968255" y="5328351"/>
            <a:ext cx="1241139" cy="707045"/>
          </a:xfrm>
          <a:prstGeom prst="rect">
            <a:avLst/>
          </a:prstGeom>
          <a:solidFill>
            <a:srgbClr val="FFFFFF"/>
          </a:solidFill>
          <a:ln w="12700">
            <a:solidFill>
              <a:srgbClr val="1F7B82"/>
            </a:solidFill>
            <a:prstDash val="solid"/>
          </a:ln>
          <a:effectLst>
            <a:outerShdw blurRad="50800" dist="12700" dir="8100000" algn="bl" rotWithShape="0">
              <a:srgbClr val="000000">
                <a:alpha val="8000"/>
              </a:srgbClr>
            </a:outerShdw>
          </a:effectLst>
        </p:spPr>
        <p:txBody>
          <a:bodyPr/>
          <a:lstStyle/>
          <a:p>
            <a:pPr algn="ctr" defTabSz="554019"/>
            <a:endParaRPr lang="en-US" sz="819">
              <a:solidFill>
                <a:srgbClr val="000000"/>
              </a:solidFill>
              <a:latin typeface="Aptos" panose="020B0004020202020204" pitchFamily="34" charset="0"/>
            </a:endParaRPr>
          </a:p>
        </p:txBody>
      </p:sp>
      <p:sp>
        <p:nvSpPr>
          <p:cNvPr id="264" name="Text 164">
            <a:extLst>
              <a:ext uri="{FF2B5EF4-FFF2-40B4-BE49-F238E27FC236}">
                <a16:creationId xmlns:a16="http://schemas.microsoft.com/office/drawing/2014/main" id="{E63DE375-DF12-BDC4-F1B4-494ECD8FE6C2}"/>
              </a:ext>
            </a:extLst>
          </p:cNvPr>
          <p:cNvSpPr/>
          <p:nvPr/>
        </p:nvSpPr>
        <p:spPr>
          <a:xfrm>
            <a:off x="10026175" y="5425600"/>
            <a:ext cx="1125299" cy="299136"/>
          </a:xfrm>
          <a:prstGeom prst="rect">
            <a:avLst/>
          </a:prstGeom>
          <a:noFill/>
          <a:ln/>
        </p:spPr>
        <p:txBody>
          <a:bodyPr wrap="square" lIns="0" tIns="0" rIns="0" bIns="0" rtlCol="0" anchor="t"/>
          <a:lstStyle/>
          <a:p>
            <a:pPr algn="ctr" defTabSz="554019"/>
            <a:r>
              <a:rPr lang="en-US" sz="1000" b="1" dirty="0">
                <a:solidFill>
                  <a:srgbClr val="0B2447"/>
                </a:solidFill>
                <a:latin typeface="Aptos" panose="020B0004020202020204" pitchFamily="34" charset="0"/>
                <a:ea typeface="Calibri" pitchFamily="34" charset="-122"/>
                <a:cs typeface="Calibri" pitchFamily="34" charset="-120"/>
              </a:rPr>
              <a:t>Catalog + DQ</a:t>
            </a:r>
            <a:endParaRPr lang="en-US" sz="1000" dirty="0">
              <a:solidFill>
                <a:srgbClr val="000000"/>
              </a:solidFill>
              <a:latin typeface="Aptos" panose="020B0004020202020204" pitchFamily="34" charset="0"/>
            </a:endParaRPr>
          </a:p>
        </p:txBody>
      </p:sp>
      <p:sp>
        <p:nvSpPr>
          <p:cNvPr id="265" name="Text 165">
            <a:extLst>
              <a:ext uri="{FF2B5EF4-FFF2-40B4-BE49-F238E27FC236}">
                <a16:creationId xmlns:a16="http://schemas.microsoft.com/office/drawing/2014/main" id="{8DA1C0B7-1961-536E-B32F-6C0C8A2B7940}"/>
              </a:ext>
            </a:extLst>
          </p:cNvPr>
          <p:cNvSpPr/>
          <p:nvPr/>
        </p:nvSpPr>
        <p:spPr>
          <a:xfrm>
            <a:off x="10026175" y="5791186"/>
            <a:ext cx="1125299" cy="380717"/>
          </a:xfrm>
          <a:prstGeom prst="rect">
            <a:avLst/>
          </a:prstGeom>
          <a:noFill/>
          <a:ln/>
        </p:spPr>
        <p:txBody>
          <a:bodyPr wrap="square" lIns="0" tIns="0" rIns="0" bIns="0" rtlCol="0" anchor="t"/>
          <a:lstStyle/>
          <a:p>
            <a:pPr algn="ctr" defTabSz="554019"/>
            <a:r>
              <a:rPr lang="en-US" sz="780" dirty="0">
                <a:solidFill>
                  <a:srgbClr val="5A6B8A"/>
                </a:solidFill>
                <a:latin typeface="Aptos" panose="020B0004020202020204" pitchFamily="34" charset="0"/>
                <a:ea typeface="Calibri" pitchFamily="34" charset="-122"/>
                <a:cs typeface="Calibri" pitchFamily="34" charset="-120"/>
              </a:rPr>
              <a:t>OpenMetadata · GE</a:t>
            </a:r>
            <a:endParaRPr lang="en-US" sz="780" dirty="0">
              <a:solidFill>
                <a:srgbClr val="000000"/>
              </a:solidFill>
              <a:latin typeface="Aptos" panose="020B0004020202020204" pitchFamily="34" charset="0"/>
            </a:endParaRPr>
          </a:p>
        </p:txBody>
      </p:sp>
      <p:sp>
        <p:nvSpPr>
          <p:cNvPr id="266" name="Text 125">
            <a:extLst>
              <a:ext uri="{FF2B5EF4-FFF2-40B4-BE49-F238E27FC236}">
                <a16:creationId xmlns:a16="http://schemas.microsoft.com/office/drawing/2014/main" id="{302D4F5A-34B2-C21E-E123-68E802BB3839}"/>
              </a:ext>
            </a:extLst>
          </p:cNvPr>
          <p:cNvSpPr/>
          <p:nvPr/>
        </p:nvSpPr>
        <p:spPr>
          <a:xfrm>
            <a:off x="3355426" y="5328351"/>
            <a:ext cx="1166671" cy="764432"/>
          </a:xfrm>
          <a:prstGeom prst="rect">
            <a:avLst/>
          </a:prstGeom>
          <a:noFill/>
          <a:ln/>
        </p:spPr>
        <p:txBody>
          <a:bodyPr wrap="square" lIns="0" tIns="0" rIns="0" bIns="0" rtlCol="0" anchor="t"/>
          <a:lstStyle/>
          <a:p>
            <a:pPr defTabSz="554019"/>
            <a:r>
              <a:rPr lang="en-US" sz="800" dirty="0">
                <a:solidFill>
                  <a:srgbClr val="D9E7F4"/>
                </a:solidFill>
                <a:latin typeface="Calibri" pitchFamily="34" charset="0"/>
                <a:ea typeface="Calibri" pitchFamily="34" charset="-122"/>
                <a:cs typeface="Calibri" pitchFamily="34" charset="-120"/>
              </a:rPr>
              <a:t>Market · Credit · Liquidity</a:t>
            </a:r>
            <a:endParaRPr lang="en-US" sz="800" dirty="0">
              <a:solidFill>
                <a:srgbClr val="000000"/>
              </a:solidFill>
              <a:latin typeface="Calibri" panose="020F0502020204030204"/>
            </a:endParaRPr>
          </a:p>
        </p:txBody>
      </p:sp>
      <p:pic>
        <p:nvPicPr>
          <p:cNvPr id="269" name="Graphic 268" descr="Database outline">
            <a:extLst>
              <a:ext uri="{FF2B5EF4-FFF2-40B4-BE49-F238E27FC236}">
                <a16:creationId xmlns:a16="http://schemas.microsoft.com/office/drawing/2014/main" id="{16040A9C-105C-AB75-94FE-08609DEC8A3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597803" y="5562639"/>
            <a:ext cx="422604" cy="422604"/>
          </a:xfrm>
          <a:prstGeom prst="rect">
            <a:avLst/>
          </a:prstGeom>
        </p:spPr>
      </p:pic>
      <p:sp>
        <p:nvSpPr>
          <p:cNvPr id="14" name="Shape 170">
            <a:extLst>
              <a:ext uri="{FF2B5EF4-FFF2-40B4-BE49-F238E27FC236}">
                <a16:creationId xmlns:a16="http://schemas.microsoft.com/office/drawing/2014/main" id="{4B1CC05C-C80A-46C6-2318-4B508E92600B}"/>
              </a:ext>
            </a:extLst>
          </p:cNvPr>
          <p:cNvSpPr/>
          <p:nvPr/>
        </p:nvSpPr>
        <p:spPr>
          <a:xfrm>
            <a:off x="4697554" y="4704588"/>
            <a:ext cx="1568337" cy="512064"/>
          </a:xfrm>
          <a:prstGeom prst="rect">
            <a:avLst/>
          </a:prstGeom>
          <a:solidFill>
            <a:srgbClr val="FFFFFF"/>
          </a:solidFill>
          <a:ln w="12700">
            <a:solidFill>
              <a:srgbClr val="4FA1A7"/>
            </a:solidFill>
            <a:prstDash val="solid"/>
          </a:ln>
          <a:effectLst>
            <a:outerShdw blurRad="50800" dist="12700" dir="8100000" algn="bl" rotWithShape="0">
              <a:srgbClr val="000000">
                <a:alpha val="8000"/>
              </a:srgbClr>
            </a:outerShdw>
          </a:effectLst>
        </p:spPr>
        <p:txBody>
          <a:bodyPr/>
          <a:lstStyle/>
          <a:p>
            <a:pPr defTabSz="554019"/>
            <a:endParaRPr lang="en-US" sz="819" dirty="0">
              <a:solidFill>
                <a:srgbClr val="000000"/>
              </a:solidFill>
              <a:latin typeface="Aptos" panose="020B0004020202020204" pitchFamily="34" charset="0"/>
            </a:endParaRPr>
          </a:p>
        </p:txBody>
      </p:sp>
      <p:sp>
        <p:nvSpPr>
          <p:cNvPr id="22" name="Text 172">
            <a:extLst>
              <a:ext uri="{FF2B5EF4-FFF2-40B4-BE49-F238E27FC236}">
                <a16:creationId xmlns:a16="http://schemas.microsoft.com/office/drawing/2014/main" id="{F020736B-51AC-B7F4-988F-63D574D6D1EC}"/>
              </a:ext>
            </a:extLst>
          </p:cNvPr>
          <p:cNvSpPr/>
          <p:nvPr/>
        </p:nvSpPr>
        <p:spPr>
          <a:xfrm>
            <a:off x="4730652" y="4787869"/>
            <a:ext cx="1452776" cy="201168"/>
          </a:xfrm>
          <a:prstGeom prst="rect">
            <a:avLst/>
          </a:prstGeom>
          <a:noFill/>
          <a:ln/>
        </p:spPr>
        <p:txBody>
          <a:bodyPr wrap="square" lIns="0" tIns="0" rIns="0" bIns="0" rtlCol="0" anchor="t"/>
          <a:lstStyle/>
          <a:p>
            <a:pPr algn="ctr" defTabSz="554019"/>
            <a:r>
              <a:rPr lang="en-US" sz="1000" b="1" dirty="0">
                <a:solidFill>
                  <a:srgbClr val="0B2447"/>
                </a:solidFill>
                <a:latin typeface="Aptos" panose="020B0004020202020204" pitchFamily="34" charset="0"/>
                <a:ea typeface="Calibri" pitchFamily="34" charset="-122"/>
                <a:cs typeface="Calibri" pitchFamily="34" charset="-120"/>
              </a:rPr>
              <a:t>Data Transformation</a:t>
            </a:r>
            <a:endParaRPr lang="en-US" sz="1000" dirty="0">
              <a:solidFill>
                <a:srgbClr val="000000"/>
              </a:solidFill>
              <a:latin typeface="Aptos" panose="020B0004020202020204" pitchFamily="34" charset="0"/>
            </a:endParaRPr>
          </a:p>
        </p:txBody>
      </p:sp>
    </p:spTree>
    <p:extLst>
      <p:ext uri="{BB962C8B-B14F-4D97-AF65-F5344CB8AC3E}">
        <p14:creationId xmlns:p14="http://schemas.microsoft.com/office/powerpoint/2010/main" val="288826144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HAPENAME" val="3. Subtitle"/>
</p:tagLst>
</file>

<file path=ppt/theme/theme1.xml><?xml version="1.0" encoding="utf-8"?>
<a:theme xmlns:a="http://schemas.openxmlformats.org/drawingml/2006/main" name="Content Slide_White">
  <a:themeElements>
    <a:clrScheme name="TCS Theme Color 2024">
      <a:dk1>
        <a:srgbClr val="000000"/>
      </a:dk1>
      <a:lt1>
        <a:srgbClr val="FFFFFF"/>
      </a:lt1>
      <a:dk2>
        <a:srgbClr val="1E2323"/>
      </a:dk2>
      <a:lt2>
        <a:srgbClr val="FFFFFF"/>
      </a:lt2>
      <a:accent1>
        <a:srgbClr val="4E84C4"/>
      </a:accent1>
      <a:accent2>
        <a:srgbClr val="54B948"/>
      </a:accent2>
      <a:accent3>
        <a:srgbClr val="FBB034"/>
      </a:accent3>
      <a:accent4>
        <a:srgbClr val="EF4135"/>
      </a:accent4>
      <a:accent5>
        <a:srgbClr val="F15A29"/>
      </a:accent5>
      <a:accent6>
        <a:srgbClr val="595959"/>
      </a:accent6>
      <a:hlink>
        <a:srgbClr val="0070C0"/>
      </a:hlink>
      <a:folHlink>
        <a:srgbClr val="F0B34F"/>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custClrLst>
    <a:custClr name="White">
      <a:srgbClr val="FFFFFF"/>
    </a:custClr>
    <a:custClr name="Black">
      <a:srgbClr val="000000"/>
    </a:custClr>
    <a:custClr name="Darker 2">
      <a:srgbClr val="2F4F76"/>
    </a:custClr>
    <a:custClr name="Darker 1">
      <a:srgbClr val="3E6A9D"/>
    </a:custClr>
    <a:custClr name="TCS Blue">
      <a:srgbClr val="4E84C4"/>
    </a:custClr>
    <a:custClr name="Lighter 1">
      <a:srgbClr val="719DD0"/>
    </a:custClr>
    <a:custClr name="Lighter 2">
      <a:srgbClr val="95B5DC"/>
    </a:custClr>
    <a:custClr name="Darker 2">
      <a:srgbClr val="326F2B"/>
    </a:custClr>
    <a:custClr name="Darker 1">
      <a:srgbClr val="43943A"/>
    </a:custClr>
    <a:custClr name="TCS Green">
      <a:srgbClr val="54B948"/>
    </a:custClr>
    <a:custClr name="Lighter 1">
      <a:srgbClr val="76C76D"/>
    </a:custClr>
    <a:custClr name="Lighter 2">
      <a:srgbClr val="98D591"/>
    </a:custClr>
    <a:custClr name="Darker 2">
      <a:srgbClr val="976A1A"/>
    </a:custClr>
    <a:custClr name="Darker 1">
      <a:srgbClr val="C98D2A"/>
    </a:custClr>
    <a:custClr name="TCS Yellow">
      <a:srgbClr val="FBB034"/>
    </a:custClr>
    <a:custClr name="Lighter 1">
      <a:srgbClr val="FCC05D"/>
    </a:custClr>
    <a:custClr name="Lighter 2">
      <a:srgbClr val="FDD085"/>
    </a:custClr>
    <a:custClr name="Darker 2">
      <a:srgbClr val="8F2720"/>
    </a:custClr>
    <a:custClr name="Darker 1">
      <a:srgbClr val="BF342A"/>
    </a:custClr>
    <a:custClr name="TCS Red">
      <a:srgbClr val="EF4135"/>
    </a:custClr>
    <a:custClr name="Lighter 1">
      <a:srgbClr val="F2675D"/>
    </a:custClr>
    <a:custClr name="Lighter 2">
      <a:srgbClr val="F58D86"/>
    </a:custClr>
    <a:custClr name="Darker 2">
      <a:srgbClr val="913619"/>
    </a:custClr>
    <a:custClr name="Darker 1">
      <a:srgbClr val="C14821"/>
    </a:custClr>
    <a:custClr name="TCS Orange">
      <a:srgbClr val="F15A29"/>
    </a:custClr>
    <a:custClr name="Lighter 1">
      <a:srgbClr val="F47B54"/>
    </a:custClr>
    <a:custClr name="Lighter 2">
      <a:srgbClr val="F79C7F"/>
    </a:custClr>
  </a:custClrLst>
  <a:extLst>
    <a:ext uri="{05A4C25C-085E-4340-85A3-A5531E510DB2}">
      <thm15:themeFamily xmlns:thm15="http://schemas.microsoft.com/office/thememl/2012/main" name="TCS_Company_Presentation_Template_Standard_16X9 2025" id="{4BAEE98A-CFE3-44DD-926E-3AB03471F7EE}" vid="{A7616F4E-4E3E-45F0-806C-A41E574CA80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1295</Words>
  <Application>Microsoft Macintosh PowerPoint</Application>
  <PresentationFormat>Widescreen</PresentationFormat>
  <Paragraphs>254</Paragraphs>
  <Slides>4</Slides>
  <Notes>2</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vt:i4>
      </vt:variant>
    </vt:vector>
  </HeadingPairs>
  <TitlesOfParts>
    <vt:vector size="14" baseType="lpstr">
      <vt:lpstr>Aptos</vt:lpstr>
      <vt:lpstr>Arial</vt:lpstr>
      <vt:lpstr>Calibri</vt:lpstr>
      <vt:lpstr>Consolas</vt:lpstr>
      <vt:lpstr>Courier New</vt:lpstr>
      <vt:lpstr>Segoe UI</vt:lpstr>
      <vt:lpstr>Segoe UI Semibold</vt:lpstr>
      <vt:lpstr>Symbol</vt:lpstr>
      <vt:lpstr>Wingdings</vt:lpstr>
      <vt:lpstr>Content Slide_White</vt:lpstr>
      <vt:lpstr>Functional architecture</vt:lpstr>
      <vt:lpstr>Functional layers</vt:lpstr>
      <vt:lpstr>Risk Transformation | RFP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Balamurugan Rajagopal</dc:creator>
  <cp:lastModifiedBy>Balamurugan Rajagopal</cp:lastModifiedBy>
  <cp:revision>1</cp:revision>
  <dcterms:created xsi:type="dcterms:W3CDTF">2026-04-21T21:32:31Z</dcterms:created>
  <dcterms:modified xsi:type="dcterms:W3CDTF">2026-04-23T12:57:34Z</dcterms:modified>
</cp:coreProperties>
</file>