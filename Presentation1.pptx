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14748364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>
      <p:cViewPr varScale="1">
        <p:scale>
          <a:sx n="107" d="100"/>
          <a:sy n="107" d="100"/>
        </p:scale>
        <p:origin x="9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183560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520751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790304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7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5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9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4" lvl="0" indent="-228584" defTabSz="121905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25578856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5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5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8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4" lvl="0" indent="-228584" defTabSz="121905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68243313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7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5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8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4" lvl="0" indent="-228584" defTabSz="121905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441371215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5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5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4" lvl="0" indent="-228584" defTabSz="121905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116841695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6" y="143890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121905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323" y="1135772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08699" y="6590128"/>
            <a:ext cx="2501900" cy="16956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933"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933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1219110"/>
            <a:fld id="{662A0901-ACEF-4BE9-9C8C-C119B421173E}" type="slidenum">
              <a:rPr lang="en-GB" smtClean="0"/>
              <a:pPr algn="ctr" defTabSz="121911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01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sldNum="0"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IN" sz="28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304776" indent="-304776" algn="l" defTabSz="1219110" rtl="0" eaLnBrk="1" latinLnBrk="0" hangingPunct="1">
        <a:lnSpc>
          <a:spcPct val="90000"/>
        </a:lnSpc>
        <a:spcBef>
          <a:spcPts val="1333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18019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Symbol" panose="05050102010706020507" pitchFamily="18" charset="2"/>
        <a:buChar char="-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8565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19110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Courier New" panose="02070309020205020404" pitchFamily="49" charset="0"/>
        <a:buChar char="o"/>
        <a:tabLst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19653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>
          <p15:clr>
            <a:srgbClr val="F26B43"/>
          </p15:clr>
        </p15:guide>
        <p15:guide id="2" pos="172">
          <p15:clr>
            <a:srgbClr val="F26B43"/>
          </p15:clr>
        </p15:guide>
        <p15:guide id="3" pos="5573">
          <p15:clr>
            <a:srgbClr val="F26B43"/>
          </p15:clr>
        </p15:guide>
        <p15:guide id="4" orient="horz" pos="1720">
          <p15:clr>
            <a:srgbClr val="F26B43"/>
          </p15:clr>
        </p15:guide>
        <p15:guide id="5" orient="horz" pos="2916">
          <p15:clr>
            <a:srgbClr val="F26B43"/>
          </p15:clr>
        </p15:guide>
        <p15:guide id="6" orient="horz" pos="531">
          <p15:clr>
            <a:srgbClr val="F26B43"/>
          </p15:clr>
        </p15:guide>
        <p15:guide id="7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7D72-840A-9BD9-622E-42DAFE97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CE3C84-C850-4AA5-AF76-D4DC02FDD8C0}"/>
              </a:ext>
            </a:extLst>
          </p:cNvPr>
          <p:cNvSpPr/>
          <p:nvPr/>
        </p:nvSpPr>
        <p:spPr>
          <a:xfrm>
            <a:off x="341377" y="614478"/>
            <a:ext cx="5520539" cy="9363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E7483C-C37F-8106-ABC8-6AF4C6D79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6" y="17097"/>
            <a:ext cx="10514927" cy="499848"/>
          </a:xfrm>
        </p:spPr>
        <p:txBody>
          <a:bodyPr/>
          <a:lstStyle/>
          <a:p>
            <a:r>
              <a:rPr lang="en-IN" dirty="0"/>
              <a:t>Functional architecture</a:t>
            </a:r>
            <a:endParaRPr lang="en-IN" dirty="0">
              <a:ea typeface="Calibri"/>
              <a:cs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F426A8-721E-04A6-AA99-8FE0EE1D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54019"/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CB266C-C2E1-4743-9586-C162D000354E}"/>
              </a:ext>
            </a:extLst>
          </p:cNvPr>
          <p:cNvSpPr/>
          <p:nvPr/>
        </p:nvSpPr>
        <p:spPr>
          <a:xfrm>
            <a:off x="493364" y="760781"/>
            <a:ext cx="916056" cy="499848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Exchanges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8965B8-E93E-4D61-9C73-80010C7E894E}"/>
              </a:ext>
            </a:extLst>
          </p:cNvPr>
          <p:cNvSpPr/>
          <p:nvPr/>
        </p:nvSpPr>
        <p:spPr>
          <a:xfrm>
            <a:off x="1519943" y="760781"/>
            <a:ext cx="622997" cy="499848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CCP’s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13DA9C-00AA-4021-AA0E-E2EDA96ABB5D}"/>
              </a:ext>
            </a:extLst>
          </p:cNvPr>
          <p:cNvSpPr/>
          <p:nvPr/>
        </p:nvSpPr>
        <p:spPr>
          <a:xfrm>
            <a:off x="2243337" y="760781"/>
            <a:ext cx="864623" cy="499848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Custodian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293306-7628-43CE-82B7-08C51579A3E4}"/>
              </a:ext>
            </a:extLst>
          </p:cNvPr>
          <p:cNvSpPr/>
          <p:nvPr/>
        </p:nvSpPr>
        <p:spPr>
          <a:xfrm>
            <a:off x="3203199" y="749820"/>
            <a:ext cx="734024" cy="499848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Market data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92C03E-E84A-4DB9-8D98-476477C625B7}"/>
              </a:ext>
            </a:extLst>
          </p:cNvPr>
          <p:cNvSpPr/>
          <p:nvPr/>
        </p:nvSpPr>
        <p:spPr>
          <a:xfrm>
            <a:off x="18700" y="447246"/>
            <a:ext cx="360881" cy="3316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b="1" dirty="0">
                <a:solidFill>
                  <a:srgbClr val="FFFFFF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DB2076-F270-41FF-9A4B-204E00A151C9}"/>
              </a:ext>
            </a:extLst>
          </p:cNvPr>
          <p:cNvSpPr/>
          <p:nvPr/>
        </p:nvSpPr>
        <p:spPr>
          <a:xfrm>
            <a:off x="7089243" y="5558859"/>
            <a:ext cx="292608" cy="2850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933" b="1" dirty="0">
                <a:solidFill>
                  <a:srgbClr val="FFFFFF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F7D44D-9DFC-443A-AE77-78ACD41AF69A}"/>
              </a:ext>
            </a:extLst>
          </p:cNvPr>
          <p:cNvSpPr/>
          <p:nvPr/>
        </p:nvSpPr>
        <p:spPr>
          <a:xfrm>
            <a:off x="341379" y="1950714"/>
            <a:ext cx="5520539" cy="9363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5A826-14D3-4593-AD01-057FE81D921E}"/>
              </a:ext>
            </a:extLst>
          </p:cNvPr>
          <p:cNvSpPr/>
          <p:nvPr/>
        </p:nvSpPr>
        <p:spPr>
          <a:xfrm>
            <a:off x="468177" y="2058005"/>
            <a:ext cx="876203" cy="70429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Orders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(For execution)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12801B-FDCA-465E-9934-A85104371E9F}"/>
              </a:ext>
            </a:extLst>
          </p:cNvPr>
          <p:cNvSpPr/>
          <p:nvPr/>
        </p:nvSpPr>
        <p:spPr>
          <a:xfrm>
            <a:off x="1412655" y="2058004"/>
            <a:ext cx="945856" cy="70429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Trades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(Confirmation / failure)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DB1993-2DBD-418F-87F3-706797FEF690}"/>
              </a:ext>
            </a:extLst>
          </p:cNvPr>
          <p:cNvSpPr/>
          <p:nvPr/>
        </p:nvSpPr>
        <p:spPr>
          <a:xfrm>
            <a:off x="2425403" y="2058004"/>
            <a:ext cx="986735" cy="70429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Settlements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(Status/ collateral)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2C72A3-5C78-42BF-8A31-B425D326DBAB}"/>
              </a:ext>
            </a:extLst>
          </p:cNvPr>
          <p:cNvSpPr/>
          <p:nvPr/>
        </p:nvSpPr>
        <p:spPr>
          <a:xfrm>
            <a:off x="3485299" y="2058003"/>
            <a:ext cx="1061517" cy="70429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Market data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(Price/volatility/curves)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6743FC-AB5C-4FC9-8FAD-82E6BD6A5554}"/>
              </a:ext>
            </a:extLst>
          </p:cNvPr>
          <p:cNvSpPr txBox="1"/>
          <p:nvPr/>
        </p:nvSpPr>
        <p:spPr>
          <a:xfrm>
            <a:off x="503119" y="1260630"/>
            <a:ext cx="916056" cy="26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54019"/>
            <a:r>
              <a:rPr lang="en-US" sz="1091" dirty="0">
                <a:solidFill>
                  <a:srgbClr val="0070C0"/>
                </a:solidFill>
                <a:latin typeface="Calibri" panose="020F0502020204030204"/>
              </a:rPr>
              <a:t>FIX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DF976-32EF-429A-A021-E9AE46910B62}"/>
              </a:ext>
            </a:extLst>
          </p:cNvPr>
          <p:cNvSpPr txBox="1"/>
          <p:nvPr/>
        </p:nvSpPr>
        <p:spPr>
          <a:xfrm>
            <a:off x="1428918" y="1254189"/>
            <a:ext cx="824165" cy="26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54019"/>
            <a:r>
              <a:rPr lang="en-US" sz="1091" dirty="0">
                <a:solidFill>
                  <a:srgbClr val="0070C0"/>
                </a:solidFill>
                <a:latin typeface="Calibri" panose="020F0502020204030204"/>
              </a:rPr>
              <a:t>FIX /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F7716C-2E7E-46D4-9A18-D5CFACC92F3B}"/>
              </a:ext>
            </a:extLst>
          </p:cNvPr>
          <p:cNvSpPr txBox="1"/>
          <p:nvPr/>
        </p:nvSpPr>
        <p:spPr>
          <a:xfrm>
            <a:off x="2282347" y="1260446"/>
            <a:ext cx="924883" cy="26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54019"/>
            <a:r>
              <a:rPr lang="en-US" sz="1091" dirty="0">
                <a:solidFill>
                  <a:srgbClr val="0070C0"/>
                </a:solidFill>
                <a:latin typeface="Calibri" panose="020F0502020204030204"/>
              </a:rPr>
              <a:t>SWIFT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C0E052-8F32-4F76-9F4C-0D56C8548E97}"/>
              </a:ext>
            </a:extLst>
          </p:cNvPr>
          <p:cNvSpPr txBox="1"/>
          <p:nvPr/>
        </p:nvSpPr>
        <p:spPr>
          <a:xfrm>
            <a:off x="3135763" y="1258008"/>
            <a:ext cx="864621" cy="26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54019"/>
            <a:r>
              <a:rPr lang="en-US" sz="1091" dirty="0">
                <a:solidFill>
                  <a:srgbClr val="0070C0"/>
                </a:solidFill>
                <a:latin typeface="Calibri" panose="020F0502020204030204"/>
              </a:rPr>
              <a:t>API / SFTP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F5A83EF-A758-4047-82D2-A4D1A1E08532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2901701" y="1750768"/>
            <a:ext cx="399891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DFE2340-020D-47C4-9CCD-8DF36EEEB649}"/>
              </a:ext>
            </a:extLst>
          </p:cNvPr>
          <p:cNvSpPr txBox="1"/>
          <p:nvPr/>
        </p:nvSpPr>
        <p:spPr>
          <a:xfrm>
            <a:off x="3098397" y="1638601"/>
            <a:ext cx="2396129" cy="26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Near real time (message bus – Kafka)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D710027-915C-4C53-8DE7-45DF79D34228}"/>
              </a:ext>
            </a:extLst>
          </p:cNvPr>
          <p:cNvSpPr/>
          <p:nvPr/>
        </p:nvSpPr>
        <p:spPr>
          <a:xfrm>
            <a:off x="8612" y="1769441"/>
            <a:ext cx="360881" cy="3316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b="1" dirty="0">
                <a:solidFill>
                  <a:srgbClr val="FFFFFF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EC7379B-8BBA-4160-AEA4-D2D395AA9E11}"/>
              </a:ext>
            </a:extLst>
          </p:cNvPr>
          <p:cNvSpPr/>
          <p:nvPr/>
        </p:nvSpPr>
        <p:spPr>
          <a:xfrm>
            <a:off x="6201667" y="1949094"/>
            <a:ext cx="5845175" cy="93634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C4D6A1-062C-4398-93B6-6876DEE08C39}"/>
              </a:ext>
            </a:extLst>
          </p:cNvPr>
          <p:cNvSpPr/>
          <p:nvPr/>
        </p:nvSpPr>
        <p:spPr>
          <a:xfrm>
            <a:off x="6349599" y="2173426"/>
            <a:ext cx="1209448" cy="52669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Position keeping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(Gross/Net position)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6E6B01-C7B5-4A3A-89E6-F42BD4DD3582}"/>
              </a:ext>
            </a:extLst>
          </p:cNvPr>
          <p:cNvSpPr/>
          <p:nvPr/>
        </p:nvSpPr>
        <p:spPr>
          <a:xfrm>
            <a:off x="7651713" y="2173425"/>
            <a:ext cx="1331345" cy="52669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Intraday P&amp;L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(Realized/unrealized gain/loss)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C6634A-273F-4568-9779-86B410A1D0D7}"/>
              </a:ext>
            </a:extLst>
          </p:cNvPr>
          <p:cNvSpPr/>
          <p:nvPr/>
        </p:nvSpPr>
        <p:spPr>
          <a:xfrm>
            <a:off x="9100103" y="2173425"/>
            <a:ext cx="1284223" cy="52669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Sensitivity/Greeks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(DV01/PV01/delta/</a:t>
            </a:r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vega</a:t>
            </a:r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/gamma)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C6D61E-FF73-47C8-B0DF-9DB0D9863D7D}"/>
              </a:ext>
            </a:extLst>
          </p:cNvPr>
          <p:cNvSpPr/>
          <p:nvPr/>
        </p:nvSpPr>
        <p:spPr>
          <a:xfrm>
            <a:off x="10494875" y="2173423"/>
            <a:ext cx="1445155" cy="52669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Limit monitoring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(Notional/DV01 P&amp;L/ alerts/breaches)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5DF58B-F4E4-4FB0-85B6-CC34673D6F06}"/>
              </a:ext>
            </a:extLst>
          </p:cNvPr>
          <p:cNvSpPr/>
          <p:nvPr/>
        </p:nvSpPr>
        <p:spPr>
          <a:xfrm>
            <a:off x="11822509" y="1656441"/>
            <a:ext cx="360881" cy="3316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b="1" dirty="0">
                <a:solidFill>
                  <a:srgbClr val="FFFFFF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C00C09-9C95-486B-856D-16BA1163AB9C}"/>
              </a:ext>
            </a:extLst>
          </p:cNvPr>
          <p:cNvSpPr txBox="1"/>
          <p:nvPr/>
        </p:nvSpPr>
        <p:spPr>
          <a:xfrm>
            <a:off x="7417593" y="5558859"/>
            <a:ext cx="1215969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933" b="1" dirty="0">
                <a:solidFill>
                  <a:srgbClr val="0070C0"/>
                </a:solidFill>
                <a:latin typeface="Calibri" panose="020F0502020204030204"/>
              </a:rPr>
              <a:t>External sources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52F4EA6-E2B2-429A-B3D1-3359B903FA85}"/>
              </a:ext>
            </a:extLst>
          </p:cNvPr>
          <p:cNvSpPr/>
          <p:nvPr/>
        </p:nvSpPr>
        <p:spPr>
          <a:xfrm>
            <a:off x="8651433" y="5538421"/>
            <a:ext cx="274743" cy="2844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933" b="1" dirty="0">
                <a:solidFill>
                  <a:srgbClr val="FFFFFF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0A73D4-CF60-4905-A4B2-5FE8080A1F6B}"/>
              </a:ext>
            </a:extLst>
          </p:cNvPr>
          <p:cNvSpPr txBox="1"/>
          <p:nvPr/>
        </p:nvSpPr>
        <p:spPr>
          <a:xfrm>
            <a:off x="8961917" y="5517291"/>
            <a:ext cx="1276105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933" b="1" dirty="0">
                <a:solidFill>
                  <a:srgbClr val="0070C0"/>
                </a:solidFill>
                <a:latin typeface="Calibri" panose="020F0502020204030204"/>
              </a:rPr>
              <a:t>Data Integration &amp; normalization layer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AA9D0A8-10C7-48CE-9B11-D1F67A37C0C4}"/>
              </a:ext>
            </a:extLst>
          </p:cNvPr>
          <p:cNvSpPr/>
          <p:nvPr/>
        </p:nvSpPr>
        <p:spPr>
          <a:xfrm>
            <a:off x="10247759" y="5569330"/>
            <a:ext cx="292608" cy="258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933" b="1" dirty="0">
                <a:solidFill>
                  <a:srgbClr val="FFFFFF"/>
                </a:solidFill>
                <a:latin typeface="Calibri" panose="020F0502020204030204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59DBBB-29D3-44A9-B016-6D700CCA5987}"/>
              </a:ext>
            </a:extLst>
          </p:cNvPr>
          <p:cNvSpPr txBox="1"/>
          <p:nvPr/>
        </p:nvSpPr>
        <p:spPr>
          <a:xfrm>
            <a:off x="10620060" y="5492887"/>
            <a:ext cx="1443531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933" b="1" dirty="0">
                <a:solidFill>
                  <a:srgbClr val="0070C0"/>
                </a:solidFill>
                <a:latin typeface="Calibri" panose="020F0502020204030204"/>
              </a:rPr>
              <a:t>Exposure &amp; intra-day position monitoring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ECE99BC-F4A2-4858-A45A-E4ED51BAA317}"/>
              </a:ext>
            </a:extLst>
          </p:cNvPr>
          <p:cNvSpPr/>
          <p:nvPr/>
        </p:nvSpPr>
        <p:spPr>
          <a:xfrm>
            <a:off x="7081100" y="5926576"/>
            <a:ext cx="292609" cy="2850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933" b="1" dirty="0">
                <a:solidFill>
                  <a:srgbClr val="FFFFFF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7261F9-C202-4155-960C-24AE2CCB6272}"/>
              </a:ext>
            </a:extLst>
          </p:cNvPr>
          <p:cNvSpPr txBox="1"/>
          <p:nvPr/>
        </p:nvSpPr>
        <p:spPr>
          <a:xfrm>
            <a:off x="7440356" y="5850022"/>
            <a:ext cx="1287489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933" b="1" dirty="0">
                <a:solidFill>
                  <a:srgbClr val="0070C0"/>
                </a:solidFill>
                <a:latin typeface="Calibri" panose="020F0502020204030204"/>
              </a:rPr>
              <a:t>Risk calculation engines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FF39BFC-4FCA-418C-85E9-C63DFC76F6F7}"/>
              </a:ext>
            </a:extLst>
          </p:cNvPr>
          <p:cNvSpPr/>
          <p:nvPr/>
        </p:nvSpPr>
        <p:spPr>
          <a:xfrm>
            <a:off x="8667672" y="5865173"/>
            <a:ext cx="284507" cy="2667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933" b="1" dirty="0">
                <a:solidFill>
                  <a:srgbClr val="FFFFFF"/>
                </a:solidFill>
                <a:latin typeface="Calibri" panose="020F0502020204030204"/>
              </a:rPr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E54099-0BC1-4D05-8344-ADFA8ABC7003}"/>
              </a:ext>
            </a:extLst>
          </p:cNvPr>
          <p:cNvSpPr txBox="1"/>
          <p:nvPr/>
        </p:nvSpPr>
        <p:spPr>
          <a:xfrm>
            <a:off x="8940795" y="5886297"/>
            <a:ext cx="1306964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933" b="1" dirty="0">
                <a:solidFill>
                  <a:srgbClr val="0070C0"/>
                </a:solidFill>
                <a:latin typeface="Calibri" panose="020F0502020204030204"/>
              </a:rPr>
              <a:t>Stress Testing &amp; scenario analysis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4BBC836-8F90-4651-B432-5CBAD53F901A}"/>
              </a:ext>
            </a:extLst>
          </p:cNvPr>
          <p:cNvSpPr/>
          <p:nvPr/>
        </p:nvSpPr>
        <p:spPr>
          <a:xfrm>
            <a:off x="10238021" y="5876186"/>
            <a:ext cx="292608" cy="2844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933" b="1" dirty="0">
                <a:solidFill>
                  <a:srgbClr val="FFFFFF"/>
                </a:solidFill>
                <a:latin typeface="Calibri" panose="020F0502020204030204"/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6C1662-5D06-4C61-9F0F-500F0B1AC95E}"/>
              </a:ext>
            </a:extLst>
          </p:cNvPr>
          <p:cNvSpPr txBox="1"/>
          <p:nvPr/>
        </p:nvSpPr>
        <p:spPr>
          <a:xfrm>
            <a:off x="10615165" y="5835911"/>
            <a:ext cx="1402415" cy="37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933" b="1" dirty="0">
                <a:solidFill>
                  <a:srgbClr val="0070C0"/>
                </a:solidFill>
                <a:latin typeface="Calibri" panose="020F0502020204030204"/>
              </a:rPr>
              <a:t>Pre-trade &amp; eligibility checks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C1ADFE-D36F-4447-B768-B5ED9A1E3B77}"/>
              </a:ext>
            </a:extLst>
          </p:cNvPr>
          <p:cNvCxnSpPr>
            <a:cxnSpLocks/>
            <a:stCxn id="11" idx="3"/>
            <a:endCxn id="26" idx="1"/>
          </p:cNvCxnSpPr>
          <p:nvPr/>
        </p:nvCxnSpPr>
        <p:spPr>
          <a:xfrm flipV="1">
            <a:off x="5861918" y="2417267"/>
            <a:ext cx="339749" cy="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FD330D9-B5B3-4904-9A23-EA60CD483EBE}"/>
              </a:ext>
            </a:extLst>
          </p:cNvPr>
          <p:cNvSpPr txBox="1"/>
          <p:nvPr/>
        </p:nvSpPr>
        <p:spPr>
          <a:xfrm>
            <a:off x="5988716" y="1669295"/>
            <a:ext cx="2396129" cy="26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Near real time &amp; intraday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E564DB3-D9BD-40AE-9512-1D811AD5889D}"/>
              </a:ext>
            </a:extLst>
          </p:cNvPr>
          <p:cNvCxnSpPr>
            <a:cxnSpLocks/>
          </p:cNvCxnSpPr>
          <p:nvPr/>
        </p:nvCxnSpPr>
        <p:spPr>
          <a:xfrm flipH="1">
            <a:off x="6084623" y="1875920"/>
            <a:ext cx="91029" cy="48282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A7079B7-B071-4A3E-8C45-CBF2E5E17B0C}"/>
              </a:ext>
            </a:extLst>
          </p:cNvPr>
          <p:cNvSpPr/>
          <p:nvPr/>
        </p:nvSpPr>
        <p:spPr>
          <a:xfrm>
            <a:off x="6200047" y="3127651"/>
            <a:ext cx="5845175" cy="9363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F16A22-FBB0-466A-A3FE-EA994AF16420}"/>
              </a:ext>
            </a:extLst>
          </p:cNvPr>
          <p:cNvSpPr/>
          <p:nvPr/>
        </p:nvSpPr>
        <p:spPr>
          <a:xfrm>
            <a:off x="6328472" y="3234942"/>
            <a:ext cx="1453237" cy="70132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Market risk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(99% 10-day/hist sim/parametric var/Exp shortfall/IRC)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FB6EE0-09B8-4106-AB62-FC54F7A8E0E6}"/>
              </a:ext>
            </a:extLst>
          </p:cNvPr>
          <p:cNvSpPr/>
          <p:nvPr/>
        </p:nvSpPr>
        <p:spPr>
          <a:xfrm>
            <a:off x="7830476" y="3234940"/>
            <a:ext cx="1269621" cy="70132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CCR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(PFE/EPE/EE/CVA/DVA/FVA/wrong way risk/netting)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4E5AE6A-8454-4E48-9AF2-FB71CE3453CB}"/>
              </a:ext>
            </a:extLst>
          </p:cNvPr>
          <p:cNvSpPr/>
          <p:nvPr/>
        </p:nvSpPr>
        <p:spPr>
          <a:xfrm>
            <a:off x="9148865" y="3234940"/>
            <a:ext cx="1467923" cy="70132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Liquidity risk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(LCR/NSFR/Intraday liquidity/HQLA/Settlement exposure)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0E6E19-7AD8-4238-855D-8BDFF106FC50}"/>
              </a:ext>
            </a:extLst>
          </p:cNvPr>
          <p:cNvSpPr/>
          <p:nvPr/>
        </p:nvSpPr>
        <p:spPr>
          <a:xfrm>
            <a:off x="10659035" y="3234939"/>
            <a:ext cx="1269621" cy="70132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Margin calc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(Initial/variation margin, margin utilization / call)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3D55B90-DD5E-4FB1-8DB4-4EDF249C33D1}"/>
              </a:ext>
            </a:extLst>
          </p:cNvPr>
          <p:cNvSpPr/>
          <p:nvPr/>
        </p:nvSpPr>
        <p:spPr>
          <a:xfrm>
            <a:off x="11831120" y="3966464"/>
            <a:ext cx="360881" cy="3316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b="1" dirty="0">
                <a:solidFill>
                  <a:srgbClr val="FFFFFF"/>
                </a:solidFill>
                <a:latin typeface="Calibri" panose="020F0502020204030204"/>
              </a:rPr>
              <a:t>4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0B0DA87-8FD6-44EB-81A6-D1873E58EAE7}"/>
              </a:ext>
            </a:extLst>
          </p:cNvPr>
          <p:cNvCxnSpPr>
            <a:cxnSpLocks/>
            <a:stCxn id="26" idx="2"/>
            <a:endCxn id="50" idx="0"/>
          </p:cNvCxnSpPr>
          <p:nvPr/>
        </p:nvCxnSpPr>
        <p:spPr>
          <a:xfrm flipH="1">
            <a:off x="9122635" y="2885439"/>
            <a:ext cx="1620" cy="2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2212F0A-C3BA-4BD1-BEF8-31BE6B4C26D5}"/>
              </a:ext>
            </a:extLst>
          </p:cNvPr>
          <p:cNvSpPr/>
          <p:nvPr/>
        </p:nvSpPr>
        <p:spPr>
          <a:xfrm>
            <a:off x="339755" y="3127652"/>
            <a:ext cx="5520539" cy="94039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6A8E423-885E-4DE4-8091-9A8F47EFABF7}"/>
              </a:ext>
            </a:extLst>
          </p:cNvPr>
          <p:cNvSpPr/>
          <p:nvPr/>
        </p:nvSpPr>
        <p:spPr>
          <a:xfrm>
            <a:off x="437775" y="3223979"/>
            <a:ext cx="1340608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Historical scenarios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(Severe/highly severe et al)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AAA4E71-62A7-4EB2-BC17-920E0BAC062A}"/>
              </a:ext>
            </a:extLst>
          </p:cNvPr>
          <p:cNvSpPr/>
          <p:nvPr/>
        </p:nvSpPr>
        <p:spPr>
          <a:xfrm>
            <a:off x="1849941" y="3223977"/>
            <a:ext cx="1414260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Hypothetical shocks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</a:t>
            </a:r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Rate+bp</a:t>
            </a:r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, credit spread widening)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207E665-93DF-4F3A-99C5-74BAC77E23F2}"/>
              </a:ext>
            </a:extLst>
          </p:cNvPr>
          <p:cNvSpPr/>
          <p:nvPr/>
        </p:nvSpPr>
        <p:spPr>
          <a:xfrm>
            <a:off x="3332474" y="3223977"/>
            <a:ext cx="1174839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Reverse stress test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(Resilience/ICARA/ILSA input)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01A6570-927A-4740-8EF1-694EEEB808E3}"/>
              </a:ext>
            </a:extLst>
          </p:cNvPr>
          <p:cNvSpPr/>
          <p:nvPr/>
        </p:nvSpPr>
        <p:spPr>
          <a:xfrm>
            <a:off x="4571653" y="3223976"/>
            <a:ext cx="1174839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Sensitivity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(Pre-factor/multi-factor)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90DFE71-0807-42A5-A251-E79036E19EFF}"/>
              </a:ext>
            </a:extLst>
          </p:cNvPr>
          <p:cNvSpPr/>
          <p:nvPr/>
        </p:nvSpPr>
        <p:spPr>
          <a:xfrm>
            <a:off x="6988" y="2977262"/>
            <a:ext cx="360881" cy="3316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b="1" dirty="0">
                <a:solidFill>
                  <a:srgbClr val="FFFFFF"/>
                </a:solidFill>
                <a:latin typeface="Calibri" panose="020F0502020204030204"/>
              </a:rPr>
              <a:t>5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3A72900-85C0-49E2-9270-08E0473C8E2F}"/>
              </a:ext>
            </a:extLst>
          </p:cNvPr>
          <p:cNvCxnSpPr>
            <a:cxnSpLocks/>
            <a:stCxn id="50" idx="1"/>
            <a:endCxn id="58" idx="3"/>
          </p:cNvCxnSpPr>
          <p:nvPr/>
        </p:nvCxnSpPr>
        <p:spPr>
          <a:xfrm flipH="1">
            <a:off x="5860294" y="3595824"/>
            <a:ext cx="339753" cy="2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319786DD-338C-4948-96A2-9F479D391264}"/>
              </a:ext>
            </a:extLst>
          </p:cNvPr>
          <p:cNvSpPr/>
          <p:nvPr/>
        </p:nvSpPr>
        <p:spPr>
          <a:xfrm>
            <a:off x="338131" y="4345225"/>
            <a:ext cx="5520539" cy="94039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44565AA-7BE2-42B0-B44B-A364E324BD29}"/>
              </a:ext>
            </a:extLst>
          </p:cNvPr>
          <p:cNvSpPr/>
          <p:nvPr/>
        </p:nvSpPr>
        <p:spPr>
          <a:xfrm>
            <a:off x="436151" y="4441552"/>
            <a:ext cx="1340608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Credit &amp; limit checks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</a:t>
            </a:r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Cparty</a:t>
            </a:r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 credit lines – Notional/DV01)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A8404AF-992F-49CF-956F-1AAADFC67742}"/>
              </a:ext>
            </a:extLst>
          </p:cNvPr>
          <p:cNvSpPr/>
          <p:nvPr/>
        </p:nvSpPr>
        <p:spPr>
          <a:xfrm>
            <a:off x="1848317" y="4441551"/>
            <a:ext cx="1414260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Position &amp; velocity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(Long/short limits, fat finger, order rate)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873E1FF-5E38-4372-AB13-E34CD1CFE57F}"/>
              </a:ext>
            </a:extLst>
          </p:cNvPr>
          <p:cNvSpPr/>
          <p:nvPr/>
        </p:nvSpPr>
        <p:spPr>
          <a:xfrm>
            <a:off x="3330850" y="4441551"/>
            <a:ext cx="1174839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Avl</a:t>
            </a:r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 Margin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(Available collateral / margin impact)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8B87463-1467-4DDE-8ABA-14B57D6AF51D}"/>
              </a:ext>
            </a:extLst>
          </p:cNvPr>
          <p:cNvSpPr/>
          <p:nvPr/>
        </p:nvSpPr>
        <p:spPr>
          <a:xfrm>
            <a:off x="4570029" y="4441549"/>
            <a:ext cx="1174839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Reg checks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(Short sell, wash trade, suitability)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8B77CBA-C400-450A-8F20-CF9FE0600809}"/>
              </a:ext>
            </a:extLst>
          </p:cNvPr>
          <p:cNvSpPr/>
          <p:nvPr/>
        </p:nvSpPr>
        <p:spPr>
          <a:xfrm>
            <a:off x="5364" y="4194836"/>
            <a:ext cx="360881" cy="3316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b="1" dirty="0">
                <a:solidFill>
                  <a:srgbClr val="FFFFFF"/>
                </a:solidFill>
                <a:latin typeface="Calibri" panose="020F0502020204030204"/>
              </a:rPr>
              <a:t>6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D8EA04A-4384-48F6-87AF-1695B1163A0B}"/>
              </a:ext>
            </a:extLst>
          </p:cNvPr>
          <p:cNvSpPr/>
          <p:nvPr/>
        </p:nvSpPr>
        <p:spPr>
          <a:xfrm>
            <a:off x="7568793" y="623262"/>
            <a:ext cx="3111451" cy="8888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333" b="1" dirty="0">
                <a:solidFill>
                  <a:srgbClr val="000000"/>
                </a:solidFill>
                <a:latin typeface="Calibri" panose="020F0502020204030204"/>
              </a:rPr>
              <a:t>Dealer Interface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5F09B24-6A3F-4C6A-A252-425796E3DF02}"/>
              </a:ext>
            </a:extLst>
          </p:cNvPr>
          <p:cNvCxnSpPr>
            <a:cxnSpLocks/>
            <a:stCxn id="79" idx="2"/>
            <a:endCxn id="26" idx="0"/>
          </p:cNvCxnSpPr>
          <p:nvPr/>
        </p:nvCxnSpPr>
        <p:spPr>
          <a:xfrm flipH="1">
            <a:off x="9124255" y="1512151"/>
            <a:ext cx="264" cy="4369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669440-DCF1-439D-9D3B-9DFB0C501AF4}"/>
              </a:ext>
            </a:extLst>
          </p:cNvPr>
          <p:cNvCxnSpPr>
            <a:cxnSpLocks/>
          </p:cNvCxnSpPr>
          <p:nvPr/>
        </p:nvCxnSpPr>
        <p:spPr>
          <a:xfrm flipV="1">
            <a:off x="7602946" y="1812884"/>
            <a:ext cx="1448385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7EE1AA2A-A826-462A-B36F-0CE7A219ABE3}"/>
              </a:ext>
            </a:extLst>
          </p:cNvPr>
          <p:cNvSpPr/>
          <p:nvPr/>
        </p:nvSpPr>
        <p:spPr>
          <a:xfrm>
            <a:off x="6198423" y="4345223"/>
            <a:ext cx="5845175" cy="93634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8BDA564-806E-4901-A5CE-239617D37E2E}"/>
              </a:ext>
            </a:extLst>
          </p:cNvPr>
          <p:cNvSpPr/>
          <p:nvPr/>
        </p:nvSpPr>
        <p:spPr>
          <a:xfrm>
            <a:off x="6326848" y="4452514"/>
            <a:ext cx="1453237" cy="70132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MiFID/</a:t>
            </a:r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MiFIR</a:t>
            </a:r>
            <a:endParaRPr lang="en-US" sz="1091" dirty="0">
              <a:solidFill>
                <a:srgbClr val="000000"/>
              </a:solidFill>
              <a:latin typeface="Calibri" panose="020F0502020204030204"/>
            </a:endParaRP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(Transaction report, best execution)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ECF6892-6F82-403B-9B1A-8A0622E53E06}"/>
              </a:ext>
            </a:extLst>
          </p:cNvPr>
          <p:cNvSpPr/>
          <p:nvPr/>
        </p:nvSpPr>
        <p:spPr>
          <a:xfrm>
            <a:off x="7828852" y="4452512"/>
            <a:ext cx="1269621" cy="70132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UK EMIR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(Trade repository, margin/collateral data)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191F64C-BAB4-45EB-9B31-E02E2D5FFF4A}"/>
              </a:ext>
            </a:extLst>
          </p:cNvPr>
          <p:cNvSpPr/>
          <p:nvPr/>
        </p:nvSpPr>
        <p:spPr>
          <a:xfrm>
            <a:off x="9147241" y="4452512"/>
            <a:ext cx="1467923" cy="70132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ICARA/</a:t>
            </a:r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MiFIDPRU</a:t>
            </a:r>
            <a:endParaRPr lang="en-US" sz="1091" dirty="0">
              <a:solidFill>
                <a:srgbClr val="000000"/>
              </a:solidFill>
              <a:latin typeface="Calibri" panose="020F0502020204030204"/>
            </a:endParaRP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(Capital adequacy / Wind down planning)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B3FFC1A-00FC-4726-975E-FB860ACB09C5}"/>
              </a:ext>
            </a:extLst>
          </p:cNvPr>
          <p:cNvSpPr/>
          <p:nvPr/>
        </p:nvSpPr>
        <p:spPr>
          <a:xfrm>
            <a:off x="10657411" y="4452511"/>
            <a:ext cx="1269621" cy="70132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FCA supervision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(Fin crime, mkt abuse – SUP 16, position limits)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8343826-5853-48CB-90CE-8B9879DA2937}"/>
              </a:ext>
            </a:extLst>
          </p:cNvPr>
          <p:cNvSpPr/>
          <p:nvPr/>
        </p:nvSpPr>
        <p:spPr>
          <a:xfrm>
            <a:off x="11829496" y="5223049"/>
            <a:ext cx="360881" cy="3316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b="1" dirty="0">
                <a:solidFill>
                  <a:srgbClr val="FFFFFF"/>
                </a:solidFill>
                <a:latin typeface="Calibri" panose="020F0502020204030204"/>
              </a:rPr>
              <a:t>7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D772109-9BB7-460F-AD5E-5BEE7A19F9AD}"/>
              </a:ext>
            </a:extLst>
          </p:cNvPr>
          <p:cNvSpPr/>
          <p:nvPr/>
        </p:nvSpPr>
        <p:spPr>
          <a:xfrm>
            <a:off x="0" y="1656441"/>
            <a:ext cx="12192000" cy="371779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98834909-9B04-45C7-8250-FD470CD6EC17}"/>
              </a:ext>
            </a:extLst>
          </p:cNvPr>
          <p:cNvSpPr/>
          <p:nvPr/>
        </p:nvSpPr>
        <p:spPr>
          <a:xfrm>
            <a:off x="4040002" y="749779"/>
            <a:ext cx="797797" cy="499848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Treasury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BB82BF38-D5ED-46A0-9E40-C60C8F608A7C}"/>
              </a:ext>
            </a:extLst>
          </p:cNvPr>
          <p:cNvSpPr/>
          <p:nvPr/>
        </p:nvSpPr>
        <p:spPr>
          <a:xfrm>
            <a:off x="8861124" y="6269966"/>
            <a:ext cx="292608" cy="2584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933" b="1" dirty="0">
                <a:solidFill>
                  <a:srgbClr val="FFFFFF"/>
                </a:solidFill>
                <a:latin typeface="Calibri" panose="020F0502020204030204"/>
              </a:rPr>
              <a:t>7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C257066-9E0B-46A0-8323-C805F0179CF0}"/>
              </a:ext>
            </a:extLst>
          </p:cNvPr>
          <p:cNvSpPr txBox="1"/>
          <p:nvPr/>
        </p:nvSpPr>
        <p:spPr>
          <a:xfrm>
            <a:off x="9116386" y="6271549"/>
            <a:ext cx="1774661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933" b="1" dirty="0">
                <a:solidFill>
                  <a:srgbClr val="0070C0"/>
                </a:solidFill>
                <a:latin typeface="Calibri" panose="020F0502020204030204"/>
              </a:rPr>
              <a:t>Regulatory Reporting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E7033E98-F305-4649-A342-73021F7D959B}"/>
              </a:ext>
            </a:extLst>
          </p:cNvPr>
          <p:cNvSpPr/>
          <p:nvPr/>
        </p:nvSpPr>
        <p:spPr>
          <a:xfrm>
            <a:off x="8870896" y="6547562"/>
            <a:ext cx="292608" cy="2844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933" b="1" dirty="0">
                <a:solidFill>
                  <a:srgbClr val="FFFFFF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49F8EC-8AE1-4EDB-B9B9-B29AAC0CD4F3}"/>
              </a:ext>
            </a:extLst>
          </p:cNvPr>
          <p:cNvSpPr txBox="1"/>
          <p:nvPr/>
        </p:nvSpPr>
        <p:spPr>
          <a:xfrm>
            <a:off x="9121243" y="6526794"/>
            <a:ext cx="2153923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933" b="1" dirty="0" err="1">
                <a:solidFill>
                  <a:srgbClr val="0070C0"/>
                </a:solidFill>
                <a:latin typeface="Calibri" panose="020F0502020204030204"/>
              </a:rPr>
              <a:t>Mgmt</a:t>
            </a:r>
            <a:r>
              <a:rPr lang="en-US" sz="933" b="1" dirty="0">
                <a:solidFill>
                  <a:srgbClr val="0070C0"/>
                </a:solidFill>
                <a:latin typeface="Calibri" panose="020F0502020204030204"/>
              </a:rPr>
              <a:t> / dealer reporting / workflow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D63932F-20F6-4F16-A212-D2720D3389D5}"/>
              </a:ext>
            </a:extLst>
          </p:cNvPr>
          <p:cNvSpPr/>
          <p:nvPr/>
        </p:nvSpPr>
        <p:spPr>
          <a:xfrm>
            <a:off x="336511" y="5494520"/>
            <a:ext cx="5520539" cy="9403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1FB817B-19DF-49A4-B854-5952A1409107}"/>
              </a:ext>
            </a:extLst>
          </p:cNvPr>
          <p:cNvSpPr/>
          <p:nvPr/>
        </p:nvSpPr>
        <p:spPr>
          <a:xfrm>
            <a:off x="434531" y="5590847"/>
            <a:ext cx="1340608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Broker dashboard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(live P&amp;L, exposure, limit </a:t>
            </a:r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utlization</a:t>
            </a:r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21F231F-4B4D-4B45-A602-A66432F81796}"/>
              </a:ext>
            </a:extLst>
          </p:cNvPr>
          <p:cNvSpPr/>
          <p:nvPr/>
        </p:nvSpPr>
        <p:spPr>
          <a:xfrm>
            <a:off x="1846697" y="5590845"/>
            <a:ext cx="1414260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Margin call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(call issuance, tracking, collateral substitution)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C5DB4D8-FDD7-4586-8E57-0B72BA799079}"/>
              </a:ext>
            </a:extLst>
          </p:cNvPr>
          <p:cNvSpPr/>
          <p:nvPr/>
        </p:nvSpPr>
        <p:spPr>
          <a:xfrm>
            <a:off x="3329230" y="5590845"/>
            <a:ext cx="1174839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Alerts &amp; escalation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(warn, breach, block)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C6DD925-397A-4A73-829B-BEC6476AB13E}"/>
              </a:ext>
            </a:extLst>
          </p:cNvPr>
          <p:cNvSpPr/>
          <p:nvPr/>
        </p:nvSpPr>
        <p:spPr>
          <a:xfrm>
            <a:off x="4568409" y="5590844"/>
            <a:ext cx="1174839" cy="7122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Mgmt</a:t>
            </a:r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 reports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(Board reporting, aggregate risk)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64F39FA-31CB-4ABC-84BF-7DBBD31E6520}"/>
              </a:ext>
            </a:extLst>
          </p:cNvPr>
          <p:cNvSpPr/>
          <p:nvPr/>
        </p:nvSpPr>
        <p:spPr>
          <a:xfrm>
            <a:off x="13497" y="5344130"/>
            <a:ext cx="360881" cy="3316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b="1" dirty="0">
                <a:solidFill>
                  <a:srgbClr val="FFFFFF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E27828-D91E-43F4-9C5A-7548A882BA4F}"/>
              </a:ext>
            </a:extLst>
          </p:cNvPr>
          <p:cNvSpPr/>
          <p:nvPr/>
        </p:nvSpPr>
        <p:spPr>
          <a:xfrm>
            <a:off x="0" y="5374235"/>
            <a:ext cx="6914117" cy="11525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endParaRPr lang="en-US" sz="109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27E2F7E8-40F0-455F-B406-F2C10D74D729}"/>
              </a:ext>
            </a:extLst>
          </p:cNvPr>
          <p:cNvSpPr/>
          <p:nvPr/>
        </p:nvSpPr>
        <p:spPr>
          <a:xfrm>
            <a:off x="4934971" y="758780"/>
            <a:ext cx="797797" cy="499848"/>
          </a:xfrm>
          <a:prstGeom prst="round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General ledger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A981EC0-29B8-484F-85BF-B7BB79A7332B}"/>
              </a:ext>
            </a:extLst>
          </p:cNvPr>
          <p:cNvCxnSpPr>
            <a:stCxn id="58" idx="2"/>
            <a:endCxn id="73" idx="0"/>
          </p:cNvCxnSpPr>
          <p:nvPr/>
        </p:nvCxnSpPr>
        <p:spPr>
          <a:xfrm rot="5400000">
            <a:off x="2960622" y="4205823"/>
            <a:ext cx="277181" cy="16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B34EEE3-2B05-4C2C-A284-D20A3907DDD2}"/>
              </a:ext>
            </a:extLst>
          </p:cNvPr>
          <p:cNvCxnSpPr>
            <a:stCxn id="73" idx="3"/>
            <a:endCxn id="106" idx="1"/>
          </p:cNvCxnSpPr>
          <p:nvPr/>
        </p:nvCxnSpPr>
        <p:spPr>
          <a:xfrm flipV="1">
            <a:off x="5858670" y="4813397"/>
            <a:ext cx="339753" cy="20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CF0FD54-FBD6-4A46-A987-1B314B05CC9E}"/>
              </a:ext>
            </a:extLst>
          </p:cNvPr>
          <p:cNvCxnSpPr>
            <a:stCxn id="73" idx="2"/>
            <a:endCxn id="120" idx="0"/>
          </p:cNvCxnSpPr>
          <p:nvPr/>
        </p:nvCxnSpPr>
        <p:spPr>
          <a:xfrm rot="5400000">
            <a:off x="2993141" y="5389259"/>
            <a:ext cx="208903" cy="16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35C4E62D-B735-47C0-9757-0364CCF93543}"/>
              </a:ext>
            </a:extLst>
          </p:cNvPr>
          <p:cNvSpPr txBox="1"/>
          <p:nvPr/>
        </p:nvSpPr>
        <p:spPr>
          <a:xfrm>
            <a:off x="6195183" y="5403295"/>
            <a:ext cx="681109" cy="763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019"/>
            <a:r>
              <a:rPr lang="en-US" sz="1091" dirty="0" err="1">
                <a:solidFill>
                  <a:srgbClr val="000000"/>
                </a:solidFill>
                <a:latin typeface="Calibri" panose="020F0502020204030204"/>
              </a:rPr>
              <a:t>Mili</a:t>
            </a:r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-second response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22C2560-9CDB-4392-B6C9-BC963987AACC}"/>
              </a:ext>
            </a:extLst>
          </p:cNvPr>
          <p:cNvCxnSpPr>
            <a:cxnSpLocks/>
          </p:cNvCxnSpPr>
          <p:nvPr/>
        </p:nvCxnSpPr>
        <p:spPr>
          <a:xfrm flipH="1" flipV="1">
            <a:off x="3129283" y="5403297"/>
            <a:ext cx="3197565" cy="8959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2A264993-93C0-429D-9FB4-BEDDC025400F}"/>
              </a:ext>
            </a:extLst>
          </p:cNvPr>
          <p:cNvSpPr/>
          <p:nvPr/>
        </p:nvSpPr>
        <p:spPr>
          <a:xfrm>
            <a:off x="4653859" y="2066737"/>
            <a:ext cx="1061517" cy="704296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Balances</a:t>
            </a:r>
          </a:p>
          <a:p>
            <a:pPr algn="ctr" defTabSz="554019"/>
            <a:r>
              <a:rPr lang="en-US" sz="1091" dirty="0">
                <a:solidFill>
                  <a:srgbClr val="000000"/>
                </a:solidFill>
                <a:latin typeface="Calibri" panose="020F0502020204030204"/>
              </a:rPr>
              <a:t>(liquidity, GL balance)</a:t>
            </a:r>
          </a:p>
        </p:txBody>
      </p:sp>
    </p:spTree>
    <p:extLst>
      <p:ext uri="{BB962C8B-B14F-4D97-AF65-F5344CB8AC3E}">
        <p14:creationId xmlns:p14="http://schemas.microsoft.com/office/powerpoint/2010/main" val="2308323860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7616F4E-4E3E-45F0-806C-A41E574CA80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</Words>
  <Application>Microsoft Macintosh PowerPoint</Application>
  <PresentationFormat>Widescreen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Symbol</vt:lpstr>
      <vt:lpstr>Wingdings</vt:lpstr>
      <vt:lpstr>Content Slide_White</vt:lpstr>
      <vt:lpstr>Functional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Balamurugan Rajagopal</dc:creator>
  <cp:lastModifiedBy>Balamurugan Rajagopal</cp:lastModifiedBy>
  <cp:revision>1</cp:revision>
  <dcterms:created xsi:type="dcterms:W3CDTF">2026-04-21T21:32:31Z</dcterms:created>
  <dcterms:modified xsi:type="dcterms:W3CDTF">2026-04-21T21:33:07Z</dcterms:modified>
</cp:coreProperties>
</file>